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8" r:id="rId10"/>
    <p:sldId id="270" r:id="rId11"/>
    <p:sldId id="271" r:id="rId12"/>
    <p:sldId id="272" r:id="rId13"/>
    <p:sldId id="273" r:id="rId14"/>
    <p:sldId id="275" r:id="rId15"/>
    <p:sldId id="274" r:id="rId16"/>
    <p:sldId id="259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65"/>
            <p14:sldId id="266"/>
            <p14:sldId id="267"/>
            <p14:sldId id="268"/>
            <p14:sldId id="270"/>
            <p14:sldId id="271"/>
            <p14:sldId id="272"/>
            <p14:sldId id="273"/>
            <p14:sldId id="275"/>
            <p14:sldId id="274"/>
          </p14:sldIdLst>
        </p14:section>
        <p14:section name="Rust's Approach" id="{CC0F149F-AD4B-4ECD-91BA-497C65BA172A}">
          <p14:sldIdLst/>
        </p14:section>
        <p14:section name="Conclusion" id="{F88A5424-FC40-434F-9B6E-01A02AB2D8F6}">
          <p14:sldIdLst/>
        </p14:section>
        <p14:section name="Sources" id="{3213A62E-4387-4F50-8DCC-554714B34329}">
          <p14:sldIdLst>
            <p14:sldId id="259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svg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data/definitions/416.html" TargetMode="External"/><Relationship Id="rId2" Type="http://schemas.openxmlformats.org/officeDocument/2006/relationships/hyperlink" Target="https://cwe.mitre.org/top25/archive/2025/2025_kev_lis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cwe.mitre.org/data/definitions/787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data/definitions/416.html" TargetMode="External"/><Relationship Id="rId2" Type="http://schemas.openxmlformats.org/officeDocument/2006/relationships/hyperlink" Target="https://cwe.mitre.org/data/definitions/787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cset.georgetown.edu/article/memory-safety-an-explainer/" TargetMode="External"/><Relationship Id="rId5" Type="http://schemas.openxmlformats.org/officeDocument/2006/relationships/hyperlink" Target="http://www.pl-enthusiast.net/2014/07/21/memory-safety/" TargetMode="External"/><Relationship Id="rId4" Type="http://schemas.openxmlformats.org/officeDocument/2006/relationships/hyperlink" Target="https://cwe.mitre.org/top25/archive/2024/2024_kev_insight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https://cwe.mitre.org/top25/archive/2025/2025_kev_list.html</a:t>
            </a:r>
          </a:p>
          <a:p>
            <a:r>
              <a:rPr lang="de-DE" sz="800" dirty="0"/>
              <a:t>[2] https://cwe.mitre.org/data/definitions/416.html</a:t>
            </a:r>
          </a:p>
          <a:p>
            <a:r>
              <a:rPr lang="de-DE" sz="800" dirty="0"/>
              <a:t>[3] https://cwe.mitre.org/data/definitions/787.html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[4]</a:t>
            </a:r>
            <a:endParaRPr lang="en-US" sz="11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https://cwe.mitre.org/top25/archive/2025/2025_kev_insights.html#2025_kev_pie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en-US" baseline="-25000" dirty="0"/>
              <a:t>[4]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52AFD-6998-1812-FC4E-6855E083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8291E9-AC3B-2607-E883-2373D54821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6832AF-108C-C0CD-F25A-867BE98655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992198-CFA8-75C7-66A8-B9A344ED1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7CC9E3F-539E-ABD7-0A33-1543398B710E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1759A02-EC48-0317-E324-7E74E8E76CD5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8B1546B-5918-21E6-D5C5-26B9F050A6A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  <a:p>
            <a:pPr algn="ctr"/>
            <a:r>
              <a:rPr lang="en-US" dirty="0"/>
              <a:t>512 Byte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96DF3BE5-98D1-2D9A-6858-FEA1382A0E36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455D1B6-66C1-033A-FBC2-2B0F3C3BFED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C33605F-AAFE-A307-1E6A-EA91D3B220D1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33AD1D6-9CC1-E4D2-7D4F-E13E48964472}"/>
              </a:ext>
            </a:extLst>
          </p:cNvPr>
          <p:cNvSpPr/>
          <p:nvPr/>
        </p:nvSpPr>
        <p:spPr>
          <a:xfrm>
            <a:off x="5152560" y="4379338"/>
            <a:ext cx="1687606" cy="563187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bufferPtr1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59CC9915-46C3-AD07-2723-95471717D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79174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3D40D18-2D5A-1C78-8846-0A4A2019D1FD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14" name="Grafik 13" descr="Ein Bild, das Text, Screenshot, Schrift enthält.">
            <a:extLst>
              <a:ext uri="{FF2B5EF4-FFF2-40B4-BE49-F238E27FC236}">
                <a16:creationId xmlns:a16="http://schemas.microsoft.com/office/drawing/2014/main" id="{F0F97ED0-A841-0295-8073-D0A001B23A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5" t="4673" r="4473" b="51864"/>
          <a:stretch>
            <a:fillRect/>
          </a:stretch>
        </p:blipFill>
        <p:spPr>
          <a:xfrm>
            <a:off x="1204801" y="1783336"/>
            <a:ext cx="5289774" cy="1867780"/>
          </a:xfrm>
          <a:prstGeom prst="rect">
            <a:avLst/>
          </a:prstGeom>
        </p:spPr>
      </p:pic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353FCD0-7531-2996-C507-9639E50CD60A}"/>
              </a:ext>
            </a:extLst>
          </p:cNvPr>
          <p:cNvSpPr/>
          <p:nvPr/>
        </p:nvSpPr>
        <p:spPr>
          <a:xfrm>
            <a:off x="835578" y="3438783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038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39F4A-4F85-98B3-F5B6-2D61F08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1A50CFA-D417-9F52-F170-F64F0F5C3F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025BB4-3A7A-4809-1665-C2C20535E5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51957F-DAB3-3177-D11A-7DD386991F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89A39201-66D9-E87E-4FEA-1529ED08043B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/>
              <a:t>Use After Free</a:t>
            </a:r>
            <a:endParaRPr lang="en-US" sz="36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04B1F7-0422-999F-2825-B451F11D3ED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3FF356F-080E-F2A4-9F6E-83A41812F700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  <a:p>
            <a:pPr algn="ctr"/>
            <a:r>
              <a:rPr lang="en-US" dirty="0"/>
              <a:t>512 Byte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3D11CC50-7F67-102A-062F-B0A1C22732D7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139CB1D-B3CA-E3F8-60F4-D5C198C7425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A357B7F-3BB2-AA46-76F7-12CD41BD26F5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A150D79-3681-4814-0219-538381D1B10D}"/>
              </a:ext>
            </a:extLst>
          </p:cNvPr>
          <p:cNvSpPr/>
          <p:nvPr/>
        </p:nvSpPr>
        <p:spPr>
          <a:xfrm>
            <a:off x="5152560" y="4379338"/>
            <a:ext cx="1687606" cy="563187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bufferPtr1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FEDBD31-4745-8AE7-D133-EF48B615AF01}"/>
              </a:ext>
            </a:extLst>
          </p:cNvPr>
          <p:cNvSpPr txBox="1"/>
          <p:nvPr/>
        </p:nvSpPr>
        <p:spPr>
          <a:xfrm>
            <a:off x="8237898" y="4074782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4" name="Grafik 13" descr="Ein Bild, das Text, Screenshot, Schrift enthält.">
            <a:extLst>
              <a:ext uri="{FF2B5EF4-FFF2-40B4-BE49-F238E27FC236}">
                <a16:creationId xmlns:a16="http://schemas.microsoft.com/office/drawing/2014/main" id="{57A16302-EFF8-3699-D060-F13C18882A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5" t="4673" r="4473" b="42006"/>
          <a:stretch>
            <a:fillRect/>
          </a:stretch>
        </p:blipFill>
        <p:spPr>
          <a:xfrm>
            <a:off x="1204801" y="1783335"/>
            <a:ext cx="5289774" cy="2291447"/>
          </a:xfrm>
          <a:prstGeom prst="rect">
            <a:avLst/>
          </a:prstGeom>
        </p:spPr>
      </p:pic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FB16FDB-AEF2-BDDC-DB75-D4E246B3D243}"/>
              </a:ext>
            </a:extLst>
          </p:cNvPr>
          <p:cNvSpPr/>
          <p:nvPr/>
        </p:nvSpPr>
        <p:spPr>
          <a:xfrm>
            <a:off x="835578" y="3879768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fik 16" descr="Abzeichen Silhouette">
            <a:extLst>
              <a:ext uri="{FF2B5EF4-FFF2-40B4-BE49-F238E27FC236}">
                <a16:creationId xmlns:a16="http://schemas.microsoft.com/office/drawing/2014/main" id="{F0A3C2E9-84A6-9806-9DB9-42376BCCA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51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6CDA5-446E-5811-5A62-AA968847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2B445DB-5042-F219-E856-B298315D39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5F11FFB-3389-C4DA-F552-56EE76216B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873C4C1-80FC-928F-07D0-CA16660C3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FF51285-487A-0AF5-2AE3-61B06A43948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/>
              <a:t>Use After Free</a:t>
            </a:r>
            <a:endParaRPr lang="en-US" sz="36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550D060-601D-A581-BC63-465860563131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FE90CB-7E96-5861-977D-E330983CB7F0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  <a:p>
            <a:pPr algn="ctr"/>
            <a:r>
              <a:rPr lang="en-US" dirty="0"/>
              <a:t>512 Byte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0D3E788D-F89A-6935-B690-12E730478A85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 flipV="1">
            <a:off x="7683969" y="3320591"/>
            <a:ext cx="667226" cy="2185250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5DA25F7-1DC7-91D7-B692-26AE514DA6B3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A33F1C53-5F51-DFAE-7DCE-BC35BEC83609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2EB540A-6C2C-0C8F-DF05-3ADEF047A534}"/>
              </a:ext>
            </a:extLst>
          </p:cNvPr>
          <p:cNvSpPr/>
          <p:nvPr/>
        </p:nvSpPr>
        <p:spPr>
          <a:xfrm>
            <a:off x="5996363" y="5224247"/>
            <a:ext cx="1687606" cy="563187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bufferPtr2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98D8A95-3B81-174F-64AE-384649624289}"/>
              </a:ext>
            </a:extLst>
          </p:cNvPr>
          <p:cNvSpPr txBox="1"/>
          <p:nvPr/>
        </p:nvSpPr>
        <p:spPr>
          <a:xfrm>
            <a:off x="8496622" y="433025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14" name="Grafik 13" descr="Ein Bild, das Text, Screenshot, Schrift enthält.">
            <a:extLst>
              <a:ext uri="{FF2B5EF4-FFF2-40B4-BE49-F238E27FC236}">
                <a16:creationId xmlns:a16="http://schemas.microsoft.com/office/drawing/2014/main" id="{70770C07-5249-A8F7-0854-8F3273D831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5" t="4673" r="4473" b="31374"/>
          <a:stretch>
            <a:fillRect/>
          </a:stretch>
        </p:blipFill>
        <p:spPr>
          <a:xfrm>
            <a:off x="1203513" y="1783335"/>
            <a:ext cx="5289774" cy="2748324"/>
          </a:xfrm>
          <a:prstGeom prst="rect">
            <a:avLst/>
          </a:prstGeom>
        </p:spPr>
      </p:pic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37ED8FD-8BE4-58EC-2C8C-18C6D28E322B}"/>
              </a:ext>
            </a:extLst>
          </p:cNvPr>
          <p:cNvSpPr/>
          <p:nvPr/>
        </p:nvSpPr>
        <p:spPr>
          <a:xfrm>
            <a:off x="835578" y="4330252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fik 19" descr="Marke 3 Silhouette">
            <a:extLst>
              <a:ext uri="{FF2B5EF4-FFF2-40B4-BE49-F238E27FC236}">
                <a16:creationId xmlns:a16="http://schemas.microsoft.com/office/drawing/2014/main" id="{DB314DBA-EE41-D204-9597-67B7074AFA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71039" y="4362048"/>
            <a:ext cx="305740" cy="3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36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D61C2-B478-5FF1-DC5D-88C0D9BB7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AE9E35E-64A3-AD17-9BEC-E840E56948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C97A29F-364D-16F3-D887-E9CFC1E744B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2EC43D-3F35-FD98-0D84-EDA9D6A09F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E3AB291-8EAE-2E34-9B07-5C12A89F5616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/>
              <a:t>Use After Free</a:t>
            </a:r>
            <a:endParaRPr lang="en-US" sz="36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32A799-F4A0-D95D-97A1-28AFF8A30EF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8D63E6B-18CF-88D2-CC5B-470858B5DC6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  <a:p>
            <a:pPr algn="ctr"/>
            <a:r>
              <a:rPr lang="en-US" dirty="0"/>
              <a:t>512 Byte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1B0F8CD4-0E79-9247-F2F1-1A99FAF86A91}"/>
              </a:ext>
            </a:extLst>
          </p:cNvPr>
          <p:cNvCxnSpPr>
            <a:cxnSpLocks/>
            <a:stCxn id="11" idx="6"/>
            <a:endCxn id="7" idx="2"/>
          </p:cNvCxnSpPr>
          <p:nvPr/>
        </p:nvCxnSpPr>
        <p:spPr>
          <a:xfrm flipV="1">
            <a:off x="7149828" y="3320591"/>
            <a:ext cx="1201367" cy="21111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CCF6585-9F0C-CC5A-E84D-E25FF18D7CC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5625CA1-301A-299A-5A7B-A8E7410070D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1183F02-B9C4-AE3F-5353-7B82AC1429A2}"/>
              </a:ext>
            </a:extLst>
          </p:cNvPr>
          <p:cNvSpPr txBox="1"/>
          <p:nvPr/>
        </p:nvSpPr>
        <p:spPr>
          <a:xfrm>
            <a:off x="7650123" y="5340066"/>
            <a:ext cx="3067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 “</a:t>
            </a:r>
            <a:r>
              <a:rPr lang="en-US" i="1" dirty="0" err="1"/>
              <a:t>blubb</a:t>
            </a:r>
            <a:r>
              <a:rPr lang="en-US" dirty="0"/>
              <a:t>” in Memory Unit</a:t>
            </a:r>
          </a:p>
        </p:txBody>
      </p:sp>
      <p:pic>
        <p:nvPicPr>
          <p:cNvPr id="14" name="Grafik 13" descr="Ein Bild, das Text, Screenshot, Schrift enthält.">
            <a:extLst>
              <a:ext uri="{FF2B5EF4-FFF2-40B4-BE49-F238E27FC236}">
                <a16:creationId xmlns:a16="http://schemas.microsoft.com/office/drawing/2014/main" id="{F120F1BC-DBCA-A5CF-F386-BD78A27257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5" t="4673" r="4473" b="3876"/>
          <a:stretch>
            <a:fillRect/>
          </a:stretch>
        </p:blipFill>
        <p:spPr>
          <a:xfrm>
            <a:off x="1204801" y="1783335"/>
            <a:ext cx="5289774" cy="3930037"/>
          </a:xfrm>
          <a:prstGeom prst="rect">
            <a:avLst/>
          </a:prstGeom>
        </p:spPr>
      </p:pic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1D330DE2-CEB3-614E-5D6A-13CF96FF2E64}"/>
              </a:ext>
            </a:extLst>
          </p:cNvPr>
          <p:cNvSpPr/>
          <p:nvPr/>
        </p:nvSpPr>
        <p:spPr>
          <a:xfrm>
            <a:off x="835578" y="4787449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E53077D7-79B4-A459-8BF1-B928212DF2A2}"/>
              </a:ext>
            </a:extLst>
          </p:cNvPr>
          <p:cNvSpPr/>
          <p:nvPr/>
        </p:nvSpPr>
        <p:spPr>
          <a:xfrm>
            <a:off x="835577" y="5243899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B760FC3B-167E-464A-A8DE-F28CBDBCF377}"/>
              </a:ext>
            </a:extLst>
          </p:cNvPr>
          <p:cNvSpPr/>
          <p:nvPr/>
        </p:nvSpPr>
        <p:spPr>
          <a:xfrm>
            <a:off x="5462222" y="5150185"/>
            <a:ext cx="1687606" cy="563187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bufferPtr2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1AB5639-2F6B-9611-B135-A17CC3B4ADB9}"/>
              </a:ext>
            </a:extLst>
          </p:cNvPr>
          <p:cNvSpPr/>
          <p:nvPr/>
        </p:nvSpPr>
        <p:spPr>
          <a:xfrm>
            <a:off x="9453757" y="4048735"/>
            <a:ext cx="1687606" cy="563187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bufferPtr1</a:t>
            </a:r>
          </a:p>
        </p:txBody>
      </p:sp>
      <p:cxnSp>
        <p:nvCxnSpPr>
          <p:cNvPr id="19" name="Verbinder: gekrümmt 18">
            <a:extLst>
              <a:ext uri="{FF2B5EF4-FFF2-40B4-BE49-F238E27FC236}">
                <a16:creationId xmlns:a16="http://schemas.microsoft.com/office/drawing/2014/main" id="{16B18883-C811-D5F7-2D93-821676ECE62A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545607" y="3320591"/>
            <a:ext cx="908151" cy="100973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BEB07365-B051-3CF5-D708-D3F5703CD590}"/>
              </a:ext>
            </a:extLst>
          </p:cNvPr>
          <p:cNvSpPr txBox="1"/>
          <p:nvPr/>
        </p:nvSpPr>
        <p:spPr>
          <a:xfrm>
            <a:off x="8939879" y="3499997"/>
            <a:ext cx="2508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Freed Memory Unit</a:t>
            </a:r>
          </a:p>
        </p:txBody>
      </p:sp>
      <p:pic>
        <p:nvPicPr>
          <p:cNvPr id="25" name="Grafik 24" descr="Marke 5 Silhouette">
            <a:extLst>
              <a:ext uri="{FF2B5EF4-FFF2-40B4-BE49-F238E27FC236}">
                <a16:creationId xmlns:a16="http://schemas.microsoft.com/office/drawing/2014/main" id="{DA0CE5D6-C592-CC36-BD34-FF08ED1654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9242" y="3531793"/>
            <a:ext cx="305740" cy="305740"/>
          </a:xfrm>
          <a:prstGeom prst="rect">
            <a:avLst/>
          </a:prstGeom>
        </p:spPr>
      </p:pic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C0DEA982-81E0-C3BC-FD18-867B03E63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5369" y="5371862"/>
            <a:ext cx="305740" cy="305740"/>
          </a:xfrm>
          <a:prstGeom prst="rect">
            <a:avLst/>
          </a:prstGeom>
        </p:spPr>
      </p:pic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B5A0665-A8F2-E852-7B73-FEC584212356}"/>
              </a:ext>
            </a:extLst>
          </p:cNvPr>
          <p:cNvSpPr/>
          <p:nvPr/>
        </p:nvSpPr>
        <p:spPr>
          <a:xfrm>
            <a:off x="1203513" y="5815039"/>
            <a:ext cx="2978522" cy="4396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</a:t>
            </a:r>
            <a:r>
              <a:rPr lang="en-US" dirty="0" err="1">
                <a:solidFill>
                  <a:schemeClr val="tx1"/>
                </a:solidFill>
              </a:rPr>
              <a:t>blubb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9" name="Grafik 28" descr="Blitz Silhouette">
            <a:extLst>
              <a:ext uri="{FF2B5EF4-FFF2-40B4-BE49-F238E27FC236}">
                <a16:creationId xmlns:a16="http://schemas.microsoft.com/office/drawing/2014/main" id="{AA92466C-6092-B195-26B1-B9660A0FC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60855" y="518892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729211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3" grpId="0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fik 17" descr="Ein Bild, das Text, Screenshot, Schrift, Zahl enthält.">
            <a:extLst>
              <a:ext uri="{FF2B5EF4-FFF2-40B4-BE49-F238E27FC236}">
                <a16:creationId xmlns:a16="http://schemas.microsoft.com/office/drawing/2014/main" id="{B6CAF56E-241D-5218-34C7-B52FDFDC3F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8" t="5815" r="5970" b="53338"/>
          <a:stretch>
            <a:fillRect/>
          </a:stretch>
        </p:blipFill>
        <p:spPr>
          <a:xfrm>
            <a:off x="1305111" y="1783335"/>
            <a:ext cx="4940674" cy="1645665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92A908D6-B3A7-67E7-4CFD-29C22A88EF0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4D72C27-8A35-7108-75EA-C7431CF31B2D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5ACBD522-6BA1-30F1-A590-4BD1433B3CC4}"/>
              </a:ext>
            </a:extLst>
          </p:cNvPr>
          <p:cNvSpPr/>
          <p:nvPr/>
        </p:nvSpPr>
        <p:spPr>
          <a:xfrm>
            <a:off x="7853464" y="229397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D5F4C9F2-F009-6E35-DB23-09B571D8651B}"/>
              </a:ext>
            </a:extLst>
          </p:cNvPr>
          <p:cNvSpPr/>
          <p:nvPr/>
        </p:nvSpPr>
        <p:spPr>
          <a:xfrm>
            <a:off x="7853464" y="2867892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DF4BEB2C-A6C0-16B2-CAB9-C86E29F4B851}"/>
              </a:ext>
            </a:extLst>
          </p:cNvPr>
          <p:cNvSpPr/>
          <p:nvPr/>
        </p:nvSpPr>
        <p:spPr>
          <a:xfrm>
            <a:off x="7853464" y="344180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4C902FC-3213-6F30-0DE8-C95A03949D98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D6992CC-7103-3611-9FF8-CABD5CB00EED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964503C3-5B83-7F5C-25DF-8FE1CA6F8C71}"/>
              </a:ext>
            </a:extLst>
          </p:cNvPr>
          <p:cNvSpPr/>
          <p:nvPr/>
        </p:nvSpPr>
        <p:spPr>
          <a:xfrm>
            <a:off x="971763" y="2670111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feil: nach rechts 26">
            <a:extLst>
              <a:ext uri="{FF2B5EF4-FFF2-40B4-BE49-F238E27FC236}">
                <a16:creationId xmlns:a16="http://schemas.microsoft.com/office/drawing/2014/main" id="{563A9AA9-2577-210D-AF55-8C9478B5BF48}"/>
              </a:ext>
            </a:extLst>
          </p:cNvPr>
          <p:cNvSpPr/>
          <p:nvPr/>
        </p:nvSpPr>
        <p:spPr>
          <a:xfrm>
            <a:off x="971763" y="3227829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9" grpId="0" animBg="1"/>
      <p:bldP spid="10" grpId="0" animBg="1"/>
      <p:bldP spid="20" grpId="0"/>
      <p:bldP spid="24" grpId="0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83EB0-90EC-A068-D7F6-DEA335FA9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4FDE0BF-AA59-C4D7-DFD8-0933E38069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79A83FC-11CD-B5C4-D5DE-D1D3E61CA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42BC0A-E0AF-3372-2757-CF166B4030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B8233D4-2966-4B1A-C3F4-0A74040390EC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F9991F62-06A7-3113-80EE-C433395E201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4DF33C4-48B3-4403-CEEB-EB1D87BDCD6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F432B7B-41AC-FFB3-4BD8-32FAF5EAC5CB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810B1EB-FF80-7880-433F-C3099A6840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D7C6382B-CEF1-06B7-9E90-97E9663249EE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A08DFA3-8C4C-369B-D667-58B18D56D161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9BDDCB3F-2171-DDFB-7945-CC0F3129BCA7}"/>
              </a:ext>
            </a:extLst>
          </p:cNvPr>
          <p:cNvSpPr/>
          <p:nvPr/>
        </p:nvSpPr>
        <p:spPr>
          <a:xfrm>
            <a:off x="7853464" y="229397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7775638-BFF7-E7D0-0C0F-8F1A33429921}"/>
              </a:ext>
            </a:extLst>
          </p:cNvPr>
          <p:cNvSpPr/>
          <p:nvPr/>
        </p:nvSpPr>
        <p:spPr>
          <a:xfrm>
            <a:off x="7853464" y="2867892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F62911D1-883D-EE00-D1B6-BE95A4743D96}"/>
              </a:ext>
            </a:extLst>
          </p:cNvPr>
          <p:cNvSpPr/>
          <p:nvPr/>
        </p:nvSpPr>
        <p:spPr>
          <a:xfrm>
            <a:off x="7853464" y="344180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6D8F283-275D-E3C5-473D-EEDE89B0A825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2CB9EEB-9D63-CEC0-20B1-2E6B9B59E119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6B2CA30D-2BBB-E15A-857A-3C82197F4705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2DF7B1B-4C74-E9CC-F52E-E426DFB7F04F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3E6CECF2-3653-AF4A-E6E8-6F70EB1E51C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pic>
        <p:nvPicPr>
          <p:cNvPr id="13" name="Grafik 12" descr="Ein Bild, das Text, Screenshot, Schrift, Zahl enthält.">
            <a:extLst>
              <a:ext uri="{FF2B5EF4-FFF2-40B4-BE49-F238E27FC236}">
                <a16:creationId xmlns:a16="http://schemas.microsoft.com/office/drawing/2014/main" id="{B538A198-6354-7166-AF2B-BBA2B7AB32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8" t="5815" r="5970" b="39446"/>
          <a:stretch>
            <a:fillRect/>
          </a:stretch>
        </p:blipFill>
        <p:spPr>
          <a:xfrm>
            <a:off x="1305111" y="1783336"/>
            <a:ext cx="4940674" cy="2205300"/>
          </a:xfrm>
          <a:prstGeom prst="rect">
            <a:avLst/>
          </a:prstGeom>
        </p:spPr>
      </p:pic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339E3EA1-1386-B758-4021-00046AA52D2A}"/>
              </a:ext>
            </a:extLst>
          </p:cNvPr>
          <p:cNvSpPr/>
          <p:nvPr/>
        </p:nvSpPr>
        <p:spPr>
          <a:xfrm>
            <a:off x="971763" y="3753126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03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9DCA2-DE1F-B00B-27A3-71F84436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3839FFE-1CEB-9438-859B-6A216DF4C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3910511-5266-F60A-EDEA-8A71C6D535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D1E2B06-866E-6E3A-13A6-B7D05352AA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D536640-0DE0-098C-0180-13E63CDEA06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B354E0E-EB99-F3E1-165B-200B25908CF8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FFCAEA-E760-9D8A-2D40-CF8015CAAB91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FB33F8A-8A97-C7A6-9B3B-80CC59442EC5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891EE1A-F880-D82E-379B-A6ECE226BE7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141C258-C082-2CCF-23AD-8643DC1FDA97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250674B0-247C-7335-E62D-067DF79D69D9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F748702E-6FF9-1AAB-2E3E-E1E2B01207AD}"/>
              </a:ext>
            </a:extLst>
          </p:cNvPr>
          <p:cNvSpPr/>
          <p:nvPr/>
        </p:nvSpPr>
        <p:spPr>
          <a:xfrm>
            <a:off x="7853464" y="229397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E3E989C-EA60-391F-55C7-5A5F28C077E8}"/>
              </a:ext>
            </a:extLst>
          </p:cNvPr>
          <p:cNvSpPr/>
          <p:nvPr/>
        </p:nvSpPr>
        <p:spPr>
          <a:xfrm>
            <a:off x="7853464" y="2867892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381D63C5-AF34-A8FE-876F-03B621DCFD2A}"/>
              </a:ext>
            </a:extLst>
          </p:cNvPr>
          <p:cNvSpPr/>
          <p:nvPr/>
        </p:nvSpPr>
        <p:spPr>
          <a:xfrm>
            <a:off x="7853464" y="344180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2DCFB07-C298-85C4-0558-573E6856A420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82F9A28-FD9C-4D35-896F-6C54CCC5B4DB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F8889B-2EC4-7931-B5CE-33EF8132B41E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23D47FF-0298-7C44-53E6-CCB973945FC7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B6DF543-6F35-4E52-D759-79ECE6167C19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pic>
        <p:nvPicPr>
          <p:cNvPr id="6" name="Grafik 5" descr="Ein Bild, das Text, Screenshot, Schrift, Zahl enthält.">
            <a:extLst>
              <a:ext uri="{FF2B5EF4-FFF2-40B4-BE49-F238E27FC236}">
                <a16:creationId xmlns:a16="http://schemas.microsoft.com/office/drawing/2014/main" id="{D8526DB9-4BB6-83D1-F28E-4AD1ECC3A8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8" t="5815" r="5970" b="32854"/>
          <a:stretch>
            <a:fillRect/>
          </a:stretch>
        </p:blipFill>
        <p:spPr>
          <a:xfrm>
            <a:off x="1305111" y="1783335"/>
            <a:ext cx="4940674" cy="2470895"/>
          </a:xfrm>
          <a:prstGeom prst="rect">
            <a:avLst/>
          </a:prstGeom>
        </p:spPr>
      </p:pic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6C0D447A-4B82-E8B3-EBDA-6098F8F6F5D0}"/>
              </a:ext>
            </a:extLst>
          </p:cNvPr>
          <p:cNvSpPr/>
          <p:nvPr/>
        </p:nvSpPr>
        <p:spPr>
          <a:xfrm>
            <a:off x="971763" y="4025499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86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1BE62-29AE-7D7D-41F6-7BBF536C4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Zahl enthält.">
            <a:extLst>
              <a:ext uri="{FF2B5EF4-FFF2-40B4-BE49-F238E27FC236}">
                <a16:creationId xmlns:a16="http://schemas.microsoft.com/office/drawing/2014/main" id="{2009A6FC-4FE7-5338-02BB-23097E7558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8" t="5815" r="5970" b="5569"/>
          <a:stretch>
            <a:fillRect/>
          </a:stretch>
        </p:blipFill>
        <p:spPr>
          <a:xfrm>
            <a:off x="1305111" y="1783335"/>
            <a:ext cx="4940674" cy="3570185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130168C-7BDA-FB9E-E6D9-BCF617F70F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999795-F7EF-352E-204C-283EF2E809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127EC0C-BE0C-4B87-F618-C976B6576B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D105AB4-B1AE-DAD6-3115-67F201C7AE0A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7A707F9-C88D-E64A-B71C-BD93AAE547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8310B3F-3D23-CE0B-DC40-C25565609354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BA3BBE6-B393-1B96-221B-13EB593CB7F2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C8F4FB5-E55C-3F28-8818-68781B00C671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1C689EA-0737-321D-6B09-FF53A3479353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DC6E9B79-416D-A409-3A92-913B31F35EF7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B3428522-8E47-E2A3-F393-D0AFF666BEC2}"/>
              </a:ext>
            </a:extLst>
          </p:cNvPr>
          <p:cNvSpPr/>
          <p:nvPr/>
        </p:nvSpPr>
        <p:spPr>
          <a:xfrm>
            <a:off x="7853464" y="229397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23DF7CD7-543D-65D0-E1CE-EEF9953F885A}"/>
              </a:ext>
            </a:extLst>
          </p:cNvPr>
          <p:cNvSpPr/>
          <p:nvPr/>
        </p:nvSpPr>
        <p:spPr>
          <a:xfrm>
            <a:off x="7853464" y="2867892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8FDB726D-C52B-578E-DDC8-3B794E3FC739}"/>
              </a:ext>
            </a:extLst>
          </p:cNvPr>
          <p:cNvSpPr/>
          <p:nvPr/>
        </p:nvSpPr>
        <p:spPr>
          <a:xfrm>
            <a:off x="7853464" y="3441807"/>
            <a:ext cx="108142" cy="5631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8CE5371-A70F-5AF8-2741-8631D5787B23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73CC5A2-9900-157B-6B9B-6FECDA0ABD5D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E217EA-6A6D-7402-B848-F1A15E6A539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CF684C5-D9B1-4529-08C8-661FF69089E0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AAB8F37-5B9E-DF55-E019-9B460A8A7A72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EF68D89F-23B6-E411-911E-AF581EED805A}"/>
              </a:ext>
            </a:extLst>
          </p:cNvPr>
          <p:cNvSpPr/>
          <p:nvPr/>
        </p:nvSpPr>
        <p:spPr>
          <a:xfrm>
            <a:off x="971763" y="4284901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B29505B-214A-2873-FDE3-CC10B5247AF3}"/>
              </a:ext>
            </a:extLst>
          </p:cNvPr>
          <p:cNvSpPr/>
          <p:nvPr/>
        </p:nvSpPr>
        <p:spPr>
          <a:xfrm>
            <a:off x="1203513" y="5815039"/>
            <a:ext cx="2978522" cy="4396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&gt;2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9FECFC49-E58C-8988-B585-0BD605F0977A}"/>
              </a:ext>
            </a:extLst>
          </p:cNvPr>
          <p:cNvSpPr/>
          <p:nvPr/>
        </p:nvSpPr>
        <p:spPr>
          <a:xfrm>
            <a:off x="967310" y="4841946"/>
            <a:ext cx="349353" cy="153891"/>
          </a:xfrm>
          <a:prstGeom prst="rightArrow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Grafik 24" descr="Blitz Silhouette">
            <a:extLst>
              <a:ext uri="{FF2B5EF4-FFF2-40B4-BE49-F238E27FC236}">
                <a16:creationId xmlns:a16="http://schemas.microsoft.com/office/drawing/2014/main" id="{0940E8D9-8DDE-2FF8-3CD2-A79F322E50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5448" y="425622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287207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r>
              <a:rPr lang="en-US" sz="3600" baseline="-25000" dirty="0"/>
              <a:t>[5]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i="1" dirty="0"/>
              <a:t>bufferPtr1</a:t>
            </a:r>
            <a:r>
              <a:rPr lang="en-US" dirty="0"/>
              <a:t> can also be used to manipulate the content of the Memory Unit in exactly the same way.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free, the program will crash the next time memory is accessed via </a:t>
            </a:r>
            <a:r>
              <a:rPr lang="en-US" i="1" dirty="0"/>
              <a:t>bufferPtr1</a:t>
            </a:r>
            <a:r>
              <a:rPr lang="en-US" dirty="0"/>
              <a:t>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to achieving Memory Safety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use of Programming Languages with </a:t>
            </a:r>
            <a:r>
              <a:rPr lang="en-US" b="1" dirty="0"/>
              <a:t>Automatic Memory Management: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Developers do not have the ability to manage memory themselves.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Memory is managed by a Garbage Collector at runtime.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Works extremely reliably, but costs immense performance at runtime.</a:t>
            </a:r>
          </a:p>
          <a:p>
            <a:pPr lvl="1"/>
            <a:endParaRPr lang="en-US" dirty="0"/>
          </a:p>
          <a:p>
            <a:r>
              <a:rPr lang="en-US" b="1" dirty="0"/>
              <a:t>Instrumentation</a:t>
            </a:r>
            <a:r>
              <a:rPr lang="en-US" dirty="0"/>
              <a:t> of existing unsafe Programs to detect errors at runtime: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In potentially memory-unsafe programs, instructions are inserted during compilation that can detect invalid memory accesses at runtime.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higher the detection rate (none of the tools achieve 100%), the higher the costs in terms of performance.</a:t>
            </a:r>
          </a:p>
          <a:p>
            <a:pPr lvl="1"/>
            <a:endParaRPr lang="en-US" dirty="0"/>
          </a:p>
          <a:p>
            <a:r>
              <a:rPr lang="en-US" dirty="0"/>
              <a:t>Programming Languages that enforce Memory Safety at </a:t>
            </a:r>
            <a:r>
              <a:rPr lang="en-US" b="1" dirty="0"/>
              <a:t>Compile Time</a:t>
            </a:r>
            <a:r>
              <a:rPr lang="en-US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Potential memory errors are not compiled at all.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This requires some new rules and concepts.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There is no runtime overhead.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Rust offers such a solution.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5912" y="2317373"/>
            <a:ext cx="513231" cy="51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947" y="1693767"/>
            <a:ext cx="328906" cy="623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794" y="2219883"/>
            <a:ext cx="623606" cy="623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8118" y="5372417"/>
            <a:ext cx="739588" cy="739588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5AB0C-C8AB-6DBD-B205-1B516DBBB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142F7C-CE89-7FB8-18A8-C76EBEA0E7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1B70DA-453D-856E-6BC1-097A9905B5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0E04E80-D003-2FAD-718F-8EC5BA37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D9AFA94-6EB5-A8F6-E797-2E3565C175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https://cwe.mitre.org/data/definitions/787.html</a:t>
            </a:r>
            <a:r>
              <a:rPr lang="en-US" sz="1200" dirty="0"/>
              <a:t> [Last Access: 09. Dec. 2025]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09. Dec. 2025]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https://cwe.mitre.org/top25/archive/2024/2024_kev_insights.html</a:t>
            </a:r>
            <a:r>
              <a:rPr lang="en-US" sz="1200" dirty="0"/>
              <a:t> [Last Access: 09. Dec. 2025]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5"/>
              </a:rPr>
              <a:t>http://www.pl-enthusiast.net/2014/07/21/memory-safety/</a:t>
            </a:r>
            <a:r>
              <a:rPr lang="en-US" sz="1200" dirty="0"/>
              <a:t> [Last Access: 10. Dec. 2025]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6"/>
              </a:rPr>
              <a:t>https://cset.georgetown.edu/article/memory-safety-an-explainer/</a:t>
            </a:r>
            <a:r>
              <a:rPr lang="en-US" sz="1200" dirty="0"/>
              <a:t> [Last Access: 10. Dec. 2025]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5978853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950</Words>
  <Application>Microsoft Office PowerPoint</Application>
  <PresentationFormat>Breitbild</PresentationFormat>
  <Paragraphs>177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David Grandel1</cp:lastModifiedBy>
  <cp:revision>8</cp:revision>
  <dcterms:created xsi:type="dcterms:W3CDTF">2025-12-08T16:38:36Z</dcterms:created>
  <dcterms:modified xsi:type="dcterms:W3CDTF">2026-05-14T16:58:33Z</dcterms:modified>
</cp:coreProperties>
</file>