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60" r:id="rId1"/>
  </p:sldMasterIdLst>
  <p:notesMasterIdLst>
    <p:notesMasterId r:id="rId33"/>
  </p:notesMasterIdLst>
  <p:sldIdLst>
    <p:sldId id="256" r:id="rId2"/>
    <p:sldId id="257" r:id="rId3"/>
    <p:sldId id="258" r:id="rId4"/>
    <p:sldId id="260" r:id="rId5"/>
    <p:sldId id="261" r:id="rId6"/>
    <p:sldId id="277" r:id="rId7"/>
    <p:sldId id="279" r:id="rId8"/>
    <p:sldId id="280" r:id="rId9"/>
    <p:sldId id="281" r:id="rId10"/>
    <p:sldId id="282" r:id="rId11"/>
    <p:sldId id="285" r:id="rId12"/>
    <p:sldId id="286" r:id="rId13"/>
    <p:sldId id="270" r:id="rId14"/>
    <p:sldId id="288" r:id="rId15"/>
    <p:sldId id="289" r:id="rId16"/>
    <p:sldId id="290" r:id="rId17"/>
    <p:sldId id="275" r:id="rId18"/>
    <p:sldId id="274" r:id="rId19"/>
    <p:sldId id="291" r:id="rId20"/>
    <p:sldId id="292" r:id="rId21"/>
    <p:sldId id="295" r:id="rId22"/>
    <p:sldId id="296" r:id="rId23"/>
    <p:sldId id="298" r:id="rId24"/>
    <p:sldId id="300" r:id="rId25"/>
    <p:sldId id="301" r:id="rId26"/>
    <p:sldId id="302" r:id="rId27"/>
    <p:sldId id="304" r:id="rId28"/>
    <p:sldId id="305" r:id="rId29"/>
    <p:sldId id="306" r:id="rId30"/>
    <p:sldId id="308" r:id="rId31"/>
    <p:sldId id="259" r:id="rId3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Title" id="{E163F5B9-3F17-4B22-BCEC-9E97C88CFEE2}">
          <p14:sldIdLst>
            <p14:sldId id="256"/>
          </p14:sldIdLst>
        </p14:section>
        <p14:section name="Introduction and Motivation" id="{FEE7A2D1-4B6E-4142-9DA3-CF8F0DB5660C}">
          <p14:sldIdLst>
            <p14:sldId id="257"/>
            <p14:sldId id="258"/>
            <p14:sldId id="260"/>
          </p14:sldIdLst>
        </p14:section>
        <p14:section name="Memory Safety" id="{65F6EF3D-ACD6-4188-8AAD-5E78034F26E3}">
          <p14:sldIdLst>
            <p14:sldId id="261"/>
            <p14:sldId id="277"/>
            <p14:sldId id="279"/>
            <p14:sldId id="280"/>
            <p14:sldId id="281"/>
            <p14:sldId id="282"/>
            <p14:sldId id="285"/>
            <p14:sldId id="286"/>
            <p14:sldId id="270"/>
            <p14:sldId id="288"/>
            <p14:sldId id="289"/>
            <p14:sldId id="290"/>
            <p14:sldId id="275"/>
            <p14:sldId id="274"/>
          </p14:sldIdLst>
        </p14:section>
        <p14:section name="Rust's Approach" id="{CC0F149F-AD4B-4ECD-91BA-497C65BA172A}">
          <p14:sldIdLst>
            <p14:sldId id="291"/>
            <p14:sldId id="292"/>
            <p14:sldId id="295"/>
            <p14:sldId id="296"/>
            <p14:sldId id="298"/>
            <p14:sldId id="300"/>
            <p14:sldId id="301"/>
            <p14:sldId id="302"/>
            <p14:sldId id="304"/>
            <p14:sldId id="305"/>
            <p14:sldId id="306"/>
          </p14:sldIdLst>
        </p14:section>
        <p14:section name="Conclusion" id="{F88A5424-FC40-434F-9B6E-01A02AB2D8F6}">
          <p14:sldIdLst>
            <p14:sldId id="308"/>
          </p14:sldIdLst>
        </p14:section>
        <p14:section name="Sources" id="{3213A62E-4387-4F50-8DCC-554714B34329}">
          <p14:sldIdLst>
            <p14:sldId id="259"/>
          </p14:sldIdLst>
        </p14:section>
      </p14:sectionLst>
    </p:ex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C3A7DBAF-C7EC-7C46-E244-4E2F92C2FB56}" name="Grandel, David" initials="DG" userId="S::David.Grandel@vector.com::40bf7d28-782f-45a3-844e-42adf36c9afa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835FA3"/>
    <a:srgbClr val="64378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ittlere Formatvorlage 2 - Akz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41315" autoAdjust="0"/>
  </p:normalViewPr>
  <p:slideViewPr>
    <p:cSldViewPr snapToGrid="0">
      <p:cViewPr varScale="1">
        <p:scale>
          <a:sx n="34" d="100"/>
          <a:sy n="34" d="100"/>
        </p:scale>
        <p:origin x="1915" y="38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notesViewPr>
    <p:cSldViewPr snapToGrid="0" showGuides="1">
      <p:cViewPr varScale="1">
        <p:scale>
          <a:sx n="121" d="100"/>
          <a:sy n="121" d="100"/>
        </p:scale>
        <p:origin x="4272" y="90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notesMaster" Target="notesMasters/notesMaster1.xml"/><Relationship Id="rId38" Type="http://schemas.microsoft.com/office/2018/10/relationships/authors" Target="author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viewProps" Target="viewProps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7D40B27-32DC-4257-8536-E60282C13369}" type="datetimeFigureOut">
              <a:rPr lang="en-US" smtClean="0"/>
              <a:t>6/9/2026</a:t>
            </a:fld>
            <a:endParaRPr lang="en-US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/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97F7AC5-18AB-48B2-9359-58B3A2315671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9739596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Begrüße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Sie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nochmal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von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meiner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Seite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aus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wie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Sie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hier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schon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auf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meiner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Titlefolie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sehen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wird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sich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mein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Vortrag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mit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Rust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beschäftigen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aber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ich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möchte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mal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garnicht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zu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viel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vorwegnehmen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und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sofort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mit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Frage an Sie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einsteigen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</a:t>
            </a:r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97F7AC5-18AB-48B2-9359-58B3A2315671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9974207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was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denken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Sie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sind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mit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die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häufigsten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Bugs in moderner Software?</a:t>
            </a: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also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welche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Programmier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-Fehler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machen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Systeme, die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wir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entwickeln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besonders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angreibar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?</a:t>
            </a:r>
          </a:p>
          <a:p>
            <a:pPr marL="171450" indent="-171450">
              <a:buFontTx/>
              <a:buChar char="-"/>
            </a:pP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hat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jemand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Idee, um was für Bugs es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sich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da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handelt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indent="0">
              <a:buFontTx/>
              <a:buNone/>
            </a:pP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171450" indent="-171450">
              <a:buFontTx/>
              <a:buChar char="-"/>
            </a:pP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...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Antworten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abwarten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indent="0">
              <a:buFontTx/>
              <a:buNone/>
            </a:pP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171450" indent="-171450">
              <a:buFontTx/>
              <a:buChar char="-"/>
            </a:pP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zu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Beginn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dieser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Recherche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hätte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ich nicht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gedacht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dass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die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Ergebnisse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so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ausfallen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171450" indent="-171450">
              <a:buFontTx/>
              <a:buChar char="-"/>
            </a:pP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wenn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man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herausfinden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möchte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was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denn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die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größten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Probleme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sind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die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Sicherheitslücken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verursachen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171450" indent="-171450">
              <a:buFontTx/>
              <a:buChar char="-"/>
            </a:pP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dann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landet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man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releativ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schnell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bei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der "Common Weakness Enumeration"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kurz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CWE</a:t>
            </a:r>
          </a:p>
          <a:p>
            <a:pPr marL="171450" indent="-171450">
              <a:buFontTx/>
              <a:buChar char="-"/>
            </a:pP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diese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CWE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ist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Liste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in der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verschiedene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Schwachstellen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aufgelistet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und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definiert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werden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indent="0">
              <a:buFont typeface="Arial" panose="020B0604020202020204" pitchFamily="34" charset="0"/>
              <a:buNone/>
            </a:pP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 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große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Tech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Konzerne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wie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Microsoft und Google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reichen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dort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Beschreibungen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von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Schwachstellen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171450" indent="-171450">
              <a:buFontTx/>
              <a:buChar char="-"/>
            </a:pP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die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Daten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sind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sicherlich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nicht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vollständig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da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natürlich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nicht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jeder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Fehler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frei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rausgegeben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wird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171450" indent="-171450">
              <a:buFontTx/>
              <a:buChar char="-"/>
            </a:pP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aber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durch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die Masse an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Beteiligungen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vermutlich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das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repräsentativste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was man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frei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zugänglich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so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findet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indent="0">
              <a:buFont typeface="Arial" panose="020B0604020202020204" pitchFamily="34" charset="0"/>
              <a:buNone/>
            </a:pP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  die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größte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Schwachstelle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laut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der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aktuellsten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Statistik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der CWE is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tatsächlich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Injection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Schwachstelle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171450" indent="-171450">
              <a:buFontTx/>
              <a:buChar char="-"/>
            </a:pP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genauer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gesagt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OS Command Injection</a:t>
            </a:r>
          </a:p>
          <a:p>
            <a:pPr marL="171450" indent="-171450">
              <a:buFontTx/>
              <a:buChar char="-"/>
            </a:pP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Schwachstelle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die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dadurch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entsteht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dass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der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Entwickler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Anwendung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nicht gut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genug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gegen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das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Eingeben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von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bösartigen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Argumente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abgesichert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hat</a:t>
            </a:r>
          </a:p>
          <a:p>
            <a:pPr marL="171450" indent="-171450">
              <a:buFontTx/>
              <a:buChar char="-"/>
            </a:pP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97F7AC5-18AB-48B2-9359-58B3A2315671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5057355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Font typeface="Arial" panose="020B0604020202020204" pitchFamily="34" charset="0"/>
              <a:buNone/>
            </a:pP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 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aber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um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diese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Schwachstelle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soll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es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hier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nicht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gehen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171450" indent="-171450">
              <a:buFontTx/>
              <a:buChar char="-"/>
            </a:pP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Platz 2 und 3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im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Ranking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beschreiben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Bugs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mit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denen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ich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diese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Seminararbeit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gerne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motivieren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würde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171450" indent="-171450">
              <a:buFontTx/>
              <a:buChar char="-"/>
            </a:pP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2: Ein Use-After-Free Bug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landet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auf Platz 2 des Rankings</a:t>
            </a:r>
          </a:p>
          <a:p>
            <a:pPr marL="171450" indent="-171450">
              <a:buFontTx/>
              <a:buChar char="-"/>
            </a:pP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3: Und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Out-Of-Bounds Write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tatsächlich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auf Platz 3,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während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dieser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Fehler in der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Statistik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aus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dem Jahr 2024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sogar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Platz 1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belegte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indent="0">
              <a:buFont typeface="Arial" panose="020B0604020202020204" pitchFamily="34" charset="0"/>
              <a:buNone/>
            </a:pP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 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wahrscheinlich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können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die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meisten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von Ihnen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grob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etwas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mit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den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kurzen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Beschreibungen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anfangen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indent="0">
              <a:buFont typeface="Arial" panose="020B0604020202020204" pitchFamily="34" charset="0"/>
              <a:buNone/>
            </a:pP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 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damit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aber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genau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klar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wird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woher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diese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Fehler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kommen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schauen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wie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uns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die Details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gleich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noch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genau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an</a:t>
            </a:r>
          </a:p>
          <a:p>
            <a:endParaRPr lang="en-US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97F7AC5-18AB-48B2-9359-58B3A2315671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1984586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 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davor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lohnt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es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sich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aber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noch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einmal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anzuschauen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was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diese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beiden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Bugs und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viele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andere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Schwachstellen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mit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einschlägigen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Bewertung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so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gemeinsam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haben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  die Bugs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werden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von der Common Weakness Enumeration immer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noch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in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Kategorien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eingeteilt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Kategorien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kurz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vorlesen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171450" indent="-171450">
              <a:buFontTx/>
              <a:buChar char="-"/>
            </a:pP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Memory Safety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ist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hier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immer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als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top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Kategorie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vertreten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gemessen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wenn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man alle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Einzel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Danger Scores der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Schwachstellen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aufsummiert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171450" indent="-171450">
              <a:buFontTx/>
              <a:buChar char="-"/>
            </a:pP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dieser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Danger Score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berechnet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sich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aus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Häufigkeit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des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Auftretens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171450" indent="-171450">
              <a:buFontTx/>
              <a:buChar char="-"/>
            </a:pP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Und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daraus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wie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groß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die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Auswirkungen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auf die Sicherheit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sind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wenn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dieser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Fehler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auftritt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 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ausgehend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von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dieser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Bewertung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scheint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Memory Safety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ziemlich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großes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Problem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darzustellen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 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daher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wollen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wir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uns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in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diesem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Vortrag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einmal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anschauen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warum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Memory Safety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zu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so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vielen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Exploits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führt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  und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welche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ganze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eigene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Lösung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Rust für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diese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Probleme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anbietet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US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97F7AC5-18AB-48B2-9359-58B3A2315671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74339018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aber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was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heißt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denn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jetzt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genau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Memory Safety</a:t>
            </a: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memory safety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ist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kein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selten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verwendeter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Begriff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aber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genaue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Definition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ist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gar nicht so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offensichtlich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wie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es erst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einmal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erscheinen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mag</a:t>
            </a: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Möglichkeit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memory safety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zu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definieren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ist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zu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sagen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dass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Programm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als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speicher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sicher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gilt,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wenn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kein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Speicher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Zugriffsfehler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auftritt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als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Speicherzugriffsfehler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bezeichnet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man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der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folgenden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Fehler:</a:t>
            </a: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 1. Out of bounds write</a:t>
            </a: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 2. Out of bounds read</a:t>
            </a: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 3. Use After Free</a:t>
            </a: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 4. Use of uninitialized Memory</a:t>
            </a: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 5. Double Free</a:t>
            </a: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 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abkürzend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könnte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man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auch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sagen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Programm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gilt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als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Memory Safe,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wenn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es nicht auf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auf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undefinierten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Speicher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zugreift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171450" indent="-171450">
              <a:buFontTx/>
              <a:buChar char="-"/>
            </a:pP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undefinierter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Speicher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ist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Speicher, der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vorher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nicht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explizit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als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Heap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oder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Stack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alloziert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wurde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171450" indent="-171450">
              <a:buFontTx/>
              <a:buChar char="-"/>
            </a:pP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Zwei der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hier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genannten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speicherfehler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decken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sich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mit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den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Plätzen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2 und 3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im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Ranking von Software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Schwachstellen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171450" indent="-171450">
              <a:buFontTx/>
              <a:buChar char="-"/>
            </a:pP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diese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würde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ich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hier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gerne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nochmal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an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zwei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praktischen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Beispielen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erklären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US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97F7AC5-18AB-48B2-9359-58B3A2315671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73616818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zunächst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wollen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wir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uns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einmal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anschauen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wie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Use After Free Fehler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zustande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kommen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kann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Das Use-After-Free Problem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tritt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nur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im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Zusammenhang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mit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dynamischen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Speicherverwaltung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auf</a:t>
            </a: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Das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bedeutet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es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geht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immer um Speicher, der auf dem Heap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zugeteilt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wurde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die Code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Beispiel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werden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in C sein,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weil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das die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Sprache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mit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C++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zusammen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ist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die am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weitesten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verbreitet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ist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trotz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ihres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perse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speicher-unsicheren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Designs was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Speicherverwaltung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angeht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hier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sieht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mein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sehr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kurzes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aber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prägnantes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Code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Beispiel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für das Use After Free Problem</a:t>
            </a: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 1. Als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erstes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wird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Pointer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angelegt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und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mittels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malloc()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Speicherbereich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der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Größe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eines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Integers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reserviert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US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97F7AC5-18AB-48B2-9359-58B3A2315671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33943507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2.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Diesem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reservierten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Speicher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wird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dann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direkt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der Wert 21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zugewiesen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US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97F7AC5-18AB-48B2-9359-58B3A2315671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97407296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Danach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wird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zweiter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Pointer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angelegt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der auf den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selben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Speicherbereich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zeigt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wie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der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erste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Pointer</a:t>
            </a:r>
          </a:p>
          <a:p>
            <a:endParaRPr lang="en-US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97F7AC5-18AB-48B2-9359-58B3A2315671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77617482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Char char="-"/>
              <a:tabLst/>
              <a:defRPr/>
            </a:pP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Nun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wird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der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Speicherbereich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auf den der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erste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Pointer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zeigt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freigegeben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Char char="-"/>
              <a:tabLst/>
              <a:defRPr/>
            </a:pP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damit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zeigen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der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erste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und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zweite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Pointer auf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nicht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mehr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gültigen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Speicherbereich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und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sind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damit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Dangling Pointer</a:t>
            </a:r>
          </a:p>
          <a:p>
            <a:endParaRPr lang="en-US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97F7AC5-18AB-48B2-9359-58B3A2315671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1434168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Char char="-"/>
              <a:tabLst/>
              <a:defRPr/>
            </a:pP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Wie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beim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ersten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Pointer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wird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nun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dritter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Pointer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erstellt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Char char="-"/>
              <a:tabLst/>
              <a:defRPr/>
            </a:pP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Diesem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wieder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mittels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malloc()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Speicher Block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zugeteilt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wird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Char char="-"/>
              <a:tabLst/>
              <a:defRPr/>
            </a:pP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in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diesem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Fall der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gleiche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Speicherblock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der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zuvor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mittels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free()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freigegeben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wurde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Char char="-"/>
              <a:tabLst/>
              <a:defRPr/>
            </a:pP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das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ist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natürlich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nicht immer der Fall und je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nach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Allokator-Algorithmus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und Heap Verwaltung immer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anders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Char char="-"/>
              <a:tabLst/>
              <a:defRPr/>
            </a:pP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aber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theoretisch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ist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es immer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möglich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dass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jeder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freigegebene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Block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beim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Aufruf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von malloc()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wieder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vergeben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wird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US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97F7AC5-18AB-48B2-9359-58B3A2315671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62277129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Der neu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zugeteilte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Speicherblock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bekommt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nun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auch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Wert 42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zugewiesen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97F7AC5-18AB-48B2-9359-58B3A2315671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96469842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Tx/>
              <a:buChar char="-"/>
            </a:pP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Nun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dereferenzieren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wir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den buffer pointer 2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innerhalb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des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printf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aufrufs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171450" indent="-171450">
              <a:buFontTx/>
              <a:buChar char="-"/>
            </a:pP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allerdings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ist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dieser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Speicher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mittlerweile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freigegeben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171450" indent="-171450">
              <a:buFontTx/>
              <a:buChar char="-"/>
            </a:pP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Was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passiert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ist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dass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der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Speicherblock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an der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Adresse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die immer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noch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im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zweiten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Pointer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hinterlegt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ist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gelesen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wird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171450" indent="-171450">
              <a:buFontTx/>
              <a:buChar char="-"/>
            </a:pP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Dieser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wurde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aber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nach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dem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Freigeben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neu an Pointer 3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verteilt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171450" indent="-171450">
              <a:buFontTx/>
              <a:buChar char="-"/>
            </a:pP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und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mit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einem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anderen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Wert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beschrieben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der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dann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jetzt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beim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Dereferenzieren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von Pointer 2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mit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ausgelesen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wird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171450" indent="-171450">
              <a:buFontTx/>
              <a:buChar char="-"/>
            </a:pP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Dieses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Verhalten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ist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natürlich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fatal,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wenn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über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Pointer 3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beispielsweise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vertrauliche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Daten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geschrieben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wurden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171450" indent="-171450">
              <a:buFontTx/>
              <a:buChar char="-"/>
            </a:pP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und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jetzt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fälschlicherweise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Zugriff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über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anderen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Pointer auf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diese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Daten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möglich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ist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 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derartige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Fehler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passieren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sehr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schnell, ins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besondere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dann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wenn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mehrere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Zeiger auf den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gleichen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Speicher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zeigen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der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dann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aber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nur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über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der Zeiger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explizit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gefreed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wird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US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97F7AC5-18AB-48B2-9359-58B3A2315671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34398164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neben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dem User-After-Free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ist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der Out-of-bounds Write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eben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auch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riesiges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Problem</a:t>
            </a: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auch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hier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kann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man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mit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paar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Code Zeilen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zeigen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wie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es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zu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so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einem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Fehler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kommen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kann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 1. Als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erstes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wird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Variable var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angelegt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und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ihr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der Wert 5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zugewießen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US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97F7AC5-18AB-48B2-9359-58B3A2315671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76124375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dann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Array der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Länge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2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angelegt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und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beide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Elemente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des Arrays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mit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dem Wert 2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initialisiert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US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97F7AC5-18AB-48B2-9359-58B3A2315671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18753132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Char char="-"/>
              <a:tabLst/>
              <a:defRPr/>
            </a:pP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Nun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wird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Funktion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aufgerufen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die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Pointer also das Array und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Index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annimmt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Char char="-"/>
              <a:tabLst/>
              <a:defRPr/>
            </a:pP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diese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Funktion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schreibt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den Wert 99 in das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Elemente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mit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angegebenem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Index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im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Array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ohne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zu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prüfen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ob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dieser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Index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valide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ist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Char char="-"/>
              <a:tabLst/>
              <a:defRPr/>
            </a:pP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Was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jetzt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genau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im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Speicher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passiert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ist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zunächst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einmal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undefiniert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Char char="-"/>
              <a:tabLst/>
              <a:defRPr/>
            </a:pP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und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hängt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stark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vom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Format ab in dem die Variable und das Array auf dem Stack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abgelegt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wurden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(das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ist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nämlich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Compilerabhängig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</a:t>
            </a:r>
          </a:p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Char char="-"/>
              <a:tabLst/>
              <a:defRPr/>
            </a:pP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Beim GNU Compiler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findet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man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aber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das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hier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gezeigte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Format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vor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Char char="-"/>
              <a:tabLst/>
              <a:defRPr/>
            </a:pP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 Stack auf den die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Elemente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mit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absteigender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Adresse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gestapelt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werden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Char char="-"/>
              <a:tabLst/>
              <a:defRPr/>
            </a:pP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Beim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Schreiben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außerhalb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vom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validen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Bereich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des Arrays</a:t>
            </a:r>
          </a:p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Char char="-"/>
              <a:tabLst/>
              <a:defRPr/>
            </a:pP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Wird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dann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der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speicherbereich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von var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fälshlicherweiße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manipuliert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US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97F7AC5-18AB-48B2-9359-58B3A2315671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74934339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Beim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printen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der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Variablem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var auf die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Konsole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wird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dann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auch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nicht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wie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erwartet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5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sondern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99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ausgegeben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 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wenn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man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denkt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naja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Variable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verändert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das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kann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ja nicht so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schlimm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sein</a:t>
            </a:r>
          </a:p>
          <a:p>
            <a:pPr marL="171450" indent="-171450">
              <a:buFontTx/>
              <a:buChar char="-"/>
            </a:pP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Dann muss man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sich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einmal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vorstellen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dass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statt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dieser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Variable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dort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Array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liegt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der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Funktionespointer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enthält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171450" indent="-171450">
              <a:buFontTx/>
              <a:buChar char="-"/>
            </a:pP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manipuliert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man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hier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geschickt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Adresse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so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kann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man schnell Code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ausführen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den man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als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Angreifer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platziert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hat</a:t>
            </a:r>
          </a:p>
          <a:p>
            <a:endParaRPr lang="en-US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97F7AC5-18AB-48B2-9359-58B3A2315671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8253216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Beide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Verhalten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sind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hinsichtlicht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Sicherheit von Software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äußerst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problematisch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aus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folgenden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Gründen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</a:t>
            </a:r>
          </a:p>
          <a:p>
            <a:b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1.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Integrätet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der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Daten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geht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verloren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</a:t>
            </a: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   -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Über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die Dangling Pointer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aus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dem Use-After-Free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Beispiel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kann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man sensible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Daten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im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Heap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lesen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oder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auch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manipulieren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auf die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eigentlich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kein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Zugriff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bestehen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sollte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   -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genauso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lässt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sich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über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den out-of-bounds write Speicher auf dem Stack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ändern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2.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Verfügbarkeit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von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einem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Service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kann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durch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Software Crash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eingeschränkt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sein:</a:t>
            </a: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   - Es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gibt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etwas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was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sich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Chunk-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Consolidierung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nennt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dabei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werden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freigegebene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und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benachbarte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Speicherblöcke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im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Heap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zu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größeren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Blöcken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zusammengeführt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um die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Fragementierung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zu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reduzieren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   - Falls das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nach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einem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free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passieren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sollte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wird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beim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nächsten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Memory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Zugriff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über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Dangling Pointer das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Programm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crashen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da die Chunk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Informationen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nicht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mehr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valide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sind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   -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wenn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durch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den out-of-bounds write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zufällig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return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adresse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funktion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überschrieben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wird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kann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auch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hierdurch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das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Programm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abstürzen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US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97F7AC5-18AB-48B2-9359-58B3A2315671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56216379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ich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denke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warum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Speicher Sicherheit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Problem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ist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ist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durch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die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Beispiele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jetzt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klar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geworden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aber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wie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kann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man die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Probleme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den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vermeiden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?</a:t>
            </a:r>
          </a:p>
          <a:p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Dafür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gibt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es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im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wesentlichen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drei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Ansätze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die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sich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durchgesetzt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haben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</a:t>
            </a:r>
          </a:p>
          <a:p>
            <a:b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1. Die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Verwendung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von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Programmiersprachen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mit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automatischen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Speicherverwaltung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  -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mit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der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populärste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Ansatz</a:t>
            </a: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  -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hier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hat der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Entwickler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garnicht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die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Möglichkeit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Speicher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selbst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zu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verwalten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  -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dabei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wird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Speicher von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einem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Garbage Collector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zur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Laufzeit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analysiert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verwaltet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und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freigegeben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  - Python, Java und JavaScript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verwenden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diese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Art von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Speicherverwaltung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(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wenn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auch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nicht auf die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genau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gleiche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Art und Weise)</a:t>
            </a: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  -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funktioniert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äußerst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zuverlässig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aber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kostet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immens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Performance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zur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Laufzeit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2.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Instrumentierung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bestehenden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unsicherer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C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Programme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  -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beim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Compilieren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Instruktionen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einfügen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welche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zur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Laufzeit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ungültige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Speicherzugriffe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bemerken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können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  - das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kostet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natürlich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auch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Laufzeit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Performance</a:t>
            </a: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  - Aber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auch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Programmiersprachen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wie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Rust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bieten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hier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auch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Möglichkeiten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 -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bei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bspw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Out-of-bounds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Zugriffe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Programm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sicher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abstürzen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lassen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statt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einfach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illegal auf den Speicher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zuzugreifen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3.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Programmiersprachen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die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durch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ihren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Compiler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zur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Compilezeit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auf Memory Safety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geprüft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werden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  -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potentielle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Speicher Fehler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werden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garnicht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kompiliert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-&gt; so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kann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es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garnicht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zu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Fehlern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kommen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  - und es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gibt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keine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Runtime Overhead -&gt; quasi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optimale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Performance</a:t>
            </a: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  -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dafür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sind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aber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einige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neue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Regeln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und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Konzepte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notwendig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  - Rust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bietet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so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Lösung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an, die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wir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uns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im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folgenden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anschauen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werden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US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97F7AC5-18AB-48B2-9359-58B3A2315671}" type="slidenum">
              <a:rPr lang="en-US" smtClean="0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8429846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Rust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verspricht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die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Lösung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für die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Kombination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zweier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bislang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nicht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kombinierbarer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Programmier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Herausforderungen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zu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sein</a:t>
            </a: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Volle Hardware und Speicher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Kontrolle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ohne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auf Sicherheit und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Entwicklererlebnis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zu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verzichten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Rust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bietet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neben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dem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herzstück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dem Rust Compiler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auch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viele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andere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Entwicklungswerkzeuge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wie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Formatter, Language Server und Paket Manager an</a:t>
            </a: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Scheinbar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sind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das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auch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keine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leeren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Versprechen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Zumindest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wenn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man den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stackoverflow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statistiken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vertraut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Dort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ist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Rust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seit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Jahren die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beliebteste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aufstrebende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Programmiersprache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Über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72% der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Entwickler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die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angefangen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haben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Rust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zu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verwenden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verwenden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es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auch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über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die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nächsten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Jahre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hinweg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weiter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aber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was muss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diese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Programmiersprache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jetzt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bieten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damit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die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vorgestellten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Speicher Fehler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sicher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erkannt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oder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abgefangen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werden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?</a:t>
            </a: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Das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schauen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wir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uns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jetzt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Stück für Stück an</a:t>
            </a:r>
          </a:p>
          <a:p>
            <a:endParaRPr lang="en-US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97F7AC5-18AB-48B2-9359-58B3A2315671}" type="slidenum">
              <a:rPr lang="en-US" smtClean="0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65715734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Menge an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Regeln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die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dafür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sorgen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dass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der Speicher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sicher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verwaltet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wird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Diese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Regeln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gelten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zu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Compile Zeit</a:t>
            </a: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Die Ownership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regelt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die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Besitzrechte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von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Daten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im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Speicher</a:t>
            </a: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dafür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gelten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die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folgende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Regeln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</a:t>
            </a: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 1.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Jeder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Wert in Rust hat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Besitzer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Owner, in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diesem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Beispiel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ist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buffer_owner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jetzt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der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aktuelle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Besitzer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 2. Es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kann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immer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nur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Besitzer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gleichzeitg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geben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ab dem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Punkte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wo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another_buffer_owner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der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Besitzer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wird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ist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buffer_owner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kein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Besitzer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mehr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 3. Wenn der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Besitzer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out-of-scope also nicht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mehr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sichtbar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ist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dann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wird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der Wert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verworfen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out of scope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kann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in Rust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durch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verschiedene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Konstrukte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passieren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</a:t>
            </a: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    -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Gültigkeitsbereich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wird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verlassen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da Block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mit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geschweiften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Klammern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zu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Ende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ist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    -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würde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man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buffer_owner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neuen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Wert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mittels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Box::new(...)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zuweisen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würde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wir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der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vorherige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Wert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auch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verworfen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    -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würde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man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buffer_owner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als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Parameter in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Funktion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geben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dann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verlässt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dieser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auch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den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aktuellen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Scope</a:t>
            </a: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immer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wenn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Besitzer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den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Gültigkeitsbereich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verlässt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dann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wird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durch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Rust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automatisch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der drop()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Aufruf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eingefügt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um den Wert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zu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verwerfen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diese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Regeln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bringen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enormen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Vorteil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für die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Entwicklung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</a:t>
            </a: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 - der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Entwickler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muss nicht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manuell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Speicher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wieder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freigeben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die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Instruktionen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dafür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fügt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der Rust Compiler von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alleine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 - Somit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kann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das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Freigeben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von Speicher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auch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nicht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vergessen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werden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US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97F7AC5-18AB-48B2-9359-58B3A2315671}" type="slidenum">
              <a:rPr lang="en-US" smtClean="0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9574893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Regel 2, also das es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nur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Besitzer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gleichzeitig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geben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darf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wird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auf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bestimmte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Art und Weise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realisiert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würde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es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sich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nicht um Speicher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handeln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der auf dem Heap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alloziert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wurde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sondern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auf dem Stack,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dann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wäre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der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Sachverhalt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klar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die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Daten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würden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einfach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kopiert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werden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im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Bsp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hier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existieren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zwei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Variablen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mit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dem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gleichen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Wert</a:t>
            </a: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Aber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ausgehend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vom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bsp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auf der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rechten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Seite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was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genau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passiert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mit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buffer_owner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wenn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er die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Besitzrechte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abgeben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muss?</a:t>
            </a: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es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kann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sich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bei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dynamischen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Größen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auf dem Heap schnell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im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große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Datenmenge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handeln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wodurch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viel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Speicher Overhead und Performance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Einbuse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durch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das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Kopieren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passieren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würde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daher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is die Frage?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Ist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Kopieren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wirklich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die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beste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Idee?</a:t>
            </a:r>
          </a:p>
          <a:p>
            <a:endParaRPr lang="en-US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97F7AC5-18AB-48B2-9359-58B3A2315671}" type="slidenum">
              <a:rPr lang="en-US" smtClean="0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26109614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prinizipiell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gibt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es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drei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verschiedene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Möglichkeiten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wie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die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Besitzübergabe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von pointer_1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nach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pointer_2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passieren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könnte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</a:t>
            </a: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 1. Deep Copy: Dabei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wird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der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gesamte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Inhalt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der Speicher Einheit, die auf dem Heap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allooziert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ist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kopiert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und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zusätzlich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auch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noch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der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darauf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zeigende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Pointer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kopiert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 2. Shallow Copy: Hier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wirde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nur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der Pointer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kopiert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dieser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zeigt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aber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auf die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selbe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Speicheradresse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der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Daten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im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Heap,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diese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müssen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also nicht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kopiert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werden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 3. Move: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Hierbei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wird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zunächst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auch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der Pointer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kopiert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dann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aber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im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Gegensatz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zum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Shallow Copy der Zeiger 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gelöscht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sodass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nach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einem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Move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nach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wie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vor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nur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Zeiger auf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Speicherzelle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zeigt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das Problem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beider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Copy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Varianten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ist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dass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nach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dem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Kopieren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auf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jeden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Fall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mehr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Zeiger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vorhanden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sind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als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davor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das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bedeutet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automatisch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größerer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Aufwand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beim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freigeben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von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Speicherzellen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Shallow Copy hat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zusätzlich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noch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das Problem,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dass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es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extrem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anfällig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für Dangling Pointer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ist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also Zeiger, die auf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bereits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freigegebenen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Speicherbereich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zeigen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US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97F7AC5-18AB-48B2-9359-58B3A2315671}" type="slidenum">
              <a:rPr lang="en-US" smtClean="0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85523518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Rust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setzt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standardmäßig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bei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der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Übergabe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Ownership IMMER auf Move</a:t>
            </a: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um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genau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die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Probleme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die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durch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Copy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entstehen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können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zu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vermeiden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Speicher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kann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dadurch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nicht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fälschlicherweise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doppelt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freigegeben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werden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da der Speicher immer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nur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in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Verwendung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eines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einzige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Besitzers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ist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Kopieren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ist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zwar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immer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noch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möglich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in Rust,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aber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nur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durch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das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explizite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Aufrufen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Clone()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Funktion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US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97F7AC5-18AB-48B2-9359-58B3A2315671}" type="slidenum">
              <a:rPr lang="en-US" smtClean="0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717393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was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macht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man nun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aber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wenn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man nicht immer die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Besitzrechte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zu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einem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Wert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überall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mit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durchreichen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möchte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bspw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bei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Funktionsaufrufen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könnte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es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nützlich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sein auf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Wert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zuzugreifen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ohne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sich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auch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noch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um die Ownership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zu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kümmern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dafür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gibt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es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Referenzen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-&gt;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Adresse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an der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sich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Pointer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befindet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der auf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Speicherbereich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zeigt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um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Referenz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anzulegen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muss man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sich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die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Besitzrechte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dafür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leihen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im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Code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geschieht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das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über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das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kaufnmännische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UND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Zeichen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die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Funktion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increment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bekommt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also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Referenz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auf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var_pointer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übergeben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das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Erstellen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so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Referenz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nennt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man in Rust Borrowing -&gt; Wert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verwenden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ohne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Ownership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zu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übergeben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es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gibt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auch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nach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dem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Erstellen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Referenz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nur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Owner</a:t>
            </a:r>
          </a:p>
          <a:p>
            <a:pPr marL="171450" indent="-171450">
              <a:buFontTx/>
              <a:buChar char="-"/>
            </a:pP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Durch Borrowing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ist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es also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hier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im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Code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Beispiel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möglich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zu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inkrementieren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ohne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die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Besitzrechte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zu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übergeben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indent="0">
              <a:buFontTx/>
              <a:buNone/>
            </a:pP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Dadurch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das es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möglich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ist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sich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die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Zugriffsrechte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auf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Daten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auszuleihen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könnte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man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meinen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es sei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auch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wieder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möglich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Dangling Reference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zu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provozieren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da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ohne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zusätzliche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Absicherung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Referenz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theoretisch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ohne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zugehörige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valide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Daten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existieren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könnte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US" dirty="0"/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Referenzen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sind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per default immutable also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unveränderbar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es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ist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aber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möglich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auch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veränderbare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Referenzen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anzulegen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das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geschieht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aber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wieder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nur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explizit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falls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Referenz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aber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als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veränderbar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markiert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ist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kann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es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abseits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von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dieser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Referenz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keine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anderen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geben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ganz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nach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dem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Konzept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wenn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geschrieben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wird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dann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gibt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es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nur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diesen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Writer, falls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nur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gelesen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wird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kann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es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auch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mehrere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lesende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Referenzen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geben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171450" indent="-171450">
              <a:buFontTx/>
              <a:buChar char="-"/>
            </a:pP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dieses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Konzept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verhindert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zusätzlich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noch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ganz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andere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große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Fehlerquelle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nämlich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Data Races, um die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soll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es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hier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jetzt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aber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nicht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weiter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gehen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US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97F7AC5-18AB-48B2-9359-58B3A2315671}" type="slidenum">
              <a:rPr lang="en-US" smtClean="0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7272775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Aber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auch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hier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bietet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der Rust Compiler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Konzept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um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diese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Dangling References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zu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Compilezeit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vollständig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zu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verhindern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dafür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gibt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es in Rust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sogenannte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Lifetimes</a:t>
            </a: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Lifetimes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geben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an für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wie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lange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oder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über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welchen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Programmteil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hinweg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Variablen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gültig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sind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hier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veranschaulicht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durch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die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Pfeile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die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zeigen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in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welchem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Teil die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Referenz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und der Wert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gültig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sind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Der Wert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ist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zum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zugriffzeitpunkt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per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println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über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die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Referenz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nicht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mehr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gültig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das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wird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durch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den Borrow Checker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erkannt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der borrow Checker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überprüft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die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Lebenszeiten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und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vergleicht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diese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um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herauszufinden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ob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alle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Ausleihen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valide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sind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da die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Lebenszeit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des Variable value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hier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kürzer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ist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als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die der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Referenz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meldet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der Borrow Checker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Fehler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zur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Compilezeit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dadurch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können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Dangling References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vollständig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zur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Compilezeit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erkannt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werden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US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97F7AC5-18AB-48B2-9359-58B3A2315671}" type="slidenum">
              <a:rPr lang="en-US" smtClean="0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56832337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so das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waren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jetzt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viele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theoretische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Konzepte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auf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einmal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171450" indent="-171450">
              <a:buFontTx/>
              <a:buChar char="-"/>
            </a:pP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jetzt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wollen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wir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anschauen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wie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genau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diese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in der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Sprache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Rust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zum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Einsatz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kommen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um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Use After Free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zu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verhindern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171450" indent="-171450">
              <a:buFontTx/>
              <a:buChar char="-"/>
            </a:pP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dafür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erstellen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wir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genau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wie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im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Beispielcode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in C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Variabel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die Speicher für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Integer auf dem Heap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reserviert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Box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ist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hier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Smart Pointer,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mit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dem man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mittels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new()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bestimmten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Wert, in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unserem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Fall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Integer auf dem Heap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gespeichert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werden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kann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normalerweise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lohnt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sich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das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nur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für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Typen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die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variable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Größe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haben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so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wie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String</a:t>
            </a:r>
          </a:p>
          <a:p>
            <a:pPr marL="171450" indent="-171450">
              <a:buFontTx/>
              <a:buChar char="-"/>
            </a:pP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wie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wollen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aber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möglichst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nah am C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Beispiel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bleiben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und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verwenden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daher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Box</a:t>
            </a:r>
          </a:p>
          <a:p>
            <a:pPr marL="0" indent="0">
              <a:buFontTx/>
              <a:buNone/>
            </a:pP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 1. In der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ersten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Code Zeile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wir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dann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also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nach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den Ownership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Regeln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der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Besitzer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für den Wert auf dem Heap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festgelegt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 2. In C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haben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wir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dann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zweiten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Pointer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festgelegt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der auf den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gleichen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Speicher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wie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Pointer 1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zeigt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      - Das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ist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in Rust so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direk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garnicht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möglich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weil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in C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dafür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Shallow Copy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eingesetzt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wird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      - Shallow Copy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haben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wir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aber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gesehen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gibt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es nicht so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direkt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in Rust</a:t>
            </a: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      - Um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aber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trotzdem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Zugriff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auf den Wert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im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Heap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zu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bekommen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erstellen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wir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Referenz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      -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buffer_borrow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leiht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sich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also den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Zugriff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nur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aus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 3. Wir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rufen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explizit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drop() auf um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buffer_owner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zu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verwerfen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untypisch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in Rust drop()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explizit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aufzurufen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aber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hier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einfach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für Demo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Zwecke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      -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Dadurch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eendet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die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Lebenszeit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von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buffer_owner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 4. Nun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versuchen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wir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den use after free Fehler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zu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provozieren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      -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wir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versuchen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auf Speicher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zuzugreifen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der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bereits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freigegeben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wurde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indem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wir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über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buffer_borrow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auf die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Daten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zugrifen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wollen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und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diese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printen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wollen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US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97F7AC5-18AB-48B2-9359-58B3A2315671}" type="slidenum">
              <a:rPr lang="en-US" smtClean="0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32293228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wir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bekommen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im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Gegensatz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zu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C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Fehler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beim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Kompilieren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es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ist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also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garnicht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möglich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Executable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zu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erstellen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was so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Bug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beinhaltet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die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Fehlermeldung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zeigt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genau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das was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wir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gerade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detailliert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durchgesprochen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haben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und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zusätzlich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noch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warum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Fehler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aufgetreten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ist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der Borrow Checker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im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Compiler hat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nämlich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detektiert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dass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die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Lebenszeit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von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buffer_borrow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länger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als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die des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ZUgehöriger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Besitzers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buffer_owner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ist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Das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erlauben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die Rust Lifetime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Regeln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nicht und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daher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wir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Fehler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angezeigt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Zusätzlich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erhält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man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noch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den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Vorschlag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was man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ändern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könnte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damit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kein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Fehler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aufritt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der Compiler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schlägt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Deep Copy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mittels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clone()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Funktion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vor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und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weißt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auch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direkt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auf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zusätzlich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Ressourcen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Kosten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hin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US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97F7AC5-18AB-48B2-9359-58B3A2315671}" type="slidenum">
              <a:rPr lang="en-US" smtClean="0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31936920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zu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Beginn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hatte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ich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gezeigt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dass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direkt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nach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dem Use-After-Free Fehler der out-of-bounds write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auch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große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Schwachstelle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darstellt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auch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dafür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bietet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Rust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bzw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um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genauer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zu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sein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zwei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verschiedene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Lösungsansätze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an</a:t>
            </a: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die am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einfachsten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zu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erkennenden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Out-of-Bounds Fehler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sind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die,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bei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denen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der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verwendete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Index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zur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Compiletime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schon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bekannt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ist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hier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im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Beispiel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ist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beim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Kompilieren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zu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100%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klar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dass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der Index der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beim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Zugriff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in Zeile 6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verwendet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wird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2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ist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Dadurch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kann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der Rust Compiler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bzw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sogar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der Rust Linter der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Zugriff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über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die Array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Grenzen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hinweg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auf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jedem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Fall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zur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Compiletime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erkennen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US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97F7AC5-18AB-48B2-9359-58B3A2315671}" type="slidenum">
              <a:rPr lang="en-US" smtClean="0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03611936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Anders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sieht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das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aus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wenn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man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versucht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das C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Beispiel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vom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Anfang in Rust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zu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transformieren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In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diesem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Beispiel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passiert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der Out-Of-Bounds Write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nämlich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innerhalb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eines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Funktionsaufrufs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die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Funktion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nimmt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zur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Laufzeit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übergebenen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Index an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mit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dem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dann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auf das Array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zugegriffen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wird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zur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Compilezeit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sicher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zu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beweisen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dass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so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Fehler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auftritt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ist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quasi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unmöglich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171450" indent="-171450">
              <a:buFontTx/>
              <a:buChar char="-"/>
            </a:pP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Daher muss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anderes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Konzept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her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mit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dem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solche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Fehler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keine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größeren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Sicherheitslücken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oder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Schaden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anrichten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können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171450" indent="-171450">
              <a:buFontTx/>
              <a:buChar char="-"/>
            </a:pP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Rust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kann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solche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out-of-bounds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Zugriff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nämlich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auch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feststellen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aber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nur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zur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Laufzeit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dafür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wird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für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jeden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Index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Zugriff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zur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Laufzeit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geprüft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ob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dieser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innerhalb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der Array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Grenzen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liegt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falls dies nicht der Fall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ist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wird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Panic Hook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ausgeführt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das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erzeugt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natürlich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Runtime Overhead</a:t>
            </a: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dieser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ist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aber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sehr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gering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da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im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Allgemeinen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nur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Vergleich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und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bedingter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Sprung für die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Überprüfung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benötigt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werden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171450" indent="-171450">
              <a:buFontTx/>
              <a:buChar char="-"/>
            </a:pP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die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dafür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notwendigen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Instruktionen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generiert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der Rust Compiler immer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ohne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dass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sich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der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Entwickler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das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explizit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erzwingen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muss</a:t>
            </a:r>
          </a:p>
          <a:p>
            <a:pPr marL="171450" indent="-171450">
              <a:buFontTx/>
              <a:buChar char="-"/>
            </a:pP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das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Verhalten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bei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einem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out-of-bounds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zugriff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versuch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ist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dadurch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sicher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dass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vor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dem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tatsächlichen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Zugriff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kontrolliert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der Panic Handler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aufgerufen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wird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während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in C das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Verhalten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in so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einem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Fall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völlig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undefiniert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bleibt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US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97F7AC5-18AB-48B2-9359-58B3A2315671}" type="slidenum">
              <a:rPr lang="en-US" smtClean="0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42365064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jetzt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haben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wir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an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einigen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wenigen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Beispielen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gesehen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wie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Rusts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Konzepte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dafür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sorgen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können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Memory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safen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coden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zu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entwickeln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aber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sind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diese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Konzepte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wirklich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allgemein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gültig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und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ist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jedes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Programm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welches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mit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Rust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entwickelt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wird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zu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100% Memory safe?</a:t>
            </a: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und ja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natürlich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löst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Rust nicht alle Memory Safety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Probleme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was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vor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allem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daran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liegt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dass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es in Rust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auch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möglich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ist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explizit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unsicheren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Code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zu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schreiben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um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Beispiel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mit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perse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unsicherem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C Code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zu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interagieren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oder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Low-Level-Code für Hardware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Interaktion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zu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entwickeln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171450" indent="-171450">
              <a:buFontTx/>
              <a:buChar char="-"/>
            </a:pP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und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auch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in der Praxis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wirkt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die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Verwendung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von Rust</a:t>
            </a: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Google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berichtete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in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ihrem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security blog 2024,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dass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nach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Einführung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von Rust in Android die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Anzahl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memory-safety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Schwachstellen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von 76% auf 24% der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Sicherheitslücken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zurückging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damit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möchte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ich den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Vortrag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beenden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und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hoffe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ich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habe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Ihnen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paar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Gründe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mehr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gegeben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Rust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einmal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auszuprobieren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ich bin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jetzt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gerne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bereit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noch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alle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Ihre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Fragen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zu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beantworten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US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97F7AC5-18AB-48B2-9359-58B3A2315671}" type="slidenum">
              <a:rPr lang="en-US" smtClean="0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7470638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sv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2DBC7A7-5989-10C6-0908-080077906AA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de-DE"/>
              <a:t>Mastertitelformat bearbeiten</a:t>
            </a:r>
            <a:endParaRPr lang="en-US"/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F3A0344F-B54A-F4A6-7766-6D98DB139DA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  <a:endParaRPr lang="en-US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9C1C28C0-452F-1895-9636-18007A7990C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Rust's Approach to Memory Safety</a:t>
            </a:r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E7D4A830-D1C7-8077-D7A7-99B0CB94E0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94141" y="6356349"/>
            <a:ext cx="475128" cy="365125"/>
          </a:xfrm>
        </p:spPr>
        <p:txBody>
          <a:bodyPr/>
          <a:lstStyle/>
          <a:p>
            <a:fld id="{5F85D455-7770-4F98-B944-71C158B4E906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960748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enutzerdefiniertes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55E46763-ABB8-51B3-F6E8-04F79A232351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dirty="0">
                <a:solidFill>
                  <a:srgbClr val="64378C"/>
                </a:solidFill>
              </a:rPr>
              <a:t>Rust's Approach to Memory Safety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5C39DF77-1A22-72A8-5645-286CC41C438F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 algn="ctr"/>
            <a:fld id="{5F85D455-7770-4F98-B944-71C158B4E906}" type="slidenum">
              <a:rPr lang="en-US" smtClean="0"/>
              <a:pPr/>
              <a:t>‹Nr.›</a:t>
            </a:fld>
            <a:endParaRPr lang="en-US" dirty="0"/>
          </a:p>
        </p:txBody>
      </p:sp>
      <p:sp>
        <p:nvSpPr>
          <p:cNvPr id="10" name="Textplatzhalter 9">
            <a:extLst>
              <a:ext uri="{FF2B5EF4-FFF2-40B4-BE49-F238E27FC236}">
                <a16:creationId xmlns:a16="http://schemas.microsoft.com/office/drawing/2014/main" id="{770E47B0-CA95-BD24-CB29-08CFEC1D2F36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4800599" y="136525"/>
            <a:ext cx="2590800" cy="365125"/>
          </a:xfrm>
        </p:spPr>
        <p:txBody>
          <a:bodyPr anchor="ctr" anchorCtr="0"/>
          <a:lstStyle>
            <a:lvl1pPr algn="ctr">
              <a:buNone/>
              <a:defRPr sz="1200">
                <a:solidFill>
                  <a:srgbClr val="64378C"/>
                </a:solidFill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840910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2_Benutzerdefiniertes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55E46763-ABB8-51B3-F6E8-04F79A232351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dirty="0">
                <a:solidFill>
                  <a:srgbClr val="64378C"/>
                </a:solidFill>
              </a:rPr>
              <a:t>Rust's Approach to Memory Safety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5C39DF77-1A22-72A8-5645-286CC41C438F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 algn="ctr"/>
            <a:fld id="{5F85D455-7770-4F98-B944-71C158B4E906}" type="slidenum">
              <a:rPr lang="en-US" smtClean="0"/>
              <a:pPr/>
              <a:t>‹Nr.›</a:t>
            </a:fld>
            <a:endParaRPr lang="en-US" dirty="0"/>
          </a:p>
        </p:txBody>
      </p:sp>
      <p:sp>
        <p:nvSpPr>
          <p:cNvPr id="10" name="Textplatzhalter 9">
            <a:extLst>
              <a:ext uri="{FF2B5EF4-FFF2-40B4-BE49-F238E27FC236}">
                <a16:creationId xmlns:a16="http://schemas.microsoft.com/office/drawing/2014/main" id="{770E47B0-CA95-BD24-CB29-08CFEC1D2F36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4800599" y="136525"/>
            <a:ext cx="2590800" cy="365125"/>
          </a:xfrm>
        </p:spPr>
        <p:txBody>
          <a:bodyPr anchor="ctr" anchorCtr="0"/>
          <a:lstStyle>
            <a:lvl1pPr algn="ctr">
              <a:buNone/>
              <a:defRPr sz="1200">
                <a:solidFill>
                  <a:srgbClr val="64378C"/>
                </a:solidFill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endParaRPr lang="en-US" dirty="0"/>
          </a:p>
        </p:txBody>
      </p:sp>
      <p:pic>
        <p:nvPicPr>
          <p:cNvPr id="2" name="Grafik 1">
            <a:extLst>
              <a:ext uri="{FF2B5EF4-FFF2-40B4-BE49-F238E27FC236}">
                <a16:creationId xmlns:a16="http://schemas.microsoft.com/office/drawing/2014/main" id="{08DD31E9-0328-F13A-22C3-1358D61B5153}"/>
              </a:ext>
            </a:extLst>
          </p:cNvPr>
          <p:cNvPicPr>
            <a:picLocks noChangeAspect="1"/>
          </p:cNvPicPr>
          <p:nvPr userDrawn="1"/>
        </p:nvPicPr>
        <p:blipFill>
          <a:blip cstate="print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11244769" y="299812"/>
            <a:ext cx="665997" cy="448987"/>
          </a:xfrm>
          <a:prstGeom prst="rect">
            <a:avLst/>
          </a:prstGeom>
        </p:spPr>
      </p:pic>
      <p:pic>
        <p:nvPicPr>
          <p:cNvPr id="5" name="Grafik 4">
            <a:extLst>
              <a:ext uri="{FF2B5EF4-FFF2-40B4-BE49-F238E27FC236}">
                <a16:creationId xmlns:a16="http://schemas.microsoft.com/office/drawing/2014/main" id="{8F9E31F4-1C04-35C1-A232-335327D43121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1244769" y="5175377"/>
            <a:ext cx="664522" cy="10912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5986384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Benutzerdefiniertes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55E46763-ABB8-51B3-F6E8-04F79A232351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dirty="0">
                <a:solidFill>
                  <a:srgbClr val="64378C"/>
                </a:solidFill>
              </a:rPr>
              <a:t>Rust's Approach to Memory Safety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5C39DF77-1A22-72A8-5645-286CC41C438F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 algn="ctr"/>
            <a:fld id="{5F85D455-7770-4F98-B944-71C158B4E906}" type="slidenum">
              <a:rPr lang="en-US" smtClean="0"/>
              <a:pPr/>
              <a:t>‹Nr.›</a:t>
            </a:fld>
            <a:endParaRPr lang="en-US" dirty="0"/>
          </a:p>
        </p:txBody>
      </p:sp>
      <p:sp>
        <p:nvSpPr>
          <p:cNvPr id="10" name="Textplatzhalter 9">
            <a:extLst>
              <a:ext uri="{FF2B5EF4-FFF2-40B4-BE49-F238E27FC236}">
                <a16:creationId xmlns:a16="http://schemas.microsoft.com/office/drawing/2014/main" id="{770E47B0-CA95-BD24-CB29-08CFEC1D2F36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4800599" y="136525"/>
            <a:ext cx="2590800" cy="365125"/>
          </a:xfrm>
        </p:spPr>
        <p:txBody>
          <a:bodyPr anchor="ctr" anchorCtr="0"/>
          <a:lstStyle>
            <a:lvl1pPr algn="ctr">
              <a:buNone/>
              <a:defRPr sz="1200">
                <a:solidFill>
                  <a:srgbClr val="64378C"/>
                </a:solidFill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endParaRPr lang="en-US" dirty="0"/>
          </a:p>
        </p:txBody>
      </p:sp>
      <p:sp>
        <p:nvSpPr>
          <p:cNvPr id="5" name="Inhaltsplatzhalter 4">
            <a:extLst>
              <a:ext uri="{FF2B5EF4-FFF2-40B4-BE49-F238E27FC236}">
                <a16:creationId xmlns:a16="http://schemas.microsoft.com/office/drawing/2014/main" id="{1FBE31EF-3B8E-5F74-85DA-2845B60A13DE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1203513" y="941293"/>
            <a:ext cx="9856694" cy="5177119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6834828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image" Target="../media/image3.png"/><Relationship Id="rId3" Type="http://schemas.openxmlformats.org/officeDocument/2006/relationships/slideLayout" Target="../slideLayouts/slideLayout3.xml"/><Relationship Id="rId7" Type="http://schemas.openxmlformats.org/officeDocument/2006/relationships/image" Target="../media/image2.png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.svg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>
            <a:extLst>
              <a:ext uri="{FF2B5EF4-FFF2-40B4-BE49-F238E27FC236}">
                <a16:creationId xmlns:a16="http://schemas.microsoft.com/office/drawing/2014/main" id="{BAE55418-058D-E9B1-E6B7-D7213EFEA11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  <a:endParaRPr lang="en-US"/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589D41F7-D69B-66D0-60AE-F5DD864CB1D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07A438CD-2562-44C0-8FE2-490BF19B89F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800599" y="6356350"/>
            <a:ext cx="259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rgbClr val="64378C"/>
                </a:solidFill>
              </a:defRPr>
            </a:lvl1pPr>
          </a:lstStyle>
          <a:p>
            <a:r>
              <a:rPr lang="en-US">
                <a:solidFill>
                  <a:srgbClr val="64378C"/>
                </a:solidFill>
              </a:rPr>
              <a:t>Rust's Approach to Memory Safety</a:t>
            </a:r>
            <a:endParaRPr lang="en-US" dirty="0">
              <a:solidFill>
                <a:srgbClr val="64378C"/>
              </a:solidFill>
            </a:endParaRPr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D1D79EE1-C5BC-77BB-639E-9363D804367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353799" y="6375625"/>
            <a:ext cx="55549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rgbClr val="64378C"/>
                </a:solidFill>
              </a:defRPr>
            </a:lvl1pPr>
          </a:lstStyle>
          <a:p>
            <a:pPr algn="ctr"/>
            <a:fld id="{5F85D455-7770-4F98-B944-71C158B4E906}" type="slidenum">
              <a:rPr lang="en-US" smtClean="0"/>
              <a:pPr/>
              <a:t>‹Nr.›</a:t>
            </a:fld>
            <a:endParaRPr lang="en-US" dirty="0"/>
          </a:p>
        </p:txBody>
      </p:sp>
      <p:pic>
        <p:nvPicPr>
          <p:cNvPr id="9" name="Grafik 8">
            <a:extLst>
              <a:ext uri="{FF2B5EF4-FFF2-40B4-BE49-F238E27FC236}">
                <a16:creationId xmlns:a16="http://schemas.microsoft.com/office/drawing/2014/main" id="{7EEF97DE-974B-5F4D-4A92-E6153B9F685B}"/>
              </a:ext>
            </a:extLst>
          </p:cNvPr>
          <p:cNvPicPr>
            <a:picLocks noChangeAspect="1"/>
          </p:cNvPicPr>
          <p:nvPr userDrawn="1"/>
        </p:nvPicPr>
        <p:blipFill>
          <a:blip cstate="print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rcRect/>
          <a:stretch/>
        </p:blipFill>
        <p:spPr>
          <a:xfrm>
            <a:off x="11244769" y="299812"/>
            <a:ext cx="665997" cy="448987"/>
          </a:xfrm>
          <a:prstGeom prst="rect">
            <a:avLst/>
          </a:prstGeom>
        </p:spPr>
      </p:pic>
      <p:pic>
        <p:nvPicPr>
          <p:cNvPr id="10" name="Grafik 9">
            <a:extLst>
              <a:ext uri="{FF2B5EF4-FFF2-40B4-BE49-F238E27FC236}">
                <a16:creationId xmlns:a16="http://schemas.microsoft.com/office/drawing/2014/main" id="{ED79E5C6-4AEE-8D6E-5460-6B1B4D94CA7F}"/>
              </a:ext>
            </a:extLst>
          </p:cNvPr>
          <p:cNvPicPr>
            <a:picLocks noChangeAspect="1"/>
          </p:cNvPicPr>
          <p:nvPr userDrawn="1"/>
        </p:nvPicPr>
        <p:blipFill>
          <a:blip r:embed="rId7"/>
          <a:stretch>
            <a:fillRect/>
          </a:stretch>
        </p:blipFill>
        <p:spPr>
          <a:xfrm>
            <a:off x="11244769" y="5175377"/>
            <a:ext cx="664522" cy="1091279"/>
          </a:xfrm>
          <a:prstGeom prst="rect">
            <a:avLst/>
          </a:prstGeom>
        </p:spPr>
      </p:pic>
      <p:pic>
        <p:nvPicPr>
          <p:cNvPr id="1028" name="Picture 4">
            <a:extLst>
              <a:ext uri="{FF2B5EF4-FFF2-40B4-BE49-F238E27FC236}">
                <a16:creationId xmlns:a16="http://schemas.microsoft.com/office/drawing/2014/main" id="{77FDA203-EE93-0394-A866-E5EBDA60C97D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8">
            <a:alphaModFix amt="3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70168" y="203168"/>
            <a:ext cx="6451663" cy="6451663"/>
          </a:xfrm>
          <a:prstGeom prst="rect">
            <a:avLst/>
          </a:prstGeom>
          <a:noFill/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56668842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7" r:id="rId2"/>
    <p:sldLayoutId id="2147483669" r:id="rId3"/>
    <p:sldLayoutId id="2147483668" r:id="rId4"/>
  </p:sldLayoutIdLst>
  <p:hf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sv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hyperlink" Target="https://cwe.mitre.org/data/definitions/416.html" TargetMode="External"/><Relationship Id="rId3" Type="http://schemas.openxmlformats.org/officeDocument/2006/relationships/image" Target="../media/image6.svg"/><Relationship Id="rId7" Type="http://schemas.openxmlformats.org/officeDocument/2006/relationships/hyperlink" Target="https://cwe.mitre.org/top25/archive/2025/2025_kev_list.html" TargetMode="Externa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9.svg"/><Relationship Id="rId5" Type="http://schemas.openxmlformats.org/officeDocument/2006/relationships/image" Target="../media/image8.svg"/><Relationship Id="rId4" Type="http://schemas.openxmlformats.org/officeDocument/2006/relationships/image" Target="../media/image7.svg"/><Relationship Id="rId9" Type="http://schemas.openxmlformats.org/officeDocument/2006/relationships/hyperlink" Target="https://cwe.mitre.org/data/definitions/787.html" TargetMode="Externa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4.xml"/><Relationship Id="rId4" Type="http://schemas.openxmlformats.org/officeDocument/2006/relationships/hyperlink" Target="https://cwe.mitre.org/top25/archive/2025/2025_kev_insights.html#2025_kev_pie" TargetMode="Externa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hyperlink" Target="https://ieeexplore.ieee.org/document/6547101" TargetMode="External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sv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2.sv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sv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2.sv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sv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2.sv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sv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2.sv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sv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2.sv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sv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6.sv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sv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7.svg"/><Relationship Id="rId4" Type="http://schemas.openxmlformats.org/officeDocument/2006/relationships/image" Target="../media/image17.sv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sv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sv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sv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sv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7.sv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sv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21.svg"/><Relationship Id="rId4" Type="http://schemas.openxmlformats.org/officeDocument/2006/relationships/image" Target="../media/image20.sv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3.png"/><Relationship Id="rId5" Type="http://schemas.openxmlformats.org/officeDocument/2006/relationships/image" Target="../media/image24.png"/><Relationship Id="rId4" Type="http://schemas.openxmlformats.org/officeDocument/2006/relationships/image" Target="../media/image23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hyperlink" Target="https://survey.stackoverflow.co/2025/technology/#2-programming-scripting-and-markup-languages" TargetMode="External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4.xml"/></Relationships>
</file>

<file path=ppt/slides/_rels/slide20.xml.rels><?xml version="1.0" encoding="UTF-8" standalone="yes"?>
<Relationships xmlns="http://schemas.openxmlformats.org/package/2006/relationships"><Relationship Id="rId8" Type="http://schemas.openxmlformats.org/officeDocument/2006/relationships/image" Target="../media/image30.svg"/><Relationship Id="rId3" Type="http://schemas.openxmlformats.org/officeDocument/2006/relationships/image" Target="../media/image25.svg"/><Relationship Id="rId7" Type="http://schemas.openxmlformats.org/officeDocument/2006/relationships/image" Target="../media/image29.sv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28.svg"/><Relationship Id="rId5" Type="http://schemas.openxmlformats.org/officeDocument/2006/relationships/image" Target="../media/image27.svg"/><Relationship Id="rId4" Type="http://schemas.openxmlformats.org/officeDocument/2006/relationships/image" Target="../media/image26.svg"/><Relationship Id="rId9" Type="http://schemas.openxmlformats.org/officeDocument/2006/relationships/hyperlink" Target="https://doc.rust-lang.org/book/ch04-01-what-is-ownership.html" TargetMode="Externa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sv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28.svg"/><Relationship Id="rId4" Type="http://schemas.openxmlformats.org/officeDocument/2006/relationships/image" Target="../media/image31.sv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hyperlink" Target="https://doc.rust-lang.org/book/ch04-01-what-is-ownership.html" TargetMode="External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4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hyperlink" Target="https://doc.rust-lang.org/book/ch04-01-what-is-ownership.html" TargetMode="External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4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sv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3.xml"/><Relationship Id="rId4" Type="http://schemas.openxmlformats.org/officeDocument/2006/relationships/hyperlink" Target="https://doc.rust-lang.org/book/ch04-02-references-and-borrowing.html" TargetMode="Externa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sv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3.xml"/><Relationship Id="rId4" Type="http://schemas.openxmlformats.org/officeDocument/2006/relationships/hyperlink" Target="https://doc.rust-lang.org/book/ch10-03-lifetime-syntax.html" TargetMode="Externa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svg"/><Relationship Id="rId7" Type="http://schemas.openxmlformats.org/officeDocument/2006/relationships/image" Target="../media/image38.sv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37.svg"/><Relationship Id="rId5" Type="http://schemas.openxmlformats.org/officeDocument/2006/relationships/image" Target="../media/image36.svg"/><Relationship Id="rId4" Type="http://schemas.openxmlformats.org/officeDocument/2006/relationships/image" Target="../media/image35.sv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sv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3.xml"/><Relationship Id="rId6" Type="http://schemas.openxmlformats.org/officeDocument/2006/relationships/hyperlink" Target="https://doc.rust-lang.org/book/img/ferris/does_not_compile.svg" TargetMode="External"/><Relationship Id="rId5" Type="http://schemas.openxmlformats.org/officeDocument/2006/relationships/image" Target="../media/image40.svg"/><Relationship Id="rId4" Type="http://schemas.openxmlformats.org/officeDocument/2006/relationships/image" Target="../media/image39.sv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sv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42.svg"/><Relationship Id="rId5" Type="http://schemas.openxmlformats.org/officeDocument/2006/relationships/hyperlink" Target="https://doc.rust-lang.org/book/img/ferris/does_not_compile.svg" TargetMode="External"/><Relationship Id="rId4" Type="http://schemas.openxmlformats.org/officeDocument/2006/relationships/image" Target="../media/image40.sv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hyperlink" Target="https://doc.rust-lang.org/reference/panic.html" TargetMode="External"/><Relationship Id="rId7" Type="http://schemas.openxmlformats.org/officeDocument/2006/relationships/image" Target="../media/image45.sv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44.svg"/><Relationship Id="rId5" Type="http://schemas.openxmlformats.org/officeDocument/2006/relationships/image" Target="../media/image43.svg"/><Relationship Id="rId4" Type="http://schemas.openxmlformats.org/officeDocument/2006/relationships/hyperlink" Target="https://doc.rust-lang.org/book/img/ferris/panics.svg" TargetMode="Externa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hyperlink" Target="https://doc.rust-lang.org/reference/unsafety.html" TargetMode="External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46.png"/><Relationship Id="rId5" Type="http://schemas.openxmlformats.org/officeDocument/2006/relationships/hyperlink" Target="https://security.googleblog.com/2024/09/eliminating-memory-safety-vulnerabilities-Android.html" TargetMode="External"/><Relationship Id="rId4" Type="http://schemas.openxmlformats.org/officeDocument/2006/relationships/hyperlink" Target="https://plv.mpi-sws.org/rustbelt/popl18/paper.pdf" TargetMode="External"/></Relationships>
</file>

<file path=ppt/slides/_rels/slide31.xml.rels><?xml version="1.0" encoding="UTF-8" standalone="yes"?>
<Relationships xmlns="http://schemas.openxmlformats.org/package/2006/relationships"><Relationship Id="rId8" Type="http://schemas.openxmlformats.org/officeDocument/2006/relationships/hyperlink" Target="https://doc.rust-lang.org/book/ch04-01-what-is-ownership.html" TargetMode="External"/><Relationship Id="rId13" Type="http://schemas.openxmlformats.org/officeDocument/2006/relationships/hyperlink" Target="https://doc.rust-lang.org/book/img/ferris/panics.svg" TargetMode="External"/><Relationship Id="rId3" Type="http://schemas.openxmlformats.org/officeDocument/2006/relationships/hyperlink" Target="https://cwe.mitre.org/data/definitions/416.html" TargetMode="External"/><Relationship Id="rId7" Type="http://schemas.openxmlformats.org/officeDocument/2006/relationships/hyperlink" Target="https://survey.stackoverflow.co/2025/technology/#2-programming-scripting-and-markup-languages" TargetMode="External"/><Relationship Id="rId12" Type="http://schemas.openxmlformats.org/officeDocument/2006/relationships/hyperlink" Target="https://doc.rust-lang.org/reference/panic.html" TargetMode="External"/><Relationship Id="rId2" Type="http://schemas.openxmlformats.org/officeDocument/2006/relationships/hyperlink" Target="https://cwe.mitre.org/top25/archive/2025/2025_kev_list.html" TargetMode="External"/><Relationship Id="rId16" Type="http://schemas.openxmlformats.org/officeDocument/2006/relationships/hyperlink" Target="https://security.googleblog.com/2024/09/eliminating-memory-safety-vulnerabilities-Android.html" TargetMode="External"/><Relationship Id="rId1" Type="http://schemas.openxmlformats.org/officeDocument/2006/relationships/slideLayout" Target="../slideLayouts/slideLayout4.xml"/><Relationship Id="rId6" Type="http://schemas.openxmlformats.org/officeDocument/2006/relationships/hyperlink" Target="https://ieeexplore.ieee.org/document/6547101" TargetMode="External"/><Relationship Id="rId11" Type="http://schemas.openxmlformats.org/officeDocument/2006/relationships/hyperlink" Target="https://doc.rust-lang.org/book/img/ferris/does_not_compile.svg" TargetMode="External"/><Relationship Id="rId5" Type="http://schemas.openxmlformats.org/officeDocument/2006/relationships/hyperlink" Target="https://cwe.mitre.org/top25/archive/2025/2025_kev_insights.html#2025_kev_pie" TargetMode="External"/><Relationship Id="rId15" Type="http://schemas.openxmlformats.org/officeDocument/2006/relationships/hyperlink" Target="https://plv.mpi-sws.org/rustbelt/popl18/paper.pdf" TargetMode="External"/><Relationship Id="rId10" Type="http://schemas.openxmlformats.org/officeDocument/2006/relationships/hyperlink" Target="https://doc.rust-lang.org/book/ch10-03-lifetime-syntax.html" TargetMode="External"/><Relationship Id="rId4" Type="http://schemas.openxmlformats.org/officeDocument/2006/relationships/hyperlink" Target="http://cwe.mitre.org/data/definitions/787.html" TargetMode="External"/><Relationship Id="rId9" Type="http://schemas.openxmlformats.org/officeDocument/2006/relationships/hyperlink" Target="https://doc.rust-lang.org/book/ch04-02-references-and-borrowing.html" TargetMode="External"/><Relationship Id="rId14" Type="http://schemas.openxmlformats.org/officeDocument/2006/relationships/hyperlink" Target="https://doc.rust-lang.org/reference/unsafety.html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2B64D2B-662A-8FE4-ADE4-371BE33CEA4B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Rust’s Approach to Memory Safety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87A69D3C-8297-064E-F77A-A04A3AF9A379}"/>
              </a:ext>
            </a:extLst>
          </p:cNvPr>
          <p:cNvSpPr>
            <a:spLocks noGrp="1"/>
          </p:cNvSpPr>
          <p:nvPr>
            <p:ph type="subTitle" idx="4294967295"/>
          </p:nvPr>
        </p:nvSpPr>
        <p:spPr>
          <a:xfrm>
            <a:off x="1524000" y="3602038"/>
            <a:ext cx="9144000" cy="1655762"/>
          </a:xfrm>
        </p:spPr>
        <p:txBody>
          <a:bodyPr/>
          <a:lstStyle/>
          <a:p>
            <a:pPr marL="0" indent="0" algn="ctr">
              <a:buNone/>
            </a:pPr>
            <a:r>
              <a:rPr lang="en-US" dirty="0"/>
              <a:t>Seminar Work – David Grandel</a:t>
            </a:r>
          </a:p>
        </p:txBody>
      </p:sp>
    </p:spTree>
    <p:extLst>
      <p:ext uri="{BB962C8B-B14F-4D97-AF65-F5344CB8AC3E}">
        <p14:creationId xmlns:p14="http://schemas.microsoft.com/office/powerpoint/2010/main" val="1455647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ußzeilenplatzhalter 1">
            <a:extLst>
              <a:ext uri="{FF2B5EF4-FFF2-40B4-BE49-F238E27FC236}">
                <a16:creationId xmlns:a16="http://schemas.microsoft.com/office/drawing/2014/main" id="{7B3CB9EA-F996-E2ED-DF78-2CF4ED4D788A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>
                <a:solidFill>
                  <a:srgbClr val="64378C"/>
                </a:solidFill>
              </a:rPr>
              <a:t>Rust's Approach to Memory Safety</a:t>
            </a:r>
            <a:endParaRPr lang="en-US" dirty="0">
              <a:solidFill>
                <a:srgbClr val="64378C"/>
              </a:solidFill>
            </a:endParaRPr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200C8161-1297-1AFA-9579-243C5FA21FCB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 algn="ctr"/>
            <a:fld id="{5F85D455-7770-4F98-B944-71C158B4E906}" type="slidenum">
              <a:rPr lang="en-US" smtClean="0"/>
              <a:pPr algn="ctr"/>
              <a:t>2</a:t>
            </a:fld>
            <a:endParaRPr lang="en-US" dirty="0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B271F907-41FA-FC3A-D1CE-9254D781DF3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dirty="0"/>
              <a:t>Introduction</a:t>
            </a:r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30DA472F-57F1-7F7D-50AD-9BAFAEB93F6F}"/>
              </a:ext>
            </a:extLst>
          </p:cNvPr>
          <p:cNvSpPr txBox="1"/>
          <p:nvPr/>
        </p:nvSpPr>
        <p:spPr>
          <a:xfrm>
            <a:off x="1959908" y="1651115"/>
            <a:ext cx="8272183" cy="212365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400" dirty="0"/>
              <a:t>What do you think are some of the most common weaknesses in modern software systems?</a:t>
            </a:r>
          </a:p>
        </p:txBody>
      </p:sp>
      <p:pic>
        <p:nvPicPr>
          <p:cNvPr id="15" name="Grafik 14" descr="Fragezeichen mit einfarbiger Füllung">
            <a:extLst>
              <a:ext uri="{FF2B5EF4-FFF2-40B4-BE49-F238E27FC236}">
                <a16:creationId xmlns:a16="http://schemas.microsoft.com/office/drawing/2014/main" id="{2ACE9744-BD22-D6FA-9A8E-66694F1A503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096000" y="3989926"/>
            <a:ext cx="1432112" cy="1432112"/>
          </a:xfrm>
          <a:prstGeom prst="rect">
            <a:avLst/>
          </a:prstGeom>
        </p:spPr>
      </p:pic>
      <p:pic>
        <p:nvPicPr>
          <p:cNvPr id="17" name="Grafik 16" descr="Insekt unter Lupe mit einfarbiger Füllung">
            <a:extLst>
              <a:ext uri="{FF2B5EF4-FFF2-40B4-BE49-F238E27FC236}">
                <a16:creationId xmlns:a16="http://schemas.microsoft.com/office/drawing/2014/main" id="{ECC50D34-F660-A1FB-00B0-EF1AD0E8FF4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663888" y="3989926"/>
            <a:ext cx="1432112" cy="14321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0641365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ußzeilenplatzhalter 1">
            <a:extLst>
              <a:ext uri="{FF2B5EF4-FFF2-40B4-BE49-F238E27FC236}">
                <a16:creationId xmlns:a16="http://schemas.microsoft.com/office/drawing/2014/main" id="{6B567993-1DCB-AB28-27A3-31663BDC6FD1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>
                <a:solidFill>
                  <a:srgbClr val="64378C"/>
                </a:solidFill>
              </a:rPr>
              <a:t>Rust's Approach to Memory Safety</a:t>
            </a:r>
            <a:endParaRPr lang="en-US" dirty="0">
              <a:solidFill>
                <a:srgbClr val="64378C"/>
              </a:solidFill>
            </a:endParaRPr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40449288-B71A-537D-7C41-519CFE7F336E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 algn="ctr"/>
            <a:fld id="{5F85D455-7770-4F98-B944-71C158B4E906}" type="slidenum">
              <a:rPr lang="en-US" smtClean="0"/>
              <a:pPr algn="ctr"/>
              <a:t>3</a:t>
            </a:fld>
            <a:endParaRPr lang="en-US" dirty="0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B5D84AD9-83F3-9E36-CFAF-4EB22AF5CD03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dirty="0"/>
              <a:t>Introduction</a:t>
            </a:r>
          </a:p>
        </p:txBody>
      </p:sp>
      <p:sp>
        <p:nvSpPr>
          <p:cNvPr id="5" name="Inhaltsplatzhalter 4">
            <a:extLst>
              <a:ext uri="{FF2B5EF4-FFF2-40B4-BE49-F238E27FC236}">
                <a16:creationId xmlns:a16="http://schemas.microsoft.com/office/drawing/2014/main" id="{5B990252-85E2-C376-C898-F9E4F92E7C1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1203513" y="941294"/>
            <a:ext cx="9856694" cy="524436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The following two errors are among the 10 most common:</a:t>
            </a:r>
            <a:r>
              <a:rPr lang="en-US" sz="1200" baseline="-25000" dirty="0"/>
              <a:t>[1]</a:t>
            </a:r>
            <a:endParaRPr lang="en-US" baseline="-25000" dirty="0"/>
          </a:p>
        </p:txBody>
      </p:sp>
      <p:sp>
        <p:nvSpPr>
          <p:cNvPr id="22" name="Textfeld 21">
            <a:extLst>
              <a:ext uri="{FF2B5EF4-FFF2-40B4-BE49-F238E27FC236}">
                <a16:creationId xmlns:a16="http://schemas.microsoft.com/office/drawing/2014/main" id="{D481B7BC-27CF-2608-A157-AB224B25E885}"/>
              </a:ext>
            </a:extLst>
          </p:cNvPr>
          <p:cNvSpPr txBox="1"/>
          <p:nvPr/>
        </p:nvSpPr>
        <p:spPr>
          <a:xfrm>
            <a:off x="1457513" y="1723196"/>
            <a:ext cx="3919816" cy="364355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noAutofit/>
          </a:bodyPr>
          <a:lstStyle/>
          <a:p>
            <a:pPr algn="ctr"/>
            <a:r>
              <a:rPr lang="en-US" b="1" dirty="0"/>
              <a:t>Use After Free</a:t>
            </a:r>
          </a:p>
        </p:txBody>
      </p:sp>
      <p:pic>
        <p:nvPicPr>
          <p:cNvPr id="50" name="Grafik 49" descr="Trophäe mit einfarbiger Füllung">
            <a:extLst>
              <a:ext uri="{FF2B5EF4-FFF2-40B4-BE49-F238E27FC236}">
                <a16:creationId xmlns:a16="http://schemas.microsoft.com/office/drawing/2014/main" id="{841EA221-080D-7E6F-A66D-FFBAA0AA061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533104" y="1541967"/>
            <a:ext cx="705627" cy="705627"/>
          </a:xfrm>
          <a:prstGeom prst="rect">
            <a:avLst/>
          </a:prstGeom>
        </p:spPr>
      </p:pic>
      <p:sp>
        <p:nvSpPr>
          <p:cNvPr id="51" name="Textfeld 50">
            <a:extLst>
              <a:ext uri="{FF2B5EF4-FFF2-40B4-BE49-F238E27FC236}">
                <a16:creationId xmlns:a16="http://schemas.microsoft.com/office/drawing/2014/main" id="{DD2F39DA-5598-EB76-6AC1-4E66B8848EB1}"/>
              </a:ext>
            </a:extLst>
          </p:cNvPr>
          <p:cNvSpPr txBox="1"/>
          <p:nvPr/>
        </p:nvSpPr>
        <p:spPr>
          <a:xfrm>
            <a:off x="1776957" y="1613999"/>
            <a:ext cx="21792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600" dirty="0">
                <a:solidFill>
                  <a:schemeClr val="bg1"/>
                </a:solidFill>
              </a:rPr>
              <a:t>2</a:t>
            </a:r>
            <a:endParaRPr lang="en-US" sz="1600" dirty="0">
              <a:solidFill>
                <a:schemeClr val="bg1"/>
              </a:solidFill>
            </a:endParaRPr>
          </a:p>
        </p:txBody>
      </p:sp>
      <p:sp>
        <p:nvSpPr>
          <p:cNvPr id="52" name="Rechteck: abgerundete Ecken 51">
            <a:extLst>
              <a:ext uri="{FF2B5EF4-FFF2-40B4-BE49-F238E27FC236}">
                <a16:creationId xmlns:a16="http://schemas.microsoft.com/office/drawing/2014/main" id="{83341C1B-EDAA-941B-6575-416920D9D477}"/>
              </a:ext>
            </a:extLst>
          </p:cNvPr>
          <p:cNvSpPr/>
          <p:nvPr/>
        </p:nvSpPr>
        <p:spPr>
          <a:xfrm>
            <a:off x="1968500" y="2514818"/>
            <a:ext cx="2897842" cy="914400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3" name="Rechteck: abgerundete Ecken 52">
            <a:extLst>
              <a:ext uri="{FF2B5EF4-FFF2-40B4-BE49-F238E27FC236}">
                <a16:creationId xmlns:a16="http://schemas.microsoft.com/office/drawing/2014/main" id="{03387FE7-576F-0B25-E181-6387F4A70926}"/>
              </a:ext>
            </a:extLst>
          </p:cNvPr>
          <p:cNvSpPr/>
          <p:nvPr/>
        </p:nvSpPr>
        <p:spPr>
          <a:xfrm>
            <a:off x="2238732" y="2514818"/>
            <a:ext cx="1598908" cy="916460"/>
          </a:xfrm>
          <a:custGeom>
            <a:avLst/>
            <a:gdLst>
              <a:gd name="csX0" fmla="*/ 0 w 1598908"/>
              <a:gd name="csY0" fmla="*/ 152403 h 914400"/>
              <a:gd name="csX1" fmla="*/ 152403 w 1598908"/>
              <a:gd name="csY1" fmla="*/ 0 h 914400"/>
              <a:gd name="csX2" fmla="*/ 1446505 w 1598908"/>
              <a:gd name="csY2" fmla="*/ 0 h 914400"/>
              <a:gd name="csX3" fmla="*/ 1598908 w 1598908"/>
              <a:gd name="csY3" fmla="*/ 152403 h 914400"/>
              <a:gd name="csX4" fmla="*/ 1598908 w 1598908"/>
              <a:gd name="csY4" fmla="*/ 761997 h 914400"/>
              <a:gd name="csX5" fmla="*/ 1446505 w 1598908"/>
              <a:gd name="csY5" fmla="*/ 914400 h 914400"/>
              <a:gd name="csX6" fmla="*/ 152403 w 1598908"/>
              <a:gd name="csY6" fmla="*/ 914400 h 914400"/>
              <a:gd name="csX7" fmla="*/ 0 w 1598908"/>
              <a:gd name="csY7" fmla="*/ 761997 h 914400"/>
              <a:gd name="csX8" fmla="*/ 0 w 1598908"/>
              <a:gd name="csY8" fmla="*/ 152403 h 914400"/>
              <a:gd name="csX0" fmla="*/ 0 w 1598908"/>
              <a:gd name="csY0" fmla="*/ 152403 h 916460"/>
              <a:gd name="csX1" fmla="*/ 152403 w 1598908"/>
              <a:gd name="csY1" fmla="*/ 0 h 916460"/>
              <a:gd name="csX2" fmla="*/ 1446505 w 1598908"/>
              <a:gd name="csY2" fmla="*/ 0 h 916460"/>
              <a:gd name="csX3" fmla="*/ 1598908 w 1598908"/>
              <a:gd name="csY3" fmla="*/ 152403 h 916460"/>
              <a:gd name="csX4" fmla="*/ 1598908 w 1598908"/>
              <a:gd name="csY4" fmla="*/ 761997 h 916460"/>
              <a:gd name="csX5" fmla="*/ 1446505 w 1598908"/>
              <a:gd name="csY5" fmla="*/ 914400 h 916460"/>
              <a:gd name="csX6" fmla="*/ 1471160 w 1598908"/>
              <a:gd name="csY6" fmla="*/ 916460 h 916460"/>
              <a:gd name="csX7" fmla="*/ 152403 w 1598908"/>
              <a:gd name="csY7" fmla="*/ 914400 h 916460"/>
              <a:gd name="csX8" fmla="*/ 0 w 1598908"/>
              <a:gd name="csY8" fmla="*/ 761997 h 916460"/>
              <a:gd name="csX9" fmla="*/ 0 w 1598908"/>
              <a:gd name="csY9" fmla="*/ 152403 h 916460"/>
              <a:gd name="csX0" fmla="*/ 0 w 1598908"/>
              <a:gd name="csY0" fmla="*/ 152403 h 916460"/>
              <a:gd name="csX1" fmla="*/ 152403 w 1598908"/>
              <a:gd name="csY1" fmla="*/ 0 h 916460"/>
              <a:gd name="csX2" fmla="*/ 1446505 w 1598908"/>
              <a:gd name="csY2" fmla="*/ 0 h 916460"/>
              <a:gd name="csX3" fmla="*/ 1598908 w 1598908"/>
              <a:gd name="csY3" fmla="*/ 152403 h 916460"/>
              <a:gd name="csX4" fmla="*/ 1598908 w 1598908"/>
              <a:gd name="csY4" fmla="*/ 761997 h 916460"/>
              <a:gd name="csX5" fmla="*/ 1446505 w 1598908"/>
              <a:gd name="csY5" fmla="*/ 914400 h 916460"/>
              <a:gd name="csX6" fmla="*/ 792083 w 1598908"/>
              <a:gd name="csY6" fmla="*/ 916460 h 916460"/>
              <a:gd name="csX7" fmla="*/ 152403 w 1598908"/>
              <a:gd name="csY7" fmla="*/ 914400 h 916460"/>
              <a:gd name="csX8" fmla="*/ 0 w 1598908"/>
              <a:gd name="csY8" fmla="*/ 761997 h 916460"/>
              <a:gd name="csX9" fmla="*/ 0 w 1598908"/>
              <a:gd name="csY9" fmla="*/ 152403 h 91646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</a:cxnLst>
            <a:rect l="l" t="t" r="r" b="b"/>
            <a:pathLst>
              <a:path w="1598908" h="916460">
                <a:moveTo>
                  <a:pt x="0" y="152403"/>
                </a:moveTo>
                <a:cubicBezTo>
                  <a:pt x="0" y="68233"/>
                  <a:pt x="68233" y="0"/>
                  <a:pt x="152403" y="0"/>
                </a:cubicBezTo>
                <a:lnTo>
                  <a:pt x="1446505" y="0"/>
                </a:lnTo>
                <a:cubicBezTo>
                  <a:pt x="1530675" y="0"/>
                  <a:pt x="1598908" y="68233"/>
                  <a:pt x="1598908" y="152403"/>
                </a:cubicBezTo>
                <a:lnTo>
                  <a:pt x="1598908" y="761997"/>
                </a:lnTo>
                <a:cubicBezTo>
                  <a:pt x="1598908" y="846167"/>
                  <a:pt x="1530675" y="914400"/>
                  <a:pt x="1446505" y="914400"/>
                </a:cubicBezTo>
                <a:lnTo>
                  <a:pt x="792083" y="916460"/>
                </a:lnTo>
                <a:lnTo>
                  <a:pt x="152403" y="914400"/>
                </a:lnTo>
                <a:cubicBezTo>
                  <a:pt x="68233" y="914400"/>
                  <a:pt x="0" y="846167"/>
                  <a:pt x="0" y="761997"/>
                </a:cubicBezTo>
                <a:lnTo>
                  <a:pt x="0" y="152403"/>
                </a:lnTo>
                <a:close/>
              </a:path>
            </a:pathLst>
          </a:custGeom>
          <a:solidFill>
            <a:srgbClr val="64378C">
              <a:alpha val="80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Memory Unit</a:t>
            </a:r>
          </a:p>
        </p:txBody>
      </p:sp>
      <p:graphicFrame>
        <p:nvGraphicFramePr>
          <p:cNvPr id="54" name="Tabelle 53">
            <a:extLst>
              <a:ext uri="{FF2B5EF4-FFF2-40B4-BE49-F238E27FC236}">
                <a16:creationId xmlns:a16="http://schemas.microsoft.com/office/drawing/2014/main" id="{C376C27B-1494-28C3-1128-D193F5BEDCE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58724234"/>
              </p:ext>
            </p:extLst>
          </p:nvPr>
        </p:nvGraphicFramePr>
        <p:xfrm>
          <a:off x="1457513" y="4576243"/>
          <a:ext cx="3919816" cy="1198037"/>
        </p:xfrm>
        <a:graphic>
          <a:graphicData uri="http://schemas.openxmlformats.org/drawingml/2006/table">
            <a:tbl>
              <a:tblPr/>
              <a:tblGrid>
                <a:gridCol w="3919816">
                  <a:extLst>
                    <a:ext uri="{9D8B030D-6E8A-4147-A177-3AD203B41FA5}">
                      <a16:colId xmlns:a16="http://schemas.microsoft.com/office/drawing/2014/main" val="3050072985"/>
                    </a:ext>
                  </a:extLst>
                </a:gridCol>
              </a:tblGrid>
              <a:tr h="1198037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dirty="0">
                          <a:effectLst/>
                          <a:latin typeface="Verdana" panose="020B0604030504040204" pitchFamily="34" charset="0"/>
                        </a:rPr>
                        <a:t>“</a:t>
                      </a:r>
                      <a:r>
                        <a:rPr lang="en-US" i="1" dirty="0">
                          <a:effectLst/>
                          <a:latin typeface="Verdana" panose="020B0604030504040204" pitchFamily="34" charset="0"/>
                        </a:rPr>
                        <a:t>The product reuses or references memory after it has been freed.</a:t>
                      </a:r>
                      <a:r>
                        <a:rPr lang="en-US" i="0" dirty="0">
                          <a:effectLst/>
                          <a:latin typeface="Verdana" panose="020B0604030504040204" pitchFamily="34" charset="0"/>
                        </a:rPr>
                        <a:t>”</a:t>
                      </a:r>
                      <a:r>
                        <a:rPr lang="en-US" sz="1200" i="0" baseline="-25000" dirty="0">
                          <a:effectLst/>
                          <a:latin typeface="Verdana" panose="020B0604030504040204" pitchFamily="34" charset="0"/>
                        </a:rPr>
                        <a:t>[2]</a:t>
                      </a:r>
                      <a:endParaRPr lang="en-US" sz="1800" i="1" baseline="-25000" dirty="0">
                        <a:effectLst/>
                        <a:latin typeface="Verdana" panose="020B0604030504040204" pitchFamily="34" charset="0"/>
                      </a:endParaRP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6503797"/>
                  </a:ext>
                </a:extLst>
              </a:tr>
            </a:tbl>
          </a:graphicData>
        </a:graphic>
      </p:graphicFrame>
      <p:sp>
        <p:nvSpPr>
          <p:cNvPr id="55" name="Textfeld 54">
            <a:extLst>
              <a:ext uri="{FF2B5EF4-FFF2-40B4-BE49-F238E27FC236}">
                <a16:creationId xmlns:a16="http://schemas.microsoft.com/office/drawing/2014/main" id="{F16D9397-2058-CD09-E096-E8435C0D1A67}"/>
              </a:ext>
            </a:extLst>
          </p:cNvPr>
          <p:cNvSpPr txBox="1"/>
          <p:nvPr/>
        </p:nvSpPr>
        <p:spPr>
          <a:xfrm>
            <a:off x="3880283" y="3812112"/>
            <a:ext cx="91882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Access</a:t>
            </a:r>
          </a:p>
        </p:txBody>
      </p:sp>
      <p:sp>
        <p:nvSpPr>
          <p:cNvPr id="66" name="Textfeld 65">
            <a:extLst>
              <a:ext uri="{FF2B5EF4-FFF2-40B4-BE49-F238E27FC236}">
                <a16:creationId xmlns:a16="http://schemas.microsoft.com/office/drawing/2014/main" id="{3D986746-804E-4A2B-7360-9753F879B1FC}"/>
              </a:ext>
            </a:extLst>
          </p:cNvPr>
          <p:cNvSpPr txBox="1"/>
          <p:nvPr/>
        </p:nvSpPr>
        <p:spPr>
          <a:xfrm>
            <a:off x="1645769" y="3812112"/>
            <a:ext cx="65547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Free</a:t>
            </a:r>
          </a:p>
        </p:txBody>
      </p:sp>
      <p:cxnSp>
        <p:nvCxnSpPr>
          <p:cNvPr id="67" name="Verbinder: gekrümmt 66">
            <a:extLst>
              <a:ext uri="{FF2B5EF4-FFF2-40B4-BE49-F238E27FC236}">
                <a16:creationId xmlns:a16="http://schemas.microsoft.com/office/drawing/2014/main" id="{2759E5D1-9066-6FD1-50E4-008EF6D924F9}"/>
              </a:ext>
            </a:extLst>
          </p:cNvPr>
          <p:cNvCxnSpPr>
            <a:cxnSpLocks/>
            <a:stCxn id="66" idx="3"/>
          </p:cNvCxnSpPr>
          <p:nvPr/>
        </p:nvCxnSpPr>
        <p:spPr>
          <a:xfrm flipV="1">
            <a:off x="2301241" y="3429219"/>
            <a:ext cx="406844" cy="567559"/>
          </a:xfrm>
          <a:prstGeom prst="curvedConnector2">
            <a:avLst/>
          </a:prstGeom>
          <a:ln cap="sq">
            <a:solidFill>
              <a:schemeClr val="tx1"/>
            </a:solidFill>
            <a:round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" name="Verbinder: gekrümmt 74">
            <a:extLst>
              <a:ext uri="{FF2B5EF4-FFF2-40B4-BE49-F238E27FC236}">
                <a16:creationId xmlns:a16="http://schemas.microsoft.com/office/drawing/2014/main" id="{02A7BF6B-7717-6B22-7712-C2B113B60D7E}"/>
              </a:ext>
            </a:extLst>
          </p:cNvPr>
          <p:cNvCxnSpPr>
            <a:cxnSpLocks/>
            <a:stCxn id="55" idx="1"/>
          </p:cNvCxnSpPr>
          <p:nvPr/>
        </p:nvCxnSpPr>
        <p:spPr>
          <a:xfrm rot="10800000">
            <a:off x="3407639" y="3428190"/>
            <a:ext cx="472644" cy="568588"/>
          </a:xfrm>
          <a:prstGeom prst="curvedConnector2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80" name="Grafik 79" descr="Blitz Silhouette">
            <a:extLst>
              <a:ext uri="{FF2B5EF4-FFF2-40B4-BE49-F238E27FC236}">
                <a16:creationId xmlns:a16="http://schemas.microsoft.com/office/drawing/2014/main" id="{3DA05346-CC6F-A9C3-357A-EFB8C8B9D5E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571125" y="3506784"/>
            <a:ext cx="365125" cy="365125"/>
          </a:xfrm>
          <a:prstGeom prst="rect">
            <a:avLst/>
          </a:prstGeom>
          <a:effectLst>
            <a:outerShdw blurRad="50800" dist="50800" dir="5400000" algn="ctr" rotWithShape="0">
              <a:srgbClr val="FF0000"/>
            </a:outerShdw>
          </a:effectLst>
        </p:spPr>
      </p:pic>
      <p:pic>
        <p:nvPicPr>
          <p:cNvPr id="82" name="Grafik 81" descr="Marke 1 Silhouette">
            <a:extLst>
              <a:ext uri="{FF2B5EF4-FFF2-40B4-BE49-F238E27FC236}">
                <a16:creationId xmlns:a16="http://schemas.microsoft.com/office/drawing/2014/main" id="{CFF4538D-59CE-6577-8262-7DF08E8AFCF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533104" y="3890148"/>
            <a:ext cx="207706" cy="207706"/>
          </a:xfrm>
          <a:prstGeom prst="rect">
            <a:avLst/>
          </a:prstGeom>
        </p:spPr>
      </p:pic>
      <p:pic>
        <p:nvPicPr>
          <p:cNvPr id="84" name="Grafik 83" descr="Abzeichen Silhouette">
            <a:extLst>
              <a:ext uri="{FF2B5EF4-FFF2-40B4-BE49-F238E27FC236}">
                <a16:creationId xmlns:a16="http://schemas.microsoft.com/office/drawing/2014/main" id="{E4422016-EFEA-B145-F303-E39455A495C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4709002" y="3910235"/>
            <a:ext cx="207706" cy="207706"/>
          </a:xfrm>
          <a:prstGeom prst="rect">
            <a:avLst/>
          </a:prstGeom>
        </p:spPr>
      </p:pic>
      <p:sp>
        <p:nvSpPr>
          <p:cNvPr id="8" name="Textfeld 7">
            <a:extLst>
              <a:ext uri="{FF2B5EF4-FFF2-40B4-BE49-F238E27FC236}">
                <a16:creationId xmlns:a16="http://schemas.microsoft.com/office/drawing/2014/main" id="{2FA757B5-AF5C-368D-3DE9-62C0D5D1E39F}"/>
              </a:ext>
            </a:extLst>
          </p:cNvPr>
          <p:cNvSpPr txBox="1"/>
          <p:nvPr/>
        </p:nvSpPr>
        <p:spPr>
          <a:xfrm>
            <a:off x="6483727" y="1722426"/>
            <a:ext cx="3919816" cy="365125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noAutofit/>
          </a:bodyPr>
          <a:lstStyle/>
          <a:p>
            <a:pPr algn="ctr"/>
            <a:r>
              <a:rPr lang="en-US" b="1" dirty="0"/>
              <a:t>Out-of-bounds Write</a:t>
            </a:r>
          </a:p>
        </p:txBody>
      </p:sp>
      <p:pic>
        <p:nvPicPr>
          <p:cNvPr id="9" name="Grafik 8" descr="Trophäe mit einfarbiger Füllung">
            <a:extLst>
              <a:ext uri="{FF2B5EF4-FFF2-40B4-BE49-F238E27FC236}">
                <a16:creationId xmlns:a16="http://schemas.microsoft.com/office/drawing/2014/main" id="{1AE40962-3352-F6C8-3E94-624BD7C7CFD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554837" y="1541967"/>
            <a:ext cx="705627" cy="705627"/>
          </a:xfrm>
          <a:prstGeom prst="rect">
            <a:avLst/>
          </a:prstGeom>
        </p:spPr>
      </p:pic>
      <p:sp>
        <p:nvSpPr>
          <p:cNvPr id="10" name="Textfeld 9">
            <a:extLst>
              <a:ext uri="{FF2B5EF4-FFF2-40B4-BE49-F238E27FC236}">
                <a16:creationId xmlns:a16="http://schemas.microsoft.com/office/drawing/2014/main" id="{3E163E3F-1A27-C5E5-9B0E-EBA062ADE2D5}"/>
              </a:ext>
            </a:extLst>
          </p:cNvPr>
          <p:cNvSpPr txBox="1"/>
          <p:nvPr/>
        </p:nvSpPr>
        <p:spPr>
          <a:xfrm>
            <a:off x="6798690" y="1613999"/>
            <a:ext cx="21792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600" dirty="0">
                <a:solidFill>
                  <a:schemeClr val="bg1"/>
                </a:solidFill>
              </a:rPr>
              <a:t>3</a:t>
            </a:r>
            <a:endParaRPr lang="en-US" sz="1600" dirty="0">
              <a:solidFill>
                <a:schemeClr val="bg1"/>
              </a:solidFill>
            </a:endParaRPr>
          </a:p>
        </p:txBody>
      </p:sp>
      <p:sp>
        <p:nvSpPr>
          <p:cNvPr id="11" name="Rechteck: abgerundete Ecken 10">
            <a:extLst>
              <a:ext uri="{FF2B5EF4-FFF2-40B4-BE49-F238E27FC236}">
                <a16:creationId xmlns:a16="http://schemas.microsoft.com/office/drawing/2014/main" id="{659793A4-1DB8-A425-25C5-3BE28C45F86A}"/>
              </a:ext>
            </a:extLst>
          </p:cNvPr>
          <p:cNvSpPr/>
          <p:nvPr/>
        </p:nvSpPr>
        <p:spPr>
          <a:xfrm>
            <a:off x="6994713" y="2514818"/>
            <a:ext cx="2897842" cy="914400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hteck: abgerundete Ecken 11">
            <a:extLst>
              <a:ext uri="{FF2B5EF4-FFF2-40B4-BE49-F238E27FC236}">
                <a16:creationId xmlns:a16="http://schemas.microsoft.com/office/drawing/2014/main" id="{5CC290DA-C221-425B-C1A1-E071CB307F49}"/>
              </a:ext>
            </a:extLst>
          </p:cNvPr>
          <p:cNvSpPr/>
          <p:nvPr/>
        </p:nvSpPr>
        <p:spPr>
          <a:xfrm>
            <a:off x="7653620" y="2514818"/>
            <a:ext cx="1580029" cy="914400"/>
          </a:xfrm>
          <a:prstGeom prst="roundRect">
            <a:avLst/>
          </a:prstGeom>
          <a:solidFill>
            <a:srgbClr val="64378C">
              <a:alpha val="80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Buffer</a:t>
            </a:r>
          </a:p>
        </p:txBody>
      </p:sp>
      <p:cxnSp>
        <p:nvCxnSpPr>
          <p:cNvPr id="13" name="Verbinder: gekrümmt 12">
            <a:extLst>
              <a:ext uri="{FF2B5EF4-FFF2-40B4-BE49-F238E27FC236}">
                <a16:creationId xmlns:a16="http://schemas.microsoft.com/office/drawing/2014/main" id="{5D2D87B8-7CCC-2EAE-100C-AB0E43D6EBA0}"/>
              </a:ext>
            </a:extLst>
          </p:cNvPr>
          <p:cNvCxnSpPr>
            <a:cxnSpLocks/>
            <a:stCxn id="15" idx="1"/>
          </p:cNvCxnSpPr>
          <p:nvPr/>
        </p:nvCxnSpPr>
        <p:spPr>
          <a:xfrm rot="10800000">
            <a:off x="7310720" y="2972019"/>
            <a:ext cx="705626" cy="1024761"/>
          </a:xfrm>
          <a:prstGeom prst="curvedConnector2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Verbinder: gekrümmt 13">
            <a:extLst>
              <a:ext uri="{FF2B5EF4-FFF2-40B4-BE49-F238E27FC236}">
                <a16:creationId xmlns:a16="http://schemas.microsoft.com/office/drawing/2014/main" id="{619A7805-E345-019B-152D-031CBEE7B4E3}"/>
              </a:ext>
            </a:extLst>
          </p:cNvPr>
          <p:cNvCxnSpPr>
            <a:cxnSpLocks/>
            <a:stCxn id="15" idx="3"/>
          </p:cNvCxnSpPr>
          <p:nvPr/>
        </p:nvCxnSpPr>
        <p:spPr>
          <a:xfrm flipV="1">
            <a:off x="8870922" y="2972018"/>
            <a:ext cx="752692" cy="1024761"/>
          </a:xfrm>
          <a:prstGeom prst="curvedConnector2">
            <a:avLst/>
          </a:prstGeom>
          <a:ln cap="sq">
            <a:solidFill>
              <a:schemeClr val="tx1"/>
            </a:solidFill>
            <a:round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feld 14">
            <a:extLst>
              <a:ext uri="{FF2B5EF4-FFF2-40B4-BE49-F238E27FC236}">
                <a16:creationId xmlns:a16="http://schemas.microsoft.com/office/drawing/2014/main" id="{75240762-8C36-2191-9ABC-9D0E666015A2}"/>
              </a:ext>
            </a:extLst>
          </p:cNvPr>
          <p:cNvSpPr txBox="1"/>
          <p:nvPr/>
        </p:nvSpPr>
        <p:spPr>
          <a:xfrm>
            <a:off x="8016346" y="3812113"/>
            <a:ext cx="85457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Write</a:t>
            </a:r>
          </a:p>
        </p:txBody>
      </p:sp>
      <p:pic>
        <p:nvPicPr>
          <p:cNvPr id="16" name="Grafik 15" descr="Blitz Silhouette">
            <a:extLst>
              <a:ext uri="{FF2B5EF4-FFF2-40B4-BE49-F238E27FC236}">
                <a16:creationId xmlns:a16="http://schemas.microsoft.com/office/drawing/2014/main" id="{851EA5DF-9FAE-8226-9CF2-B5B4580E118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392959" y="3555938"/>
            <a:ext cx="365125" cy="365125"/>
          </a:xfrm>
          <a:prstGeom prst="rect">
            <a:avLst/>
          </a:prstGeom>
          <a:effectLst>
            <a:outerShdw blurRad="50800" dist="50800" dir="5400000" algn="ctr" rotWithShape="0">
              <a:srgbClr val="FF0000"/>
            </a:outerShdw>
          </a:effectLst>
        </p:spPr>
      </p:pic>
      <p:pic>
        <p:nvPicPr>
          <p:cNvPr id="19" name="Grafik 18" descr="Blitz Silhouette">
            <a:extLst>
              <a:ext uri="{FF2B5EF4-FFF2-40B4-BE49-F238E27FC236}">
                <a16:creationId xmlns:a16="http://schemas.microsoft.com/office/drawing/2014/main" id="{46A75C5B-8612-9B89-D3FA-27A5C996397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176249" y="3551930"/>
            <a:ext cx="365125" cy="365125"/>
          </a:xfrm>
          <a:prstGeom prst="rect">
            <a:avLst/>
          </a:prstGeom>
          <a:effectLst>
            <a:outerShdw blurRad="50800" dist="50800" dir="5400000" algn="ctr" rotWithShape="0">
              <a:srgbClr val="FF0000"/>
            </a:outerShdw>
          </a:effectLst>
        </p:spPr>
      </p:pic>
      <p:graphicFrame>
        <p:nvGraphicFramePr>
          <p:cNvPr id="20" name="Tabelle 19">
            <a:extLst>
              <a:ext uri="{FF2B5EF4-FFF2-40B4-BE49-F238E27FC236}">
                <a16:creationId xmlns:a16="http://schemas.microsoft.com/office/drawing/2014/main" id="{3E36B04F-9F57-C50A-6105-5D2846C453D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12908518"/>
              </p:ext>
            </p:extLst>
          </p:nvPr>
        </p:nvGraphicFramePr>
        <p:xfrm>
          <a:off x="6483726" y="4576243"/>
          <a:ext cx="3919816" cy="1198037"/>
        </p:xfrm>
        <a:graphic>
          <a:graphicData uri="http://schemas.openxmlformats.org/drawingml/2006/table">
            <a:tbl>
              <a:tblPr/>
              <a:tblGrid>
                <a:gridCol w="3919816">
                  <a:extLst>
                    <a:ext uri="{9D8B030D-6E8A-4147-A177-3AD203B41FA5}">
                      <a16:colId xmlns:a16="http://schemas.microsoft.com/office/drawing/2014/main" val="3050072985"/>
                    </a:ext>
                  </a:extLst>
                </a:gridCol>
              </a:tblGrid>
              <a:tr h="1198037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dirty="0">
                          <a:effectLst/>
                          <a:latin typeface="Verdana" panose="020B0604030504040204" pitchFamily="34" charset="0"/>
                        </a:rPr>
                        <a:t>“</a:t>
                      </a:r>
                      <a:r>
                        <a:rPr lang="en-US" i="1" dirty="0">
                          <a:effectLst/>
                          <a:latin typeface="Verdana" panose="020B0604030504040204" pitchFamily="34" charset="0"/>
                        </a:rPr>
                        <a:t>The product writes data past the end, or before the beginning, of the intended buffer.</a:t>
                      </a:r>
                      <a:r>
                        <a:rPr lang="en-US" i="0" dirty="0">
                          <a:effectLst/>
                          <a:latin typeface="Verdana" panose="020B0604030504040204" pitchFamily="34" charset="0"/>
                        </a:rPr>
                        <a:t>”</a:t>
                      </a:r>
                      <a:r>
                        <a:rPr lang="en-US" sz="1200" i="0" baseline="-25000" dirty="0">
                          <a:effectLst/>
                          <a:latin typeface="Verdana" panose="020B0604030504040204" pitchFamily="34" charset="0"/>
                        </a:rPr>
                        <a:t>[3]</a:t>
                      </a:r>
                      <a:endParaRPr lang="en-US" i="1" baseline="-25000" dirty="0">
                        <a:effectLst/>
                        <a:latin typeface="Verdana" panose="020B0604030504040204" pitchFamily="34" charset="0"/>
                      </a:endParaRP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6503797"/>
                  </a:ext>
                </a:extLst>
              </a:tr>
            </a:tbl>
          </a:graphicData>
        </a:graphic>
      </p:graphicFrame>
      <p:sp>
        <p:nvSpPr>
          <p:cNvPr id="25" name="Textfeld 24">
            <a:extLst>
              <a:ext uri="{FF2B5EF4-FFF2-40B4-BE49-F238E27FC236}">
                <a16:creationId xmlns:a16="http://schemas.microsoft.com/office/drawing/2014/main" id="{BDC2007B-C6BF-F967-A89A-BE8AF506A4B2}"/>
              </a:ext>
            </a:extLst>
          </p:cNvPr>
          <p:cNvSpPr txBox="1"/>
          <p:nvPr/>
        </p:nvSpPr>
        <p:spPr>
          <a:xfrm>
            <a:off x="1092200" y="5899150"/>
            <a:ext cx="964228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800" dirty="0"/>
              <a:t>[1] </a:t>
            </a:r>
            <a:r>
              <a:rPr lang="de-DE" sz="800" dirty="0">
                <a:hlinkClick r:id="rId7"/>
              </a:rPr>
              <a:t>https://cwe.mitre.org/top25/archive/2025/2025_kev_list.html</a:t>
            </a:r>
            <a:r>
              <a:rPr lang="de-DE" sz="800" dirty="0"/>
              <a:t> </a:t>
            </a:r>
          </a:p>
          <a:p>
            <a:r>
              <a:rPr lang="de-DE" sz="800" dirty="0"/>
              <a:t>[2] </a:t>
            </a:r>
            <a:r>
              <a:rPr lang="de-DE" sz="800" dirty="0">
                <a:hlinkClick r:id="rId8"/>
              </a:rPr>
              <a:t>https://cwe.mitre.org/data/definitions/416.html</a:t>
            </a:r>
            <a:r>
              <a:rPr lang="de-DE" sz="800" dirty="0"/>
              <a:t> </a:t>
            </a:r>
          </a:p>
          <a:p>
            <a:r>
              <a:rPr lang="de-DE" sz="800" dirty="0"/>
              <a:t>[3] </a:t>
            </a:r>
            <a:r>
              <a:rPr lang="de-DE" sz="800" dirty="0">
                <a:hlinkClick r:id="rId9"/>
              </a:rPr>
              <a:t>https://cwe.mitre.org/data/definitions/787.html</a:t>
            </a:r>
            <a:r>
              <a:rPr lang="de-DE" sz="800" dirty="0"/>
              <a:t> </a:t>
            </a:r>
            <a:endParaRPr lang="en-US" sz="800" dirty="0"/>
          </a:p>
        </p:txBody>
      </p:sp>
    </p:spTree>
    <p:extLst>
      <p:ext uri="{BB962C8B-B14F-4D97-AF65-F5344CB8AC3E}">
        <p14:creationId xmlns:p14="http://schemas.microsoft.com/office/powerpoint/2010/main" val="170592445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ußzeilenplatzhalter 1">
            <a:extLst>
              <a:ext uri="{FF2B5EF4-FFF2-40B4-BE49-F238E27FC236}">
                <a16:creationId xmlns:a16="http://schemas.microsoft.com/office/drawing/2014/main" id="{342B86BA-552B-9F47-9A36-93C7D857A5DA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>
                <a:solidFill>
                  <a:srgbClr val="64378C"/>
                </a:solidFill>
              </a:rPr>
              <a:t>Rust's Approach to Memory Safety</a:t>
            </a:r>
            <a:endParaRPr lang="en-US" dirty="0">
              <a:solidFill>
                <a:srgbClr val="64378C"/>
              </a:solidFill>
            </a:endParaRPr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019CDC85-0E83-A6CD-80F3-C391078473A4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 algn="ctr"/>
            <a:fld id="{5F85D455-7770-4F98-B944-71C158B4E906}" type="slidenum">
              <a:rPr lang="en-US" smtClean="0"/>
              <a:pPr algn="ctr"/>
              <a:t>4</a:t>
            </a:fld>
            <a:endParaRPr lang="en-US" dirty="0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383AB729-E7CA-331A-FDDA-4D04077EA63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dirty="0"/>
              <a:t>Introduction</a:t>
            </a:r>
          </a:p>
        </p:txBody>
      </p:sp>
      <p:sp>
        <p:nvSpPr>
          <p:cNvPr id="5" name="Inhaltsplatzhalter 4">
            <a:extLst>
              <a:ext uri="{FF2B5EF4-FFF2-40B4-BE49-F238E27FC236}">
                <a16:creationId xmlns:a16="http://schemas.microsoft.com/office/drawing/2014/main" id="{195BF6AF-32DB-5E41-BBAE-DCEA0DDE0197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1203513" y="941294"/>
            <a:ext cx="9856694" cy="907678"/>
          </a:xfrm>
        </p:spPr>
        <p:txBody>
          <a:bodyPr/>
          <a:lstStyle/>
          <a:p>
            <a:pPr marL="0" indent="0" algn="ctr">
              <a:buNone/>
            </a:pPr>
            <a:r>
              <a:rPr lang="en-US" dirty="0"/>
              <a:t>The most common vulnerabilities have one thing in common: </a:t>
            </a:r>
            <a:r>
              <a:rPr lang="en-US" b="1" dirty="0"/>
              <a:t>They are all related to Memory Safety issues.</a:t>
            </a:r>
          </a:p>
        </p:txBody>
      </p:sp>
      <p:pic>
        <p:nvPicPr>
          <p:cNvPr id="7" name="Grafik 6" descr="Percent of 2025 CWE Top 10 KEV Weaknesses by CWE Category">
            <a:extLst>
              <a:ext uri="{FF2B5EF4-FFF2-40B4-BE49-F238E27FC236}">
                <a16:creationId xmlns:a16="http://schemas.microsoft.com/office/drawing/2014/main" id="{7F8FBA32-2471-4FF9-1C08-BB15354C910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26787" y="2251291"/>
            <a:ext cx="6938424" cy="3072968"/>
          </a:xfrm>
          <a:prstGeom prst="rect">
            <a:avLst/>
          </a:prstGeom>
        </p:spPr>
      </p:pic>
      <p:sp>
        <p:nvSpPr>
          <p:cNvPr id="8" name="Textfeld 7">
            <a:extLst>
              <a:ext uri="{FF2B5EF4-FFF2-40B4-BE49-F238E27FC236}">
                <a16:creationId xmlns:a16="http://schemas.microsoft.com/office/drawing/2014/main" id="{C5FA8F9B-010D-DB7B-CEB1-0BDE0B858A14}"/>
              </a:ext>
            </a:extLst>
          </p:cNvPr>
          <p:cNvSpPr txBox="1"/>
          <p:nvPr/>
        </p:nvSpPr>
        <p:spPr>
          <a:xfrm>
            <a:off x="9499235" y="5111760"/>
            <a:ext cx="36839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200" dirty="0"/>
              <a:t>[4]</a:t>
            </a:r>
            <a:endParaRPr lang="en-US" sz="1200" dirty="0"/>
          </a:p>
        </p:txBody>
      </p:sp>
      <p:sp>
        <p:nvSpPr>
          <p:cNvPr id="9" name="Textfeld 8">
            <a:extLst>
              <a:ext uri="{FF2B5EF4-FFF2-40B4-BE49-F238E27FC236}">
                <a16:creationId xmlns:a16="http://schemas.microsoft.com/office/drawing/2014/main" id="{F4755242-601B-59F2-93E3-572516D0E314}"/>
              </a:ext>
            </a:extLst>
          </p:cNvPr>
          <p:cNvSpPr txBox="1"/>
          <p:nvPr/>
        </p:nvSpPr>
        <p:spPr>
          <a:xfrm>
            <a:off x="1092200" y="5899150"/>
            <a:ext cx="9642287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800" dirty="0"/>
              <a:t>[4] </a:t>
            </a:r>
            <a:r>
              <a:rPr lang="de-DE" sz="800" dirty="0">
                <a:hlinkClick r:id="rId4"/>
              </a:rPr>
              <a:t>https://cwe.mitre.org/top25/archive/2025/2025_kev_insights.html#2025_kev_pie</a:t>
            </a:r>
            <a:r>
              <a:rPr lang="de-DE" sz="800" dirty="0"/>
              <a:t> </a:t>
            </a:r>
            <a:endParaRPr lang="en-US" sz="800" dirty="0"/>
          </a:p>
        </p:txBody>
      </p:sp>
    </p:spTree>
    <p:extLst>
      <p:ext uri="{BB962C8B-B14F-4D97-AF65-F5344CB8AC3E}">
        <p14:creationId xmlns:p14="http://schemas.microsoft.com/office/powerpoint/2010/main" val="169492243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ußzeilenplatzhalter 1">
            <a:extLst>
              <a:ext uri="{FF2B5EF4-FFF2-40B4-BE49-F238E27FC236}">
                <a16:creationId xmlns:a16="http://schemas.microsoft.com/office/drawing/2014/main" id="{78BC1987-F7B3-7D3B-1692-15F6475B6A94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>
                <a:solidFill>
                  <a:srgbClr val="64378C"/>
                </a:solidFill>
              </a:rPr>
              <a:t>Rust's Approach to Memory Safety</a:t>
            </a:r>
            <a:endParaRPr lang="en-US" dirty="0">
              <a:solidFill>
                <a:srgbClr val="64378C"/>
              </a:solidFill>
            </a:endParaRPr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F8EF1000-EF3F-F84E-7052-E858E5A0ADF1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 algn="ctr"/>
            <a:fld id="{5F85D455-7770-4F98-B944-71C158B4E906}" type="slidenum">
              <a:rPr lang="en-US" smtClean="0"/>
              <a:pPr algn="ctr"/>
              <a:t>5</a:t>
            </a:fld>
            <a:endParaRPr lang="en-US" dirty="0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A9E488F8-05BC-AB06-106B-3BB67E1A7216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dirty="0"/>
              <a:t>Memory Safety</a:t>
            </a:r>
          </a:p>
        </p:txBody>
      </p:sp>
      <p:sp>
        <p:nvSpPr>
          <p:cNvPr id="5" name="Inhaltsplatzhalter 4">
            <a:extLst>
              <a:ext uri="{FF2B5EF4-FFF2-40B4-BE49-F238E27FC236}">
                <a16:creationId xmlns:a16="http://schemas.microsoft.com/office/drawing/2014/main" id="{A1911DE0-88E2-57A4-C35A-7B8938F34A56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1203513" y="941294"/>
            <a:ext cx="9856694" cy="860612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5400" dirty="0"/>
              <a:t>What is Memory Safety?</a:t>
            </a:r>
          </a:p>
          <a:p>
            <a:pPr marL="0" indent="0">
              <a:buNone/>
            </a:pPr>
            <a:endParaRPr lang="en-US" sz="700" dirty="0"/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4BAB8013-3F20-4599-9997-F7A39F9FA3F4}"/>
              </a:ext>
            </a:extLst>
          </p:cNvPr>
          <p:cNvSpPr txBox="1"/>
          <p:nvPr/>
        </p:nvSpPr>
        <p:spPr>
          <a:xfrm>
            <a:off x="1203513" y="1808627"/>
            <a:ext cx="1015028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If a program contains any of the following memory access errors, it is classified as not memory safe:</a:t>
            </a:r>
            <a:r>
              <a:rPr lang="de-DE" sz="1200" baseline="-25000" dirty="0"/>
              <a:t>[5]</a:t>
            </a:r>
            <a:endParaRPr lang="en-US" baseline="-25000" dirty="0"/>
          </a:p>
        </p:txBody>
      </p:sp>
      <p:sp>
        <p:nvSpPr>
          <p:cNvPr id="7" name="Textfeld 6">
            <a:extLst>
              <a:ext uri="{FF2B5EF4-FFF2-40B4-BE49-F238E27FC236}">
                <a16:creationId xmlns:a16="http://schemas.microsoft.com/office/drawing/2014/main" id="{FC0DE04A-2B18-7DDB-19BD-5E622983E285}"/>
              </a:ext>
            </a:extLst>
          </p:cNvPr>
          <p:cNvSpPr txBox="1"/>
          <p:nvPr/>
        </p:nvSpPr>
        <p:spPr>
          <a:xfrm>
            <a:off x="2871155" y="2312892"/>
            <a:ext cx="6716390" cy="31700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342900" indent="-342900">
              <a:buFont typeface="+mj-lt"/>
              <a:buAutoNum type="arabicPeriod"/>
            </a:pPr>
            <a:r>
              <a:rPr lang="en-US" sz="4000" b="1" dirty="0"/>
              <a:t>Out-of-bounds Write</a:t>
            </a:r>
          </a:p>
          <a:p>
            <a:pPr marL="342900" indent="-342900">
              <a:buFont typeface="+mj-lt"/>
              <a:buAutoNum type="arabicPeriod"/>
            </a:pPr>
            <a:r>
              <a:rPr lang="en-US" sz="4000" dirty="0"/>
              <a:t>Out-of-bounds Read</a:t>
            </a:r>
          </a:p>
          <a:p>
            <a:pPr marL="342900" indent="-342900">
              <a:buFont typeface="+mj-lt"/>
              <a:buAutoNum type="arabicPeriod"/>
            </a:pPr>
            <a:r>
              <a:rPr lang="en-US" sz="4000" b="1" dirty="0"/>
              <a:t>Use After Free</a:t>
            </a:r>
          </a:p>
          <a:p>
            <a:pPr marL="342900" indent="-342900">
              <a:buFont typeface="+mj-lt"/>
              <a:buAutoNum type="arabicPeriod"/>
            </a:pPr>
            <a:r>
              <a:rPr lang="en-US" sz="4000" dirty="0"/>
              <a:t>Use of uninitialized Memory</a:t>
            </a:r>
          </a:p>
          <a:p>
            <a:pPr marL="342900" indent="-342900">
              <a:buFont typeface="+mj-lt"/>
              <a:buAutoNum type="arabicPeriod"/>
            </a:pPr>
            <a:r>
              <a:rPr lang="en-US" sz="4000" dirty="0"/>
              <a:t>Double Free</a:t>
            </a:r>
          </a:p>
        </p:txBody>
      </p:sp>
      <p:sp>
        <p:nvSpPr>
          <p:cNvPr id="8" name="Textfeld 7">
            <a:extLst>
              <a:ext uri="{FF2B5EF4-FFF2-40B4-BE49-F238E27FC236}">
                <a16:creationId xmlns:a16="http://schemas.microsoft.com/office/drawing/2014/main" id="{510DE1FB-C0DE-7206-6CAB-CA20C19D1AA2}"/>
              </a:ext>
            </a:extLst>
          </p:cNvPr>
          <p:cNvSpPr txBox="1"/>
          <p:nvPr/>
        </p:nvSpPr>
        <p:spPr>
          <a:xfrm>
            <a:off x="1092200" y="5899150"/>
            <a:ext cx="9642287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800" dirty="0"/>
              <a:t>[5] </a:t>
            </a:r>
            <a:r>
              <a:rPr lang="de-DE" sz="800" dirty="0">
                <a:hlinkClick r:id="rId3"/>
              </a:rPr>
              <a:t>https://ieeexplore.ieee.org/document/6547101</a:t>
            </a:r>
            <a:r>
              <a:rPr lang="de-DE" sz="800" dirty="0"/>
              <a:t> </a:t>
            </a:r>
            <a:endParaRPr lang="en-US" sz="800" dirty="0"/>
          </a:p>
        </p:txBody>
      </p:sp>
    </p:spTree>
    <p:extLst>
      <p:ext uri="{BB962C8B-B14F-4D97-AF65-F5344CB8AC3E}">
        <p14:creationId xmlns:p14="http://schemas.microsoft.com/office/powerpoint/2010/main" val="287381981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4A0B27-01B3-FCA9-5D0F-3F2053C5F3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ußzeilenplatzhalter 1">
            <a:extLst>
              <a:ext uri="{FF2B5EF4-FFF2-40B4-BE49-F238E27FC236}">
                <a16:creationId xmlns:a16="http://schemas.microsoft.com/office/drawing/2014/main" id="{30C1ADC2-7BFE-450C-F24D-98ED5257546B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>
                <a:solidFill>
                  <a:srgbClr val="64378C"/>
                </a:solidFill>
              </a:rPr>
              <a:t>Rust's Approach to Memory Safety</a:t>
            </a:r>
            <a:endParaRPr lang="en-US" dirty="0">
              <a:solidFill>
                <a:srgbClr val="64378C"/>
              </a:solidFill>
            </a:endParaRPr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9D04ED48-D656-A2E8-6CFD-377D803CE6F1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 algn="ctr"/>
            <a:fld id="{5F85D455-7770-4F98-B944-71C158B4E906}" type="slidenum">
              <a:rPr lang="en-US" smtClean="0"/>
              <a:pPr algn="ctr"/>
              <a:t>6</a:t>
            </a:fld>
            <a:endParaRPr lang="en-US" dirty="0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30610804-FF00-FEE6-EC8E-C04E71193C46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dirty="0"/>
              <a:t>Memory Safety</a:t>
            </a:r>
          </a:p>
        </p:txBody>
      </p:sp>
      <p:sp>
        <p:nvSpPr>
          <p:cNvPr id="5" name="Inhaltsplatzhalter 4">
            <a:extLst>
              <a:ext uri="{FF2B5EF4-FFF2-40B4-BE49-F238E27FC236}">
                <a16:creationId xmlns:a16="http://schemas.microsoft.com/office/drawing/2014/main" id="{032B67C7-2B48-A77C-6C59-215F485165FD}"/>
              </a:ext>
            </a:extLst>
          </p:cNvPr>
          <p:cNvSpPr txBox="1">
            <a:spLocks/>
          </p:cNvSpPr>
          <p:nvPr/>
        </p:nvSpPr>
        <p:spPr>
          <a:xfrm>
            <a:off x="1203513" y="941293"/>
            <a:ext cx="9856694" cy="563187"/>
          </a:xfrm>
          <a:prstGeom prst="rect">
            <a:avLst/>
          </a:prstGeom>
        </p:spPr>
        <p:txBody>
          <a:bodyPr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sz="3600" dirty="0"/>
              <a:t>Use After Free</a:t>
            </a:r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3B18B223-840D-9230-1868-705851EB3D76}"/>
              </a:ext>
            </a:extLst>
          </p:cNvPr>
          <p:cNvSpPr/>
          <p:nvPr/>
        </p:nvSpPr>
        <p:spPr>
          <a:xfrm>
            <a:off x="7250348" y="2406191"/>
            <a:ext cx="3456562" cy="914400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219BCB93-88F1-8C97-0FEA-2732BE90D4EC}"/>
              </a:ext>
            </a:extLst>
          </p:cNvPr>
          <p:cNvSpPr/>
          <p:nvPr/>
        </p:nvSpPr>
        <p:spPr>
          <a:xfrm>
            <a:off x="7585952" y="2406191"/>
            <a:ext cx="1530485" cy="914400"/>
          </a:xfrm>
          <a:prstGeom prst="rect">
            <a:avLst/>
          </a:prstGeom>
          <a:pattFill prst="ltUpDiag">
            <a:fgClr>
              <a:srgbClr val="64378C"/>
            </a:fgClr>
            <a:bgClr>
              <a:schemeClr val="bg1"/>
            </a:bgClr>
          </a:patt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chemeClr val="tx1"/>
                </a:solidFill>
              </a:rPr>
              <a:t>sizeof</a:t>
            </a:r>
            <a:r>
              <a:rPr lang="en-US" dirty="0">
                <a:solidFill>
                  <a:schemeClr val="tx1"/>
                </a:solidFill>
              </a:rPr>
              <a:t>(int)</a:t>
            </a:r>
          </a:p>
        </p:txBody>
      </p:sp>
      <p:cxnSp>
        <p:nvCxnSpPr>
          <p:cNvPr id="8" name="Verbinder: gekrümmt 7">
            <a:extLst>
              <a:ext uri="{FF2B5EF4-FFF2-40B4-BE49-F238E27FC236}">
                <a16:creationId xmlns:a16="http://schemas.microsoft.com/office/drawing/2014/main" id="{CA38C32E-3687-D43C-4164-F4A1AC11F033}"/>
              </a:ext>
            </a:extLst>
          </p:cNvPr>
          <p:cNvCxnSpPr>
            <a:cxnSpLocks/>
            <a:endCxn id="7" idx="2"/>
          </p:cNvCxnSpPr>
          <p:nvPr/>
        </p:nvCxnSpPr>
        <p:spPr>
          <a:xfrm flipV="1">
            <a:off x="6840166" y="3320591"/>
            <a:ext cx="1511029" cy="1340341"/>
          </a:xfrm>
          <a:prstGeom prst="curvedConnector2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Gerade Verbindung mit Pfeil 8">
            <a:extLst>
              <a:ext uri="{FF2B5EF4-FFF2-40B4-BE49-F238E27FC236}">
                <a16:creationId xmlns:a16="http://schemas.microsoft.com/office/drawing/2014/main" id="{EA72AA09-586F-4082-5C52-85968FEEC472}"/>
              </a:ext>
            </a:extLst>
          </p:cNvPr>
          <p:cNvCxnSpPr>
            <a:cxnSpLocks/>
          </p:cNvCxnSpPr>
          <p:nvPr/>
        </p:nvCxnSpPr>
        <p:spPr>
          <a:xfrm>
            <a:off x="7250348" y="2197067"/>
            <a:ext cx="3456562" cy="0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feld 9">
            <a:extLst>
              <a:ext uri="{FF2B5EF4-FFF2-40B4-BE49-F238E27FC236}">
                <a16:creationId xmlns:a16="http://schemas.microsoft.com/office/drawing/2014/main" id="{D33CBAC7-0135-0D24-8B2B-374779F3D66D}"/>
              </a:ext>
            </a:extLst>
          </p:cNvPr>
          <p:cNvSpPr txBox="1"/>
          <p:nvPr/>
        </p:nvSpPr>
        <p:spPr>
          <a:xfrm>
            <a:off x="8187258" y="1803278"/>
            <a:ext cx="158274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Heap Memory</a:t>
            </a:r>
          </a:p>
        </p:txBody>
      </p:sp>
      <p:pic>
        <p:nvPicPr>
          <p:cNvPr id="12" name="Grafik 11" descr="Marke 1 Silhouette">
            <a:extLst>
              <a:ext uri="{FF2B5EF4-FFF2-40B4-BE49-F238E27FC236}">
                <a16:creationId xmlns:a16="http://schemas.microsoft.com/office/drawing/2014/main" id="{EF8342BC-9F11-B417-E080-FFD1AC0E2F6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034388" y="4106578"/>
            <a:ext cx="305740" cy="305740"/>
          </a:xfrm>
          <a:prstGeom prst="rect">
            <a:avLst/>
          </a:prstGeom>
        </p:spPr>
      </p:pic>
      <p:sp>
        <p:nvSpPr>
          <p:cNvPr id="13" name="Textfeld 12">
            <a:extLst>
              <a:ext uri="{FF2B5EF4-FFF2-40B4-BE49-F238E27FC236}">
                <a16:creationId xmlns:a16="http://schemas.microsoft.com/office/drawing/2014/main" id="{E956ADAB-23D2-2A38-19ED-3959A9CD5025}"/>
              </a:ext>
            </a:extLst>
          </p:cNvPr>
          <p:cNvSpPr txBox="1"/>
          <p:nvPr/>
        </p:nvSpPr>
        <p:spPr>
          <a:xfrm>
            <a:off x="8237898" y="4074782"/>
            <a:ext cx="232358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Allocate Memory Unit</a:t>
            </a:r>
          </a:p>
        </p:txBody>
      </p:sp>
      <p:pic>
        <p:nvPicPr>
          <p:cNvPr id="32" name="Grafik 31">
            <a:extLst>
              <a:ext uri="{FF2B5EF4-FFF2-40B4-BE49-F238E27FC236}">
                <a16:creationId xmlns:a16="http://schemas.microsoft.com/office/drawing/2014/main" id="{FEC6743A-3C27-B8E6-06D3-19EAF1E06E1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98067" y="1456196"/>
            <a:ext cx="4562475" cy="4162425"/>
          </a:xfrm>
          <a:prstGeom prst="rect">
            <a:avLst/>
          </a:prstGeom>
        </p:spPr>
      </p:pic>
      <p:sp>
        <p:nvSpPr>
          <p:cNvPr id="33" name="Rechteck 32">
            <a:extLst>
              <a:ext uri="{FF2B5EF4-FFF2-40B4-BE49-F238E27FC236}">
                <a16:creationId xmlns:a16="http://schemas.microsoft.com/office/drawing/2014/main" id="{AD38D281-157C-CB30-10C1-E1161DC14A0F}"/>
              </a:ext>
            </a:extLst>
          </p:cNvPr>
          <p:cNvSpPr/>
          <p:nvPr/>
        </p:nvSpPr>
        <p:spPr>
          <a:xfrm>
            <a:off x="1203512" y="2953090"/>
            <a:ext cx="3790019" cy="213360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Ellipse 10">
            <a:extLst>
              <a:ext uri="{FF2B5EF4-FFF2-40B4-BE49-F238E27FC236}">
                <a16:creationId xmlns:a16="http://schemas.microsoft.com/office/drawing/2014/main" id="{F6012B8E-986E-2336-9CB5-86EF1C06EBAB}"/>
              </a:ext>
            </a:extLst>
          </p:cNvPr>
          <p:cNvSpPr/>
          <p:nvPr/>
        </p:nvSpPr>
        <p:spPr>
          <a:xfrm>
            <a:off x="4993532" y="4324390"/>
            <a:ext cx="1846634" cy="673084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buffer_ptr1</a:t>
            </a:r>
          </a:p>
        </p:txBody>
      </p:sp>
      <p:sp>
        <p:nvSpPr>
          <p:cNvPr id="34" name="Rechteck: abgerundete Ecken 33">
            <a:extLst>
              <a:ext uri="{FF2B5EF4-FFF2-40B4-BE49-F238E27FC236}">
                <a16:creationId xmlns:a16="http://schemas.microsoft.com/office/drawing/2014/main" id="{456657D8-44BE-D6EF-464C-6D0C43792803}"/>
              </a:ext>
            </a:extLst>
          </p:cNvPr>
          <p:cNvSpPr/>
          <p:nvPr/>
        </p:nvSpPr>
        <p:spPr>
          <a:xfrm>
            <a:off x="1434095" y="2742051"/>
            <a:ext cx="3559436" cy="192118"/>
          </a:xfrm>
          <a:prstGeom prst="roundRect">
            <a:avLst/>
          </a:prstGeom>
          <a:noFill/>
          <a:ln w="95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6" name="Gerade Verbindung mit Pfeil 35">
            <a:extLst>
              <a:ext uri="{FF2B5EF4-FFF2-40B4-BE49-F238E27FC236}">
                <a16:creationId xmlns:a16="http://schemas.microsoft.com/office/drawing/2014/main" id="{C499F8B0-8BEE-7C22-B1D5-D95C9151A830}"/>
              </a:ext>
            </a:extLst>
          </p:cNvPr>
          <p:cNvCxnSpPr>
            <a:cxnSpLocks/>
            <a:endCxn id="34" idx="1"/>
          </p:cNvCxnSpPr>
          <p:nvPr/>
        </p:nvCxnSpPr>
        <p:spPr>
          <a:xfrm>
            <a:off x="1203512" y="2838110"/>
            <a:ext cx="230583" cy="0"/>
          </a:xfrm>
          <a:prstGeom prst="straightConnector1">
            <a:avLst/>
          </a:prstGeom>
          <a:ln w="12700">
            <a:solidFill>
              <a:schemeClr val="tx1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2559282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93B744-EAEF-71A8-F74A-44625796CA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ußzeilenplatzhalter 1">
            <a:extLst>
              <a:ext uri="{FF2B5EF4-FFF2-40B4-BE49-F238E27FC236}">
                <a16:creationId xmlns:a16="http://schemas.microsoft.com/office/drawing/2014/main" id="{762A0E10-6571-6B48-C45A-D0E6E7D49326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>
                <a:solidFill>
                  <a:srgbClr val="64378C"/>
                </a:solidFill>
              </a:rPr>
              <a:t>Rust's Approach to Memory Safety</a:t>
            </a:r>
            <a:endParaRPr lang="en-US" dirty="0">
              <a:solidFill>
                <a:srgbClr val="64378C"/>
              </a:solidFill>
            </a:endParaRPr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326BDA99-AF56-7290-3614-0AAAD5F3D3CE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 algn="ctr"/>
            <a:fld id="{5F85D455-7770-4F98-B944-71C158B4E906}" type="slidenum">
              <a:rPr lang="en-US" smtClean="0"/>
              <a:pPr algn="ctr"/>
              <a:t>7</a:t>
            </a:fld>
            <a:endParaRPr lang="en-US" dirty="0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22BA2DE7-6183-9CFF-76A2-37308D6AC3D9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dirty="0"/>
              <a:t>Memory Safety</a:t>
            </a:r>
          </a:p>
        </p:txBody>
      </p:sp>
      <p:sp>
        <p:nvSpPr>
          <p:cNvPr id="5" name="Inhaltsplatzhalter 4">
            <a:extLst>
              <a:ext uri="{FF2B5EF4-FFF2-40B4-BE49-F238E27FC236}">
                <a16:creationId xmlns:a16="http://schemas.microsoft.com/office/drawing/2014/main" id="{CBF1C482-BE87-F5EE-16E5-61F21B50F5A1}"/>
              </a:ext>
            </a:extLst>
          </p:cNvPr>
          <p:cNvSpPr txBox="1">
            <a:spLocks/>
          </p:cNvSpPr>
          <p:nvPr/>
        </p:nvSpPr>
        <p:spPr>
          <a:xfrm>
            <a:off x="1203513" y="941293"/>
            <a:ext cx="9856694" cy="563187"/>
          </a:xfrm>
          <a:prstGeom prst="rect">
            <a:avLst/>
          </a:prstGeom>
        </p:spPr>
        <p:txBody>
          <a:bodyPr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sz="3600" dirty="0"/>
              <a:t>Use After Free</a:t>
            </a:r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0735F3D7-5AD7-B4A5-F9FD-60A7877B6E4A}"/>
              </a:ext>
            </a:extLst>
          </p:cNvPr>
          <p:cNvSpPr/>
          <p:nvPr/>
        </p:nvSpPr>
        <p:spPr>
          <a:xfrm>
            <a:off x="7250348" y="2406191"/>
            <a:ext cx="3456562" cy="914400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8C1101C0-B709-F23F-E9DB-D82BDFB00543}"/>
              </a:ext>
            </a:extLst>
          </p:cNvPr>
          <p:cNvSpPr/>
          <p:nvPr/>
        </p:nvSpPr>
        <p:spPr>
          <a:xfrm>
            <a:off x="7585952" y="2406191"/>
            <a:ext cx="1530485" cy="914400"/>
          </a:xfrm>
          <a:prstGeom prst="rect">
            <a:avLst/>
          </a:prstGeom>
          <a:solidFill>
            <a:srgbClr val="64378C">
              <a:alpha val="80000"/>
            </a:srgbClr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21</a:t>
            </a:r>
          </a:p>
        </p:txBody>
      </p:sp>
      <p:cxnSp>
        <p:nvCxnSpPr>
          <p:cNvPr id="8" name="Verbinder: gekrümmt 7">
            <a:extLst>
              <a:ext uri="{FF2B5EF4-FFF2-40B4-BE49-F238E27FC236}">
                <a16:creationId xmlns:a16="http://schemas.microsoft.com/office/drawing/2014/main" id="{7DEB08A1-FF95-2622-15CD-BE2CDAA2AA28}"/>
              </a:ext>
            </a:extLst>
          </p:cNvPr>
          <p:cNvCxnSpPr>
            <a:cxnSpLocks/>
            <a:endCxn id="7" idx="2"/>
          </p:cNvCxnSpPr>
          <p:nvPr/>
        </p:nvCxnSpPr>
        <p:spPr>
          <a:xfrm flipV="1">
            <a:off x="6840166" y="3320591"/>
            <a:ext cx="1511029" cy="1340341"/>
          </a:xfrm>
          <a:prstGeom prst="curvedConnector2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Gerade Verbindung mit Pfeil 8">
            <a:extLst>
              <a:ext uri="{FF2B5EF4-FFF2-40B4-BE49-F238E27FC236}">
                <a16:creationId xmlns:a16="http://schemas.microsoft.com/office/drawing/2014/main" id="{22F3E7F3-92AE-FD40-1BF3-6ECB47D170A7}"/>
              </a:ext>
            </a:extLst>
          </p:cNvPr>
          <p:cNvCxnSpPr>
            <a:cxnSpLocks/>
          </p:cNvCxnSpPr>
          <p:nvPr/>
        </p:nvCxnSpPr>
        <p:spPr>
          <a:xfrm>
            <a:off x="7250348" y="2197067"/>
            <a:ext cx="3456562" cy="0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feld 9">
            <a:extLst>
              <a:ext uri="{FF2B5EF4-FFF2-40B4-BE49-F238E27FC236}">
                <a16:creationId xmlns:a16="http://schemas.microsoft.com/office/drawing/2014/main" id="{3A651B28-BA6B-4F6A-3763-8FB1BA68649B}"/>
              </a:ext>
            </a:extLst>
          </p:cNvPr>
          <p:cNvSpPr txBox="1"/>
          <p:nvPr/>
        </p:nvSpPr>
        <p:spPr>
          <a:xfrm>
            <a:off x="8187258" y="1803278"/>
            <a:ext cx="158274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Heap Memory</a:t>
            </a:r>
          </a:p>
        </p:txBody>
      </p:sp>
      <p:sp>
        <p:nvSpPr>
          <p:cNvPr id="13" name="Textfeld 12">
            <a:extLst>
              <a:ext uri="{FF2B5EF4-FFF2-40B4-BE49-F238E27FC236}">
                <a16:creationId xmlns:a16="http://schemas.microsoft.com/office/drawing/2014/main" id="{269389B8-5227-58CB-777D-1AD12E3500BF}"/>
              </a:ext>
            </a:extLst>
          </p:cNvPr>
          <p:cNvSpPr txBox="1"/>
          <p:nvPr/>
        </p:nvSpPr>
        <p:spPr>
          <a:xfrm>
            <a:off x="8237898" y="4074782"/>
            <a:ext cx="23310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Initialize Memory Unit</a:t>
            </a:r>
          </a:p>
        </p:txBody>
      </p:sp>
      <p:pic>
        <p:nvPicPr>
          <p:cNvPr id="14" name="Grafik 13" descr="Abzeichen Silhouette">
            <a:extLst>
              <a:ext uri="{FF2B5EF4-FFF2-40B4-BE49-F238E27FC236}">
                <a16:creationId xmlns:a16="http://schemas.microsoft.com/office/drawing/2014/main" id="{D314831E-90EB-8A94-D4B3-D941F40DD35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034388" y="4106578"/>
            <a:ext cx="305740" cy="305740"/>
          </a:xfrm>
          <a:prstGeom prst="rect">
            <a:avLst/>
          </a:prstGeom>
        </p:spPr>
      </p:pic>
      <p:pic>
        <p:nvPicPr>
          <p:cNvPr id="15" name="Grafik 14">
            <a:extLst>
              <a:ext uri="{FF2B5EF4-FFF2-40B4-BE49-F238E27FC236}">
                <a16:creationId xmlns:a16="http://schemas.microsoft.com/office/drawing/2014/main" id="{D3011AC4-93D7-4D1A-CDCC-BE369B3A7D7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98067" y="1456196"/>
            <a:ext cx="4562475" cy="4162425"/>
          </a:xfrm>
          <a:prstGeom prst="rect">
            <a:avLst/>
          </a:prstGeom>
        </p:spPr>
      </p:pic>
      <p:sp>
        <p:nvSpPr>
          <p:cNvPr id="16" name="Rechteck 15">
            <a:extLst>
              <a:ext uri="{FF2B5EF4-FFF2-40B4-BE49-F238E27FC236}">
                <a16:creationId xmlns:a16="http://schemas.microsoft.com/office/drawing/2014/main" id="{F82B3E41-2DA2-D141-4471-93FF7D1402B2}"/>
              </a:ext>
            </a:extLst>
          </p:cNvPr>
          <p:cNvSpPr/>
          <p:nvPr/>
        </p:nvSpPr>
        <p:spPr>
          <a:xfrm>
            <a:off x="1203512" y="3136900"/>
            <a:ext cx="3790019" cy="203149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Ellipse 10">
            <a:extLst>
              <a:ext uri="{FF2B5EF4-FFF2-40B4-BE49-F238E27FC236}">
                <a16:creationId xmlns:a16="http://schemas.microsoft.com/office/drawing/2014/main" id="{C21C7140-943E-3360-D800-8C80585E6BCB}"/>
              </a:ext>
            </a:extLst>
          </p:cNvPr>
          <p:cNvSpPr/>
          <p:nvPr/>
        </p:nvSpPr>
        <p:spPr>
          <a:xfrm>
            <a:off x="4993532" y="4324390"/>
            <a:ext cx="1846634" cy="673084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buffer_ptr1</a:t>
            </a:r>
          </a:p>
        </p:txBody>
      </p:sp>
      <p:sp>
        <p:nvSpPr>
          <p:cNvPr id="27" name="Rechteck: abgerundete Ecken 26">
            <a:extLst>
              <a:ext uri="{FF2B5EF4-FFF2-40B4-BE49-F238E27FC236}">
                <a16:creationId xmlns:a16="http://schemas.microsoft.com/office/drawing/2014/main" id="{3477CF50-6C5E-1601-4F24-918CF7DCD4F6}"/>
              </a:ext>
            </a:extLst>
          </p:cNvPr>
          <p:cNvSpPr/>
          <p:nvPr/>
        </p:nvSpPr>
        <p:spPr>
          <a:xfrm>
            <a:off x="1434095" y="2919669"/>
            <a:ext cx="1999839" cy="192118"/>
          </a:xfrm>
          <a:prstGeom prst="roundRect">
            <a:avLst/>
          </a:prstGeom>
          <a:noFill/>
          <a:ln w="95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8" name="Gerade Verbindung mit Pfeil 27">
            <a:extLst>
              <a:ext uri="{FF2B5EF4-FFF2-40B4-BE49-F238E27FC236}">
                <a16:creationId xmlns:a16="http://schemas.microsoft.com/office/drawing/2014/main" id="{DE87BB29-360C-B83C-BB3F-7D4E54EFC137}"/>
              </a:ext>
            </a:extLst>
          </p:cNvPr>
          <p:cNvCxnSpPr>
            <a:cxnSpLocks/>
            <a:endCxn id="27" idx="1"/>
          </p:cNvCxnSpPr>
          <p:nvPr/>
        </p:nvCxnSpPr>
        <p:spPr>
          <a:xfrm>
            <a:off x="1203512" y="3015728"/>
            <a:ext cx="230583" cy="0"/>
          </a:xfrm>
          <a:prstGeom prst="straightConnector1">
            <a:avLst/>
          </a:prstGeom>
          <a:ln w="12700">
            <a:solidFill>
              <a:schemeClr val="tx1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9683742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E3EA85-CCC6-0AD4-21FE-810768318D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ußzeilenplatzhalter 1">
            <a:extLst>
              <a:ext uri="{FF2B5EF4-FFF2-40B4-BE49-F238E27FC236}">
                <a16:creationId xmlns:a16="http://schemas.microsoft.com/office/drawing/2014/main" id="{888EB1B5-4AAE-15D6-5D4D-AA54EC122E60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>
                <a:solidFill>
                  <a:srgbClr val="64378C"/>
                </a:solidFill>
              </a:rPr>
              <a:t>Rust's Approach to Memory Safety</a:t>
            </a:r>
            <a:endParaRPr lang="en-US" dirty="0">
              <a:solidFill>
                <a:srgbClr val="64378C"/>
              </a:solidFill>
            </a:endParaRPr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C058B47B-5730-4231-6BB1-C2AA0BE7F4E6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 algn="ctr"/>
            <a:fld id="{5F85D455-7770-4F98-B944-71C158B4E906}" type="slidenum">
              <a:rPr lang="en-US" smtClean="0"/>
              <a:pPr algn="ctr"/>
              <a:t>8</a:t>
            </a:fld>
            <a:endParaRPr lang="en-US" dirty="0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2BBDF940-2000-864A-1CCA-20F2C36BD46C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dirty="0"/>
              <a:t>Memory Safety</a:t>
            </a:r>
          </a:p>
        </p:txBody>
      </p:sp>
      <p:sp>
        <p:nvSpPr>
          <p:cNvPr id="5" name="Inhaltsplatzhalter 4">
            <a:extLst>
              <a:ext uri="{FF2B5EF4-FFF2-40B4-BE49-F238E27FC236}">
                <a16:creationId xmlns:a16="http://schemas.microsoft.com/office/drawing/2014/main" id="{DE83B090-EE75-D8FB-61AE-E60FB6787F67}"/>
              </a:ext>
            </a:extLst>
          </p:cNvPr>
          <p:cNvSpPr txBox="1">
            <a:spLocks/>
          </p:cNvSpPr>
          <p:nvPr/>
        </p:nvSpPr>
        <p:spPr>
          <a:xfrm>
            <a:off x="1203513" y="941293"/>
            <a:ext cx="9856694" cy="563187"/>
          </a:xfrm>
          <a:prstGeom prst="rect">
            <a:avLst/>
          </a:prstGeom>
        </p:spPr>
        <p:txBody>
          <a:bodyPr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sz="3600" dirty="0"/>
              <a:t>Use After Free</a:t>
            </a:r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282B3209-E2F9-6EA3-82EE-78F06BDF6CB4}"/>
              </a:ext>
            </a:extLst>
          </p:cNvPr>
          <p:cNvSpPr/>
          <p:nvPr/>
        </p:nvSpPr>
        <p:spPr>
          <a:xfrm>
            <a:off x="7250348" y="2406191"/>
            <a:ext cx="3456562" cy="914400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06ADA824-D2C7-430D-7E08-849416AE2FA8}"/>
              </a:ext>
            </a:extLst>
          </p:cNvPr>
          <p:cNvSpPr/>
          <p:nvPr/>
        </p:nvSpPr>
        <p:spPr>
          <a:xfrm>
            <a:off x="7585952" y="2406191"/>
            <a:ext cx="1530485" cy="914400"/>
          </a:xfrm>
          <a:prstGeom prst="rect">
            <a:avLst/>
          </a:prstGeom>
          <a:solidFill>
            <a:srgbClr val="64378C">
              <a:alpha val="80000"/>
            </a:srgbClr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21</a:t>
            </a:r>
          </a:p>
        </p:txBody>
      </p:sp>
      <p:cxnSp>
        <p:nvCxnSpPr>
          <p:cNvPr id="9" name="Gerade Verbindung mit Pfeil 8">
            <a:extLst>
              <a:ext uri="{FF2B5EF4-FFF2-40B4-BE49-F238E27FC236}">
                <a16:creationId xmlns:a16="http://schemas.microsoft.com/office/drawing/2014/main" id="{BEA8B0E2-3B39-9B05-A689-FB43015A5ADD}"/>
              </a:ext>
            </a:extLst>
          </p:cNvPr>
          <p:cNvCxnSpPr>
            <a:cxnSpLocks/>
          </p:cNvCxnSpPr>
          <p:nvPr/>
        </p:nvCxnSpPr>
        <p:spPr>
          <a:xfrm>
            <a:off x="7250348" y="2197067"/>
            <a:ext cx="3456562" cy="0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feld 9">
            <a:extLst>
              <a:ext uri="{FF2B5EF4-FFF2-40B4-BE49-F238E27FC236}">
                <a16:creationId xmlns:a16="http://schemas.microsoft.com/office/drawing/2014/main" id="{B167D92D-9608-39BC-C907-FECEBA889A98}"/>
              </a:ext>
            </a:extLst>
          </p:cNvPr>
          <p:cNvSpPr txBox="1"/>
          <p:nvPr/>
        </p:nvSpPr>
        <p:spPr>
          <a:xfrm>
            <a:off x="8187258" y="1803278"/>
            <a:ext cx="158274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Heap Memory</a:t>
            </a:r>
          </a:p>
        </p:txBody>
      </p:sp>
      <p:sp>
        <p:nvSpPr>
          <p:cNvPr id="12" name="Ellipse 11">
            <a:extLst>
              <a:ext uri="{FF2B5EF4-FFF2-40B4-BE49-F238E27FC236}">
                <a16:creationId xmlns:a16="http://schemas.microsoft.com/office/drawing/2014/main" id="{E32E076E-0494-FD2D-7CF4-45D8F62E8EC5}"/>
              </a:ext>
            </a:extLst>
          </p:cNvPr>
          <p:cNvSpPr/>
          <p:nvPr/>
        </p:nvSpPr>
        <p:spPr>
          <a:xfrm>
            <a:off x="9141854" y="5075495"/>
            <a:ext cx="1846634" cy="673084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buffer_ptr2</a:t>
            </a:r>
          </a:p>
        </p:txBody>
      </p:sp>
      <p:sp>
        <p:nvSpPr>
          <p:cNvPr id="20" name="Textfeld 19">
            <a:extLst>
              <a:ext uri="{FF2B5EF4-FFF2-40B4-BE49-F238E27FC236}">
                <a16:creationId xmlns:a16="http://schemas.microsoft.com/office/drawing/2014/main" id="{8F6FD896-5060-3E43-D0C9-FFEC160DC53A}"/>
              </a:ext>
            </a:extLst>
          </p:cNvPr>
          <p:cNvSpPr txBox="1"/>
          <p:nvPr/>
        </p:nvSpPr>
        <p:spPr>
          <a:xfrm>
            <a:off x="9056335" y="3736576"/>
            <a:ext cx="2664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Assign another Pointer to</a:t>
            </a:r>
          </a:p>
          <a:p>
            <a:r>
              <a:rPr lang="en-US" dirty="0"/>
              <a:t>the same Memory Unit</a:t>
            </a:r>
          </a:p>
        </p:txBody>
      </p:sp>
      <p:pic>
        <p:nvPicPr>
          <p:cNvPr id="21" name="Grafik 20" descr="Marke 3 Silhouette">
            <a:extLst>
              <a:ext uri="{FF2B5EF4-FFF2-40B4-BE49-F238E27FC236}">
                <a16:creationId xmlns:a16="http://schemas.microsoft.com/office/drawing/2014/main" id="{D145E394-6988-06DC-6FB6-54F53D9FE14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836114" y="3906871"/>
            <a:ext cx="305740" cy="305740"/>
          </a:xfrm>
          <a:prstGeom prst="rect">
            <a:avLst/>
          </a:prstGeom>
        </p:spPr>
      </p:pic>
      <p:pic>
        <p:nvPicPr>
          <p:cNvPr id="25" name="Grafik 24">
            <a:extLst>
              <a:ext uri="{FF2B5EF4-FFF2-40B4-BE49-F238E27FC236}">
                <a16:creationId xmlns:a16="http://schemas.microsoft.com/office/drawing/2014/main" id="{7E3E15A5-DEBF-CAD0-7340-5B8F858977F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98067" y="1456196"/>
            <a:ext cx="4562475" cy="4162425"/>
          </a:xfrm>
          <a:prstGeom prst="rect">
            <a:avLst/>
          </a:prstGeom>
        </p:spPr>
      </p:pic>
      <p:sp>
        <p:nvSpPr>
          <p:cNvPr id="26" name="Rechteck 25">
            <a:extLst>
              <a:ext uri="{FF2B5EF4-FFF2-40B4-BE49-F238E27FC236}">
                <a16:creationId xmlns:a16="http://schemas.microsoft.com/office/drawing/2014/main" id="{B93CC4AD-D522-5304-B56B-F04CB9C3B28D}"/>
              </a:ext>
            </a:extLst>
          </p:cNvPr>
          <p:cNvSpPr/>
          <p:nvPr/>
        </p:nvSpPr>
        <p:spPr>
          <a:xfrm>
            <a:off x="1203512" y="3479800"/>
            <a:ext cx="3790019" cy="162560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Ellipse 10">
            <a:extLst>
              <a:ext uri="{FF2B5EF4-FFF2-40B4-BE49-F238E27FC236}">
                <a16:creationId xmlns:a16="http://schemas.microsoft.com/office/drawing/2014/main" id="{56F81D08-614F-3FDF-A9FC-081623BC3855}"/>
              </a:ext>
            </a:extLst>
          </p:cNvPr>
          <p:cNvSpPr/>
          <p:nvPr/>
        </p:nvSpPr>
        <p:spPr>
          <a:xfrm>
            <a:off x="4993532" y="4324390"/>
            <a:ext cx="1846634" cy="673084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buffer_ptr1</a:t>
            </a:r>
          </a:p>
        </p:txBody>
      </p:sp>
      <p:cxnSp>
        <p:nvCxnSpPr>
          <p:cNvPr id="42" name="Verbinder: gekrümmt 41">
            <a:extLst>
              <a:ext uri="{FF2B5EF4-FFF2-40B4-BE49-F238E27FC236}">
                <a16:creationId xmlns:a16="http://schemas.microsoft.com/office/drawing/2014/main" id="{3C82C4B6-5A5D-8204-89CF-0D41D9D016B7}"/>
              </a:ext>
            </a:extLst>
          </p:cNvPr>
          <p:cNvCxnSpPr>
            <a:cxnSpLocks/>
            <a:stCxn id="11" idx="6"/>
          </p:cNvCxnSpPr>
          <p:nvPr/>
        </p:nvCxnSpPr>
        <p:spPr>
          <a:xfrm flipV="1">
            <a:off x="6840166" y="3320591"/>
            <a:ext cx="1130105" cy="1340341"/>
          </a:xfrm>
          <a:prstGeom prst="curvedConnector2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Verbinder: gekrümmt 45">
            <a:extLst>
              <a:ext uri="{FF2B5EF4-FFF2-40B4-BE49-F238E27FC236}">
                <a16:creationId xmlns:a16="http://schemas.microsoft.com/office/drawing/2014/main" id="{08879635-493C-17E5-49AA-658F3C5BCC96}"/>
              </a:ext>
            </a:extLst>
          </p:cNvPr>
          <p:cNvCxnSpPr>
            <a:cxnSpLocks/>
            <a:stCxn id="12" idx="2"/>
          </p:cNvCxnSpPr>
          <p:nvPr/>
        </p:nvCxnSpPr>
        <p:spPr>
          <a:xfrm rot="10800000">
            <a:off x="8735514" y="3312271"/>
            <a:ext cx="406340" cy="2099767"/>
          </a:xfrm>
          <a:prstGeom prst="curvedConnector2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8" name="Rechteck: abgerundete Ecken 57">
            <a:extLst>
              <a:ext uri="{FF2B5EF4-FFF2-40B4-BE49-F238E27FC236}">
                <a16:creationId xmlns:a16="http://schemas.microsoft.com/office/drawing/2014/main" id="{2EB2515E-4517-4739-9A56-85BA9A5BF66A}"/>
              </a:ext>
            </a:extLst>
          </p:cNvPr>
          <p:cNvSpPr/>
          <p:nvPr/>
        </p:nvSpPr>
        <p:spPr>
          <a:xfrm>
            <a:off x="1434095" y="3281480"/>
            <a:ext cx="2874768" cy="192118"/>
          </a:xfrm>
          <a:prstGeom prst="roundRect">
            <a:avLst/>
          </a:prstGeom>
          <a:noFill/>
          <a:ln w="95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59" name="Gerade Verbindung mit Pfeil 58">
            <a:extLst>
              <a:ext uri="{FF2B5EF4-FFF2-40B4-BE49-F238E27FC236}">
                <a16:creationId xmlns:a16="http://schemas.microsoft.com/office/drawing/2014/main" id="{1B3EF089-6D53-69CC-B92A-606CB80DFA57}"/>
              </a:ext>
            </a:extLst>
          </p:cNvPr>
          <p:cNvCxnSpPr>
            <a:cxnSpLocks/>
            <a:endCxn id="58" idx="1"/>
          </p:cNvCxnSpPr>
          <p:nvPr/>
        </p:nvCxnSpPr>
        <p:spPr>
          <a:xfrm>
            <a:off x="1203512" y="3377539"/>
            <a:ext cx="230583" cy="0"/>
          </a:xfrm>
          <a:prstGeom prst="straightConnector1">
            <a:avLst/>
          </a:prstGeom>
          <a:ln w="12700">
            <a:solidFill>
              <a:schemeClr val="tx1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88978777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839996-F056-ABAE-F8B2-B06527AD35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ußzeilenplatzhalter 1">
            <a:extLst>
              <a:ext uri="{FF2B5EF4-FFF2-40B4-BE49-F238E27FC236}">
                <a16:creationId xmlns:a16="http://schemas.microsoft.com/office/drawing/2014/main" id="{2C71423B-1A34-662B-69DA-AF0BF5F51DB9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>
                <a:solidFill>
                  <a:srgbClr val="64378C"/>
                </a:solidFill>
              </a:rPr>
              <a:t>Rust's Approach to Memory Safety</a:t>
            </a:r>
            <a:endParaRPr lang="en-US" dirty="0">
              <a:solidFill>
                <a:srgbClr val="64378C"/>
              </a:solidFill>
            </a:endParaRPr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54FC6009-463D-CEA4-11B4-6B73160EDF42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 algn="ctr"/>
            <a:fld id="{5F85D455-7770-4F98-B944-71C158B4E906}" type="slidenum">
              <a:rPr lang="en-US" smtClean="0"/>
              <a:pPr algn="ctr"/>
              <a:t>9</a:t>
            </a:fld>
            <a:endParaRPr lang="en-US" dirty="0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60E1BBA4-B8F4-ED9D-9141-7A2380B37B7D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dirty="0"/>
              <a:t>Memory Safety</a:t>
            </a:r>
          </a:p>
        </p:txBody>
      </p:sp>
      <p:sp>
        <p:nvSpPr>
          <p:cNvPr id="5" name="Inhaltsplatzhalter 4">
            <a:extLst>
              <a:ext uri="{FF2B5EF4-FFF2-40B4-BE49-F238E27FC236}">
                <a16:creationId xmlns:a16="http://schemas.microsoft.com/office/drawing/2014/main" id="{E480642D-ADC9-2E93-877E-3DB80E2F8A83}"/>
              </a:ext>
            </a:extLst>
          </p:cNvPr>
          <p:cNvSpPr txBox="1">
            <a:spLocks/>
          </p:cNvSpPr>
          <p:nvPr/>
        </p:nvSpPr>
        <p:spPr>
          <a:xfrm>
            <a:off x="1203513" y="941293"/>
            <a:ext cx="9856694" cy="563187"/>
          </a:xfrm>
          <a:prstGeom prst="rect">
            <a:avLst/>
          </a:prstGeom>
        </p:spPr>
        <p:txBody>
          <a:bodyPr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sz="3600" dirty="0"/>
              <a:t>Use After Free</a:t>
            </a:r>
          </a:p>
        </p:txBody>
      </p:sp>
      <p:sp>
        <p:nvSpPr>
          <p:cNvPr id="14" name="Textfeld 13">
            <a:extLst>
              <a:ext uri="{FF2B5EF4-FFF2-40B4-BE49-F238E27FC236}">
                <a16:creationId xmlns:a16="http://schemas.microsoft.com/office/drawing/2014/main" id="{E2C767A4-4837-E91E-8BFB-509D6A8B9273}"/>
              </a:ext>
            </a:extLst>
          </p:cNvPr>
          <p:cNvSpPr txBox="1"/>
          <p:nvPr/>
        </p:nvSpPr>
        <p:spPr>
          <a:xfrm>
            <a:off x="5635184" y="3675643"/>
            <a:ext cx="194142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Free Memory Unit</a:t>
            </a:r>
          </a:p>
        </p:txBody>
      </p:sp>
      <p:pic>
        <p:nvPicPr>
          <p:cNvPr id="15" name="Grafik 14" descr="Marke 4 Silhouette">
            <a:extLst>
              <a:ext uri="{FF2B5EF4-FFF2-40B4-BE49-F238E27FC236}">
                <a16:creationId xmlns:a16="http://schemas.microsoft.com/office/drawing/2014/main" id="{DC6146E6-6BC8-D034-F7B3-14FD894A52B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459059" y="3707439"/>
            <a:ext cx="305740" cy="305740"/>
          </a:xfrm>
          <a:prstGeom prst="rect">
            <a:avLst/>
          </a:prstGeom>
        </p:spPr>
      </p:pic>
      <p:pic>
        <p:nvPicPr>
          <p:cNvPr id="16" name="Grafik 15">
            <a:extLst>
              <a:ext uri="{FF2B5EF4-FFF2-40B4-BE49-F238E27FC236}">
                <a16:creationId xmlns:a16="http://schemas.microsoft.com/office/drawing/2014/main" id="{F9F8FB9B-535D-B255-042E-6D4C7149334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98067" y="1456196"/>
            <a:ext cx="4562475" cy="4162425"/>
          </a:xfrm>
          <a:prstGeom prst="rect">
            <a:avLst/>
          </a:prstGeom>
        </p:spPr>
      </p:pic>
      <p:sp>
        <p:nvSpPr>
          <p:cNvPr id="17" name="Rechteck 16">
            <a:extLst>
              <a:ext uri="{FF2B5EF4-FFF2-40B4-BE49-F238E27FC236}">
                <a16:creationId xmlns:a16="http://schemas.microsoft.com/office/drawing/2014/main" id="{352C46A4-FAF8-0EC1-216E-8A46497B6F26}"/>
              </a:ext>
            </a:extLst>
          </p:cNvPr>
          <p:cNvSpPr/>
          <p:nvPr/>
        </p:nvSpPr>
        <p:spPr>
          <a:xfrm>
            <a:off x="1203512" y="3868108"/>
            <a:ext cx="3790019" cy="1237291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echteck 17">
            <a:extLst>
              <a:ext uri="{FF2B5EF4-FFF2-40B4-BE49-F238E27FC236}">
                <a16:creationId xmlns:a16="http://schemas.microsoft.com/office/drawing/2014/main" id="{814F1127-8F0A-8AE6-4EEA-9FF74489F187}"/>
              </a:ext>
            </a:extLst>
          </p:cNvPr>
          <p:cNvSpPr/>
          <p:nvPr/>
        </p:nvSpPr>
        <p:spPr>
          <a:xfrm>
            <a:off x="7250348" y="2406191"/>
            <a:ext cx="3456562" cy="914400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9" name="Gerade Verbindung mit Pfeil 18">
            <a:extLst>
              <a:ext uri="{FF2B5EF4-FFF2-40B4-BE49-F238E27FC236}">
                <a16:creationId xmlns:a16="http://schemas.microsoft.com/office/drawing/2014/main" id="{7123211A-401C-1A4E-F95D-8E7F9FEF116C}"/>
              </a:ext>
            </a:extLst>
          </p:cNvPr>
          <p:cNvCxnSpPr>
            <a:cxnSpLocks/>
          </p:cNvCxnSpPr>
          <p:nvPr/>
        </p:nvCxnSpPr>
        <p:spPr>
          <a:xfrm>
            <a:off x="7250348" y="2197067"/>
            <a:ext cx="3456562" cy="0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feld 21">
            <a:extLst>
              <a:ext uri="{FF2B5EF4-FFF2-40B4-BE49-F238E27FC236}">
                <a16:creationId xmlns:a16="http://schemas.microsoft.com/office/drawing/2014/main" id="{FF4D6E3F-1E7A-710F-0CCA-6EB70953E0E3}"/>
              </a:ext>
            </a:extLst>
          </p:cNvPr>
          <p:cNvSpPr txBox="1"/>
          <p:nvPr/>
        </p:nvSpPr>
        <p:spPr>
          <a:xfrm>
            <a:off x="8187258" y="1803278"/>
            <a:ext cx="158274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Heap Memory</a:t>
            </a:r>
          </a:p>
        </p:txBody>
      </p:sp>
      <p:sp>
        <p:nvSpPr>
          <p:cNvPr id="23" name="Ellipse 22">
            <a:extLst>
              <a:ext uri="{FF2B5EF4-FFF2-40B4-BE49-F238E27FC236}">
                <a16:creationId xmlns:a16="http://schemas.microsoft.com/office/drawing/2014/main" id="{005B7466-8F71-69B4-573F-FC927ACF3891}"/>
              </a:ext>
            </a:extLst>
          </p:cNvPr>
          <p:cNvSpPr/>
          <p:nvPr/>
        </p:nvSpPr>
        <p:spPr>
          <a:xfrm>
            <a:off x="9141854" y="5075495"/>
            <a:ext cx="1846634" cy="673084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buffer_ptr2</a:t>
            </a:r>
          </a:p>
        </p:txBody>
      </p:sp>
      <p:sp>
        <p:nvSpPr>
          <p:cNvPr id="24" name="Ellipse 23">
            <a:extLst>
              <a:ext uri="{FF2B5EF4-FFF2-40B4-BE49-F238E27FC236}">
                <a16:creationId xmlns:a16="http://schemas.microsoft.com/office/drawing/2014/main" id="{54D7DA6A-A636-EEFD-BF0B-DCDADA0063D6}"/>
              </a:ext>
            </a:extLst>
          </p:cNvPr>
          <p:cNvSpPr/>
          <p:nvPr/>
        </p:nvSpPr>
        <p:spPr>
          <a:xfrm>
            <a:off x="4993532" y="4324390"/>
            <a:ext cx="1846634" cy="673084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buffer_ptr1</a:t>
            </a:r>
          </a:p>
        </p:txBody>
      </p:sp>
      <p:cxnSp>
        <p:nvCxnSpPr>
          <p:cNvPr id="25" name="Verbinder: gekrümmt 24">
            <a:extLst>
              <a:ext uri="{FF2B5EF4-FFF2-40B4-BE49-F238E27FC236}">
                <a16:creationId xmlns:a16="http://schemas.microsoft.com/office/drawing/2014/main" id="{87BA21F7-EF79-E87B-446C-6A7B2AF5CD81}"/>
              </a:ext>
            </a:extLst>
          </p:cNvPr>
          <p:cNvCxnSpPr>
            <a:cxnSpLocks/>
            <a:stCxn id="24" idx="6"/>
          </p:cNvCxnSpPr>
          <p:nvPr/>
        </p:nvCxnSpPr>
        <p:spPr>
          <a:xfrm flipV="1">
            <a:off x="6840166" y="3320591"/>
            <a:ext cx="1130105" cy="1340341"/>
          </a:xfrm>
          <a:prstGeom prst="curvedConnector2">
            <a:avLst/>
          </a:prstGeom>
          <a:ln>
            <a:solidFill>
              <a:schemeClr val="tx1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Verbinder: gekrümmt 25">
            <a:extLst>
              <a:ext uri="{FF2B5EF4-FFF2-40B4-BE49-F238E27FC236}">
                <a16:creationId xmlns:a16="http://schemas.microsoft.com/office/drawing/2014/main" id="{17F59B82-6D85-26DF-CD28-2D559EC8DA2E}"/>
              </a:ext>
            </a:extLst>
          </p:cNvPr>
          <p:cNvCxnSpPr>
            <a:cxnSpLocks/>
            <a:stCxn id="23" idx="2"/>
          </p:cNvCxnSpPr>
          <p:nvPr/>
        </p:nvCxnSpPr>
        <p:spPr>
          <a:xfrm rot="10800000">
            <a:off x="8735514" y="3312271"/>
            <a:ext cx="406340" cy="2099767"/>
          </a:xfrm>
          <a:prstGeom prst="curvedConnector2">
            <a:avLst/>
          </a:prstGeom>
          <a:ln>
            <a:solidFill>
              <a:schemeClr val="tx1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echteck: abgerundete Ecken 28">
            <a:extLst>
              <a:ext uri="{FF2B5EF4-FFF2-40B4-BE49-F238E27FC236}">
                <a16:creationId xmlns:a16="http://schemas.microsoft.com/office/drawing/2014/main" id="{184D9016-6818-4C9B-AD59-27F86F627353}"/>
              </a:ext>
            </a:extLst>
          </p:cNvPr>
          <p:cNvSpPr/>
          <p:nvPr/>
        </p:nvSpPr>
        <p:spPr>
          <a:xfrm>
            <a:off x="1374889" y="3636716"/>
            <a:ext cx="2085358" cy="192118"/>
          </a:xfrm>
          <a:prstGeom prst="roundRect">
            <a:avLst/>
          </a:prstGeom>
          <a:noFill/>
          <a:ln w="95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0" name="Gerade Verbindung mit Pfeil 29">
            <a:extLst>
              <a:ext uri="{FF2B5EF4-FFF2-40B4-BE49-F238E27FC236}">
                <a16:creationId xmlns:a16="http://schemas.microsoft.com/office/drawing/2014/main" id="{893200F2-950A-539C-27D3-23D5E3A7A312}"/>
              </a:ext>
            </a:extLst>
          </p:cNvPr>
          <p:cNvCxnSpPr>
            <a:cxnSpLocks/>
            <a:endCxn id="29" idx="1"/>
          </p:cNvCxnSpPr>
          <p:nvPr/>
        </p:nvCxnSpPr>
        <p:spPr>
          <a:xfrm>
            <a:off x="1144306" y="3732775"/>
            <a:ext cx="230583" cy="0"/>
          </a:xfrm>
          <a:prstGeom prst="straightConnector1">
            <a:avLst/>
          </a:prstGeom>
          <a:ln w="12700">
            <a:solidFill>
              <a:schemeClr val="tx1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69488612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F7BFAA-2229-5D5D-B213-7E9C349688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ußzeilenplatzhalter 1">
            <a:extLst>
              <a:ext uri="{FF2B5EF4-FFF2-40B4-BE49-F238E27FC236}">
                <a16:creationId xmlns:a16="http://schemas.microsoft.com/office/drawing/2014/main" id="{D0D00F64-969F-7C6C-19F8-128B4B220ECC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>
                <a:solidFill>
                  <a:srgbClr val="64378C"/>
                </a:solidFill>
              </a:rPr>
              <a:t>Rust's Approach to Memory Safety</a:t>
            </a:r>
            <a:endParaRPr lang="en-US" dirty="0">
              <a:solidFill>
                <a:srgbClr val="64378C"/>
              </a:solidFill>
            </a:endParaRPr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409EEEAB-AB18-3E55-D10F-532738FAD426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 algn="ctr"/>
            <a:fld id="{5F85D455-7770-4F98-B944-71C158B4E906}" type="slidenum">
              <a:rPr lang="en-US" smtClean="0"/>
              <a:pPr algn="ctr"/>
              <a:t>10</a:t>
            </a:fld>
            <a:endParaRPr lang="en-US" dirty="0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E66BE5EC-01C8-F3C5-459A-25E75A37725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dirty="0"/>
              <a:t>Memory Safety</a:t>
            </a:r>
          </a:p>
        </p:txBody>
      </p:sp>
      <p:sp>
        <p:nvSpPr>
          <p:cNvPr id="5" name="Inhaltsplatzhalter 4">
            <a:extLst>
              <a:ext uri="{FF2B5EF4-FFF2-40B4-BE49-F238E27FC236}">
                <a16:creationId xmlns:a16="http://schemas.microsoft.com/office/drawing/2014/main" id="{7985C9A8-1C45-9620-E60B-E1B089F2D2B5}"/>
              </a:ext>
            </a:extLst>
          </p:cNvPr>
          <p:cNvSpPr txBox="1">
            <a:spLocks/>
          </p:cNvSpPr>
          <p:nvPr/>
        </p:nvSpPr>
        <p:spPr>
          <a:xfrm>
            <a:off x="1203513" y="941293"/>
            <a:ext cx="9856694" cy="563187"/>
          </a:xfrm>
          <a:prstGeom prst="rect">
            <a:avLst/>
          </a:prstGeom>
        </p:spPr>
        <p:txBody>
          <a:bodyPr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sz="3600" dirty="0"/>
              <a:t>Use After Free</a:t>
            </a:r>
          </a:p>
        </p:txBody>
      </p:sp>
      <p:sp>
        <p:nvSpPr>
          <p:cNvPr id="13" name="Rechteck 12">
            <a:extLst>
              <a:ext uri="{FF2B5EF4-FFF2-40B4-BE49-F238E27FC236}">
                <a16:creationId xmlns:a16="http://schemas.microsoft.com/office/drawing/2014/main" id="{54E6D3BD-7AD0-674E-D1DE-B176D02D50EC}"/>
              </a:ext>
            </a:extLst>
          </p:cNvPr>
          <p:cNvSpPr/>
          <p:nvPr/>
        </p:nvSpPr>
        <p:spPr>
          <a:xfrm>
            <a:off x="7250348" y="2406191"/>
            <a:ext cx="3456562" cy="914400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6" name="Gerade Verbindung mit Pfeil 15">
            <a:extLst>
              <a:ext uri="{FF2B5EF4-FFF2-40B4-BE49-F238E27FC236}">
                <a16:creationId xmlns:a16="http://schemas.microsoft.com/office/drawing/2014/main" id="{504DD964-4055-C82A-5167-9B77BEA5048B}"/>
              </a:ext>
            </a:extLst>
          </p:cNvPr>
          <p:cNvCxnSpPr>
            <a:cxnSpLocks/>
          </p:cNvCxnSpPr>
          <p:nvPr/>
        </p:nvCxnSpPr>
        <p:spPr>
          <a:xfrm>
            <a:off x="7250348" y="2197067"/>
            <a:ext cx="3456562" cy="0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feld 16">
            <a:extLst>
              <a:ext uri="{FF2B5EF4-FFF2-40B4-BE49-F238E27FC236}">
                <a16:creationId xmlns:a16="http://schemas.microsoft.com/office/drawing/2014/main" id="{580367B2-1F70-251E-BE8C-06430EF6065E}"/>
              </a:ext>
            </a:extLst>
          </p:cNvPr>
          <p:cNvSpPr txBox="1"/>
          <p:nvPr/>
        </p:nvSpPr>
        <p:spPr>
          <a:xfrm>
            <a:off x="8187258" y="1803278"/>
            <a:ext cx="158274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Heap Memory</a:t>
            </a:r>
          </a:p>
        </p:txBody>
      </p:sp>
      <p:sp>
        <p:nvSpPr>
          <p:cNvPr id="18" name="Ellipse 17">
            <a:extLst>
              <a:ext uri="{FF2B5EF4-FFF2-40B4-BE49-F238E27FC236}">
                <a16:creationId xmlns:a16="http://schemas.microsoft.com/office/drawing/2014/main" id="{87A8269E-1FBC-D579-BF70-AFE536901F43}"/>
              </a:ext>
            </a:extLst>
          </p:cNvPr>
          <p:cNvSpPr/>
          <p:nvPr/>
        </p:nvSpPr>
        <p:spPr>
          <a:xfrm>
            <a:off x="9141854" y="5075495"/>
            <a:ext cx="1846634" cy="673084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buffer_ptr2</a:t>
            </a:r>
          </a:p>
        </p:txBody>
      </p:sp>
      <p:cxnSp>
        <p:nvCxnSpPr>
          <p:cNvPr id="20" name="Verbinder: gekrümmt 19">
            <a:extLst>
              <a:ext uri="{FF2B5EF4-FFF2-40B4-BE49-F238E27FC236}">
                <a16:creationId xmlns:a16="http://schemas.microsoft.com/office/drawing/2014/main" id="{E8FCA545-42B8-0A69-416C-1426503E77B1}"/>
              </a:ext>
            </a:extLst>
          </p:cNvPr>
          <p:cNvCxnSpPr>
            <a:cxnSpLocks/>
            <a:stCxn id="19" idx="6"/>
          </p:cNvCxnSpPr>
          <p:nvPr/>
        </p:nvCxnSpPr>
        <p:spPr>
          <a:xfrm flipV="1">
            <a:off x="6840166" y="3320591"/>
            <a:ext cx="1130105" cy="1340341"/>
          </a:xfrm>
          <a:prstGeom prst="curvedConnector2">
            <a:avLst/>
          </a:prstGeom>
          <a:ln>
            <a:solidFill>
              <a:schemeClr val="tx1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Verbinder: gekrümmt 20">
            <a:extLst>
              <a:ext uri="{FF2B5EF4-FFF2-40B4-BE49-F238E27FC236}">
                <a16:creationId xmlns:a16="http://schemas.microsoft.com/office/drawing/2014/main" id="{16C91346-BFE5-46CC-4A96-746AE63A3A8B}"/>
              </a:ext>
            </a:extLst>
          </p:cNvPr>
          <p:cNvCxnSpPr>
            <a:cxnSpLocks/>
            <a:stCxn id="18" idx="2"/>
          </p:cNvCxnSpPr>
          <p:nvPr/>
        </p:nvCxnSpPr>
        <p:spPr>
          <a:xfrm rot="10800000">
            <a:off x="8735514" y="3312271"/>
            <a:ext cx="406340" cy="2099767"/>
          </a:xfrm>
          <a:prstGeom prst="curvedConnector2">
            <a:avLst/>
          </a:prstGeom>
          <a:ln>
            <a:solidFill>
              <a:schemeClr val="tx1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echteck 21">
            <a:extLst>
              <a:ext uri="{FF2B5EF4-FFF2-40B4-BE49-F238E27FC236}">
                <a16:creationId xmlns:a16="http://schemas.microsoft.com/office/drawing/2014/main" id="{D0A76C9A-E55F-9387-9282-B5CD130B901F}"/>
              </a:ext>
            </a:extLst>
          </p:cNvPr>
          <p:cNvSpPr/>
          <p:nvPr/>
        </p:nvSpPr>
        <p:spPr>
          <a:xfrm>
            <a:off x="7585952" y="2406191"/>
            <a:ext cx="1530485" cy="914400"/>
          </a:xfrm>
          <a:prstGeom prst="rect">
            <a:avLst/>
          </a:prstGeom>
          <a:pattFill prst="ltUpDiag">
            <a:fgClr>
              <a:srgbClr val="64378C"/>
            </a:fgClr>
            <a:bgClr>
              <a:schemeClr val="bg1"/>
            </a:bgClr>
          </a:patt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chemeClr val="tx1"/>
                </a:solidFill>
              </a:rPr>
              <a:t>sizeof</a:t>
            </a:r>
            <a:r>
              <a:rPr lang="en-US" dirty="0">
                <a:solidFill>
                  <a:schemeClr val="tx1"/>
                </a:solidFill>
              </a:rPr>
              <a:t>(int)</a:t>
            </a:r>
          </a:p>
        </p:txBody>
      </p:sp>
      <p:sp>
        <p:nvSpPr>
          <p:cNvPr id="23" name="Ellipse 22">
            <a:extLst>
              <a:ext uri="{FF2B5EF4-FFF2-40B4-BE49-F238E27FC236}">
                <a16:creationId xmlns:a16="http://schemas.microsoft.com/office/drawing/2014/main" id="{7A4F7373-82B3-C463-1DC2-D2067AEC6B68}"/>
              </a:ext>
            </a:extLst>
          </p:cNvPr>
          <p:cNvSpPr/>
          <p:nvPr/>
        </p:nvSpPr>
        <p:spPr>
          <a:xfrm>
            <a:off x="5558584" y="5498311"/>
            <a:ext cx="1846634" cy="673084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buffer_ptr3</a:t>
            </a:r>
          </a:p>
        </p:txBody>
      </p:sp>
      <p:cxnSp>
        <p:nvCxnSpPr>
          <p:cNvPr id="24" name="Verbinder: gekrümmt 23">
            <a:extLst>
              <a:ext uri="{FF2B5EF4-FFF2-40B4-BE49-F238E27FC236}">
                <a16:creationId xmlns:a16="http://schemas.microsoft.com/office/drawing/2014/main" id="{1E4C5196-4971-4B8B-FD19-D28EC4670E86}"/>
              </a:ext>
            </a:extLst>
          </p:cNvPr>
          <p:cNvCxnSpPr>
            <a:cxnSpLocks/>
            <a:stCxn id="23" idx="6"/>
            <a:endCxn id="22" idx="2"/>
          </p:cNvCxnSpPr>
          <p:nvPr/>
        </p:nvCxnSpPr>
        <p:spPr>
          <a:xfrm flipV="1">
            <a:off x="7405218" y="3320591"/>
            <a:ext cx="945977" cy="2514262"/>
          </a:xfrm>
          <a:prstGeom prst="curvedConnector2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27" name="Grafik 26" descr="Marke 4 Silhouette">
            <a:extLst>
              <a:ext uri="{FF2B5EF4-FFF2-40B4-BE49-F238E27FC236}">
                <a16:creationId xmlns:a16="http://schemas.microsoft.com/office/drawing/2014/main" id="{3C17A492-49C9-2B19-BFA2-9AA4E2A367F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536611" y="5820512"/>
            <a:ext cx="305740" cy="305740"/>
          </a:xfrm>
          <a:prstGeom prst="rect">
            <a:avLst/>
          </a:prstGeom>
        </p:spPr>
      </p:pic>
      <p:sp>
        <p:nvSpPr>
          <p:cNvPr id="28" name="Textfeld 27">
            <a:extLst>
              <a:ext uri="{FF2B5EF4-FFF2-40B4-BE49-F238E27FC236}">
                <a16:creationId xmlns:a16="http://schemas.microsoft.com/office/drawing/2014/main" id="{B868ACDB-7330-3AC3-6C54-02BC55BB1815}"/>
              </a:ext>
            </a:extLst>
          </p:cNvPr>
          <p:cNvSpPr txBox="1"/>
          <p:nvPr/>
        </p:nvSpPr>
        <p:spPr>
          <a:xfrm>
            <a:off x="7754454" y="5788716"/>
            <a:ext cx="232358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Allocate Memory Unit</a:t>
            </a:r>
          </a:p>
        </p:txBody>
      </p:sp>
      <p:pic>
        <p:nvPicPr>
          <p:cNvPr id="29" name="Grafik 28">
            <a:extLst>
              <a:ext uri="{FF2B5EF4-FFF2-40B4-BE49-F238E27FC236}">
                <a16:creationId xmlns:a16="http://schemas.microsoft.com/office/drawing/2014/main" id="{9F1DD015-ABB5-4D82-C1F4-6897586A4F3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98067" y="1456196"/>
            <a:ext cx="4562475" cy="4162425"/>
          </a:xfrm>
          <a:prstGeom prst="rect">
            <a:avLst/>
          </a:prstGeom>
        </p:spPr>
      </p:pic>
      <p:sp>
        <p:nvSpPr>
          <p:cNvPr id="30" name="Rechteck 29">
            <a:extLst>
              <a:ext uri="{FF2B5EF4-FFF2-40B4-BE49-F238E27FC236}">
                <a16:creationId xmlns:a16="http://schemas.microsoft.com/office/drawing/2014/main" id="{BEE7950F-560B-55F6-DD0B-28F533170BC5}"/>
              </a:ext>
            </a:extLst>
          </p:cNvPr>
          <p:cNvSpPr/>
          <p:nvPr/>
        </p:nvSpPr>
        <p:spPr>
          <a:xfrm>
            <a:off x="1203512" y="4183873"/>
            <a:ext cx="3790019" cy="921526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Ellipse 18">
            <a:extLst>
              <a:ext uri="{FF2B5EF4-FFF2-40B4-BE49-F238E27FC236}">
                <a16:creationId xmlns:a16="http://schemas.microsoft.com/office/drawing/2014/main" id="{66365615-67F7-6BB6-1FC7-56E341C251F6}"/>
              </a:ext>
            </a:extLst>
          </p:cNvPr>
          <p:cNvSpPr/>
          <p:nvPr/>
        </p:nvSpPr>
        <p:spPr>
          <a:xfrm>
            <a:off x="4993532" y="4324390"/>
            <a:ext cx="1846634" cy="673084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buffer_ptr1</a:t>
            </a:r>
          </a:p>
        </p:txBody>
      </p:sp>
      <p:sp>
        <p:nvSpPr>
          <p:cNvPr id="31" name="Rechteck: abgerundete Ecken 30">
            <a:extLst>
              <a:ext uri="{FF2B5EF4-FFF2-40B4-BE49-F238E27FC236}">
                <a16:creationId xmlns:a16="http://schemas.microsoft.com/office/drawing/2014/main" id="{F5DBD063-FC55-0C6D-A10D-F2C62E05A7BA}"/>
              </a:ext>
            </a:extLst>
          </p:cNvPr>
          <p:cNvSpPr/>
          <p:nvPr/>
        </p:nvSpPr>
        <p:spPr>
          <a:xfrm>
            <a:off x="1374889" y="4005105"/>
            <a:ext cx="3618642" cy="192118"/>
          </a:xfrm>
          <a:prstGeom prst="roundRect">
            <a:avLst/>
          </a:prstGeom>
          <a:noFill/>
          <a:ln w="95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2" name="Gerade Verbindung mit Pfeil 31">
            <a:extLst>
              <a:ext uri="{FF2B5EF4-FFF2-40B4-BE49-F238E27FC236}">
                <a16:creationId xmlns:a16="http://schemas.microsoft.com/office/drawing/2014/main" id="{9404F40F-1158-7BFF-F5C8-6F7D47C61DC7}"/>
              </a:ext>
            </a:extLst>
          </p:cNvPr>
          <p:cNvCxnSpPr>
            <a:cxnSpLocks/>
            <a:endCxn id="31" idx="1"/>
          </p:cNvCxnSpPr>
          <p:nvPr/>
        </p:nvCxnSpPr>
        <p:spPr>
          <a:xfrm>
            <a:off x="1144306" y="4101164"/>
            <a:ext cx="230583" cy="0"/>
          </a:xfrm>
          <a:prstGeom prst="straightConnector1">
            <a:avLst/>
          </a:prstGeom>
          <a:ln w="12700">
            <a:solidFill>
              <a:schemeClr val="tx1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6257361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32A586-079C-C971-51F1-DFCE7EB72F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ußzeilenplatzhalter 1">
            <a:extLst>
              <a:ext uri="{FF2B5EF4-FFF2-40B4-BE49-F238E27FC236}">
                <a16:creationId xmlns:a16="http://schemas.microsoft.com/office/drawing/2014/main" id="{4694A8C0-AD69-D216-2260-35FFB5858A44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>
                <a:solidFill>
                  <a:srgbClr val="64378C"/>
                </a:solidFill>
              </a:rPr>
              <a:t>Rust's Approach to Memory Safety</a:t>
            </a:r>
            <a:endParaRPr lang="en-US" dirty="0">
              <a:solidFill>
                <a:srgbClr val="64378C"/>
              </a:solidFill>
            </a:endParaRPr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7C95E4E0-3BF7-E0C3-9386-24A8D6575786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 algn="ctr"/>
            <a:fld id="{5F85D455-7770-4F98-B944-71C158B4E906}" type="slidenum">
              <a:rPr lang="en-US" smtClean="0"/>
              <a:pPr algn="ctr"/>
              <a:t>11</a:t>
            </a:fld>
            <a:endParaRPr lang="en-US" dirty="0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9FB4B5FC-A927-5BF4-656B-44F663B8655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dirty="0"/>
              <a:t>Memory Safety</a:t>
            </a:r>
          </a:p>
        </p:txBody>
      </p:sp>
      <p:sp>
        <p:nvSpPr>
          <p:cNvPr id="5" name="Inhaltsplatzhalter 4">
            <a:extLst>
              <a:ext uri="{FF2B5EF4-FFF2-40B4-BE49-F238E27FC236}">
                <a16:creationId xmlns:a16="http://schemas.microsoft.com/office/drawing/2014/main" id="{C7E871D1-F038-2516-69C3-93F7E2B97CA1}"/>
              </a:ext>
            </a:extLst>
          </p:cNvPr>
          <p:cNvSpPr txBox="1">
            <a:spLocks/>
          </p:cNvSpPr>
          <p:nvPr/>
        </p:nvSpPr>
        <p:spPr>
          <a:xfrm>
            <a:off x="1203513" y="941293"/>
            <a:ext cx="9856694" cy="563187"/>
          </a:xfrm>
          <a:prstGeom prst="rect">
            <a:avLst/>
          </a:prstGeom>
        </p:spPr>
        <p:txBody>
          <a:bodyPr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sz="3600" dirty="0"/>
              <a:t>Use After Free</a:t>
            </a:r>
          </a:p>
        </p:txBody>
      </p:sp>
      <p:sp>
        <p:nvSpPr>
          <p:cNvPr id="13" name="Rechteck 12">
            <a:extLst>
              <a:ext uri="{FF2B5EF4-FFF2-40B4-BE49-F238E27FC236}">
                <a16:creationId xmlns:a16="http://schemas.microsoft.com/office/drawing/2014/main" id="{875C63A2-098C-4989-9E38-C849908F50B2}"/>
              </a:ext>
            </a:extLst>
          </p:cNvPr>
          <p:cNvSpPr/>
          <p:nvPr/>
        </p:nvSpPr>
        <p:spPr>
          <a:xfrm>
            <a:off x="7250348" y="2406191"/>
            <a:ext cx="3456562" cy="914400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6" name="Gerade Verbindung mit Pfeil 15">
            <a:extLst>
              <a:ext uri="{FF2B5EF4-FFF2-40B4-BE49-F238E27FC236}">
                <a16:creationId xmlns:a16="http://schemas.microsoft.com/office/drawing/2014/main" id="{2F507402-5359-22AF-26DE-947B412865DF}"/>
              </a:ext>
            </a:extLst>
          </p:cNvPr>
          <p:cNvCxnSpPr>
            <a:cxnSpLocks/>
          </p:cNvCxnSpPr>
          <p:nvPr/>
        </p:nvCxnSpPr>
        <p:spPr>
          <a:xfrm>
            <a:off x="7250348" y="2197067"/>
            <a:ext cx="3456562" cy="0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feld 16">
            <a:extLst>
              <a:ext uri="{FF2B5EF4-FFF2-40B4-BE49-F238E27FC236}">
                <a16:creationId xmlns:a16="http://schemas.microsoft.com/office/drawing/2014/main" id="{801B8F3B-53DE-5E21-5086-B5BAD54BF948}"/>
              </a:ext>
            </a:extLst>
          </p:cNvPr>
          <p:cNvSpPr txBox="1"/>
          <p:nvPr/>
        </p:nvSpPr>
        <p:spPr>
          <a:xfrm>
            <a:off x="8187258" y="1803278"/>
            <a:ext cx="158274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Heap Memory</a:t>
            </a:r>
          </a:p>
        </p:txBody>
      </p:sp>
      <p:sp>
        <p:nvSpPr>
          <p:cNvPr id="18" name="Ellipse 17">
            <a:extLst>
              <a:ext uri="{FF2B5EF4-FFF2-40B4-BE49-F238E27FC236}">
                <a16:creationId xmlns:a16="http://schemas.microsoft.com/office/drawing/2014/main" id="{2E588C64-36F4-6352-107C-740320384DB7}"/>
              </a:ext>
            </a:extLst>
          </p:cNvPr>
          <p:cNvSpPr/>
          <p:nvPr/>
        </p:nvSpPr>
        <p:spPr>
          <a:xfrm>
            <a:off x="9141854" y="5075495"/>
            <a:ext cx="1846634" cy="673084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buffer_ptr2</a:t>
            </a:r>
          </a:p>
        </p:txBody>
      </p:sp>
      <p:cxnSp>
        <p:nvCxnSpPr>
          <p:cNvPr id="20" name="Verbinder: gekrümmt 19">
            <a:extLst>
              <a:ext uri="{FF2B5EF4-FFF2-40B4-BE49-F238E27FC236}">
                <a16:creationId xmlns:a16="http://schemas.microsoft.com/office/drawing/2014/main" id="{2B823A9C-B4D5-DACC-08EA-EF018D873E0B}"/>
              </a:ext>
            </a:extLst>
          </p:cNvPr>
          <p:cNvCxnSpPr>
            <a:cxnSpLocks/>
            <a:stCxn id="19" idx="6"/>
          </p:cNvCxnSpPr>
          <p:nvPr/>
        </p:nvCxnSpPr>
        <p:spPr>
          <a:xfrm flipV="1">
            <a:off x="6840166" y="3320591"/>
            <a:ext cx="1130105" cy="1340341"/>
          </a:xfrm>
          <a:prstGeom prst="curvedConnector2">
            <a:avLst/>
          </a:prstGeom>
          <a:ln>
            <a:solidFill>
              <a:schemeClr val="tx1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Verbinder: gekrümmt 20">
            <a:extLst>
              <a:ext uri="{FF2B5EF4-FFF2-40B4-BE49-F238E27FC236}">
                <a16:creationId xmlns:a16="http://schemas.microsoft.com/office/drawing/2014/main" id="{DCDB94DE-4AEA-1AAE-BA34-5E78525E1B1E}"/>
              </a:ext>
            </a:extLst>
          </p:cNvPr>
          <p:cNvCxnSpPr>
            <a:cxnSpLocks/>
            <a:stCxn id="18" idx="2"/>
          </p:cNvCxnSpPr>
          <p:nvPr/>
        </p:nvCxnSpPr>
        <p:spPr>
          <a:xfrm rot="10800000">
            <a:off x="8735514" y="3312271"/>
            <a:ext cx="406340" cy="2099767"/>
          </a:xfrm>
          <a:prstGeom prst="curvedConnector2">
            <a:avLst/>
          </a:prstGeom>
          <a:ln>
            <a:solidFill>
              <a:schemeClr val="tx1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Ellipse 22">
            <a:extLst>
              <a:ext uri="{FF2B5EF4-FFF2-40B4-BE49-F238E27FC236}">
                <a16:creationId xmlns:a16="http://schemas.microsoft.com/office/drawing/2014/main" id="{C50D1623-9346-3159-A8A3-AECB55AB1201}"/>
              </a:ext>
            </a:extLst>
          </p:cNvPr>
          <p:cNvSpPr/>
          <p:nvPr/>
        </p:nvSpPr>
        <p:spPr>
          <a:xfrm>
            <a:off x="5558584" y="5498311"/>
            <a:ext cx="1846634" cy="673084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buffer_ptr3</a:t>
            </a:r>
          </a:p>
        </p:txBody>
      </p:sp>
      <p:cxnSp>
        <p:nvCxnSpPr>
          <p:cNvPr id="24" name="Verbinder: gekrümmt 23">
            <a:extLst>
              <a:ext uri="{FF2B5EF4-FFF2-40B4-BE49-F238E27FC236}">
                <a16:creationId xmlns:a16="http://schemas.microsoft.com/office/drawing/2014/main" id="{59168FFE-7217-721C-85B3-8335B2AD6738}"/>
              </a:ext>
            </a:extLst>
          </p:cNvPr>
          <p:cNvCxnSpPr>
            <a:cxnSpLocks/>
            <a:stCxn id="23" idx="6"/>
          </p:cNvCxnSpPr>
          <p:nvPr/>
        </p:nvCxnSpPr>
        <p:spPr>
          <a:xfrm flipV="1">
            <a:off x="7405218" y="3320591"/>
            <a:ext cx="945977" cy="2514262"/>
          </a:xfrm>
          <a:prstGeom prst="curvedConnector2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feld 27">
            <a:extLst>
              <a:ext uri="{FF2B5EF4-FFF2-40B4-BE49-F238E27FC236}">
                <a16:creationId xmlns:a16="http://schemas.microsoft.com/office/drawing/2014/main" id="{BF9C7B30-7925-1557-8861-141428CF189E}"/>
              </a:ext>
            </a:extLst>
          </p:cNvPr>
          <p:cNvSpPr txBox="1"/>
          <p:nvPr/>
        </p:nvSpPr>
        <p:spPr>
          <a:xfrm>
            <a:off x="7754454" y="5788716"/>
            <a:ext cx="23310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Initialize Memory Unit</a:t>
            </a:r>
          </a:p>
        </p:txBody>
      </p:sp>
      <p:pic>
        <p:nvPicPr>
          <p:cNvPr id="29" name="Grafik 28">
            <a:extLst>
              <a:ext uri="{FF2B5EF4-FFF2-40B4-BE49-F238E27FC236}">
                <a16:creationId xmlns:a16="http://schemas.microsoft.com/office/drawing/2014/main" id="{F4D9C867-B679-27DB-3E1A-9E1FB79D6FD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98067" y="1456196"/>
            <a:ext cx="4562475" cy="4162425"/>
          </a:xfrm>
          <a:prstGeom prst="rect">
            <a:avLst/>
          </a:prstGeom>
        </p:spPr>
      </p:pic>
      <p:sp>
        <p:nvSpPr>
          <p:cNvPr id="30" name="Rechteck 29">
            <a:extLst>
              <a:ext uri="{FF2B5EF4-FFF2-40B4-BE49-F238E27FC236}">
                <a16:creationId xmlns:a16="http://schemas.microsoft.com/office/drawing/2014/main" id="{C306E47E-6956-DADD-40C5-0F47B81BBD25}"/>
              </a:ext>
            </a:extLst>
          </p:cNvPr>
          <p:cNvSpPr/>
          <p:nvPr/>
        </p:nvSpPr>
        <p:spPr>
          <a:xfrm>
            <a:off x="1203512" y="4381227"/>
            <a:ext cx="3790019" cy="724172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Ellipse 18">
            <a:extLst>
              <a:ext uri="{FF2B5EF4-FFF2-40B4-BE49-F238E27FC236}">
                <a16:creationId xmlns:a16="http://schemas.microsoft.com/office/drawing/2014/main" id="{7E2D17B8-AD1A-A97C-514F-1DBC3639B83C}"/>
              </a:ext>
            </a:extLst>
          </p:cNvPr>
          <p:cNvSpPr/>
          <p:nvPr/>
        </p:nvSpPr>
        <p:spPr>
          <a:xfrm>
            <a:off x="4993532" y="4324390"/>
            <a:ext cx="1846634" cy="673084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buffer_ptr1</a:t>
            </a:r>
          </a:p>
        </p:txBody>
      </p:sp>
      <p:pic>
        <p:nvPicPr>
          <p:cNvPr id="12" name="Grafik 11" descr="Marke 5 Silhouette">
            <a:extLst>
              <a:ext uri="{FF2B5EF4-FFF2-40B4-BE49-F238E27FC236}">
                <a16:creationId xmlns:a16="http://schemas.microsoft.com/office/drawing/2014/main" id="{FE364C65-015F-4DF2-7AB2-A81BF710F17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560088" y="5820512"/>
            <a:ext cx="305740" cy="305740"/>
          </a:xfrm>
          <a:prstGeom prst="rect">
            <a:avLst/>
          </a:prstGeom>
        </p:spPr>
      </p:pic>
      <p:sp>
        <p:nvSpPr>
          <p:cNvPr id="15" name="Rechteck: abgerundete Ecken 14">
            <a:extLst>
              <a:ext uri="{FF2B5EF4-FFF2-40B4-BE49-F238E27FC236}">
                <a16:creationId xmlns:a16="http://schemas.microsoft.com/office/drawing/2014/main" id="{D8DD489B-D074-EDEC-F3C0-F99B20B24B88}"/>
              </a:ext>
            </a:extLst>
          </p:cNvPr>
          <p:cNvSpPr/>
          <p:nvPr/>
        </p:nvSpPr>
        <p:spPr>
          <a:xfrm>
            <a:off x="1374889" y="4182720"/>
            <a:ext cx="2053587" cy="192118"/>
          </a:xfrm>
          <a:prstGeom prst="roundRect">
            <a:avLst/>
          </a:prstGeom>
          <a:noFill/>
          <a:ln w="95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5" name="Gerade Verbindung mit Pfeil 24">
            <a:extLst>
              <a:ext uri="{FF2B5EF4-FFF2-40B4-BE49-F238E27FC236}">
                <a16:creationId xmlns:a16="http://schemas.microsoft.com/office/drawing/2014/main" id="{029DD77F-A9BF-2C8F-E2C7-6A8DE1E477FD}"/>
              </a:ext>
            </a:extLst>
          </p:cNvPr>
          <p:cNvCxnSpPr>
            <a:cxnSpLocks/>
            <a:endCxn id="15" idx="1"/>
          </p:cNvCxnSpPr>
          <p:nvPr/>
        </p:nvCxnSpPr>
        <p:spPr>
          <a:xfrm>
            <a:off x="1144306" y="4278779"/>
            <a:ext cx="230583" cy="0"/>
          </a:xfrm>
          <a:prstGeom prst="straightConnector1">
            <a:avLst/>
          </a:prstGeom>
          <a:ln w="12700">
            <a:solidFill>
              <a:schemeClr val="tx1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echteck 6">
            <a:extLst>
              <a:ext uri="{FF2B5EF4-FFF2-40B4-BE49-F238E27FC236}">
                <a16:creationId xmlns:a16="http://schemas.microsoft.com/office/drawing/2014/main" id="{03335E0A-651C-FA6D-ABF8-317FFC20E99C}"/>
              </a:ext>
            </a:extLst>
          </p:cNvPr>
          <p:cNvSpPr/>
          <p:nvPr/>
        </p:nvSpPr>
        <p:spPr>
          <a:xfrm>
            <a:off x="7585952" y="2406191"/>
            <a:ext cx="1530485" cy="914400"/>
          </a:xfrm>
          <a:prstGeom prst="rect">
            <a:avLst/>
          </a:prstGeom>
          <a:solidFill>
            <a:srgbClr val="64378C">
              <a:alpha val="80000"/>
            </a:srgbClr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42</a:t>
            </a:r>
          </a:p>
        </p:txBody>
      </p:sp>
    </p:spTree>
    <p:extLst>
      <p:ext uri="{BB962C8B-B14F-4D97-AF65-F5344CB8AC3E}">
        <p14:creationId xmlns:p14="http://schemas.microsoft.com/office/powerpoint/2010/main" val="104077021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0230E7-CF46-2CFF-BAB1-3973119B3C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ußzeilenplatzhalter 1">
            <a:extLst>
              <a:ext uri="{FF2B5EF4-FFF2-40B4-BE49-F238E27FC236}">
                <a16:creationId xmlns:a16="http://schemas.microsoft.com/office/drawing/2014/main" id="{68F0DB46-E4B1-BE3F-2840-52C894026474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>
                <a:solidFill>
                  <a:srgbClr val="64378C"/>
                </a:solidFill>
              </a:rPr>
              <a:t>Rust's Approach to Memory Safety</a:t>
            </a:r>
            <a:endParaRPr lang="en-US" dirty="0">
              <a:solidFill>
                <a:srgbClr val="64378C"/>
              </a:solidFill>
            </a:endParaRPr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CF40070A-A078-2293-834B-EB7181085CFC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 algn="ctr"/>
            <a:fld id="{5F85D455-7770-4F98-B944-71C158B4E906}" type="slidenum">
              <a:rPr lang="en-US" smtClean="0"/>
              <a:pPr algn="ctr"/>
              <a:t>12</a:t>
            </a:fld>
            <a:endParaRPr lang="en-US" dirty="0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70C576B2-AF87-1FB9-586D-BC5B773309B6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dirty="0"/>
              <a:t>Memory Safety</a:t>
            </a:r>
          </a:p>
        </p:txBody>
      </p:sp>
      <p:sp>
        <p:nvSpPr>
          <p:cNvPr id="5" name="Inhaltsplatzhalter 4">
            <a:extLst>
              <a:ext uri="{FF2B5EF4-FFF2-40B4-BE49-F238E27FC236}">
                <a16:creationId xmlns:a16="http://schemas.microsoft.com/office/drawing/2014/main" id="{37CA1FB7-3E95-0C94-D1DF-F25E7945C194}"/>
              </a:ext>
            </a:extLst>
          </p:cNvPr>
          <p:cNvSpPr txBox="1">
            <a:spLocks/>
          </p:cNvSpPr>
          <p:nvPr/>
        </p:nvSpPr>
        <p:spPr>
          <a:xfrm>
            <a:off x="1203513" y="941293"/>
            <a:ext cx="9856694" cy="563187"/>
          </a:xfrm>
          <a:prstGeom prst="rect">
            <a:avLst/>
          </a:prstGeom>
        </p:spPr>
        <p:txBody>
          <a:bodyPr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sz="3600" dirty="0"/>
              <a:t>Use After Free</a:t>
            </a:r>
          </a:p>
        </p:txBody>
      </p:sp>
      <p:sp>
        <p:nvSpPr>
          <p:cNvPr id="13" name="Rechteck 12">
            <a:extLst>
              <a:ext uri="{FF2B5EF4-FFF2-40B4-BE49-F238E27FC236}">
                <a16:creationId xmlns:a16="http://schemas.microsoft.com/office/drawing/2014/main" id="{DAC301F6-97AC-3BD9-5F09-71FDD53F7BFF}"/>
              </a:ext>
            </a:extLst>
          </p:cNvPr>
          <p:cNvSpPr/>
          <p:nvPr/>
        </p:nvSpPr>
        <p:spPr>
          <a:xfrm>
            <a:off x="7250348" y="2406191"/>
            <a:ext cx="3456562" cy="914400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6" name="Gerade Verbindung mit Pfeil 15">
            <a:extLst>
              <a:ext uri="{FF2B5EF4-FFF2-40B4-BE49-F238E27FC236}">
                <a16:creationId xmlns:a16="http://schemas.microsoft.com/office/drawing/2014/main" id="{27EDADDB-A015-4B95-77F4-C61E619F7278}"/>
              </a:ext>
            </a:extLst>
          </p:cNvPr>
          <p:cNvCxnSpPr>
            <a:cxnSpLocks/>
          </p:cNvCxnSpPr>
          <p:nvPr/>
        </p:nvCxnSpPr>
        <p:spPr>
          <a:xfrm>
            <a:off x="7250348" y="2197067"/>
            <a:ext cx="3456562" cy="0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feld 16">
            <a:extLst>
              <a:ext uri="{FF2B5EF4-FFF2-40B4-BE49-F238E27FC236}">
                <a16:creationId xmlns:a16="http://schemas.microsoft.com/office/drawing/2014/main" id="{FDF50D20-110D-A77A-3650-526BCAF703F3}"/>
              </a:ext>
            </a:extLst>
          </p:cNvPr>
          <p:cNvSpPr txBox="1"/>
          <p:nvPr/>
        </p:nvSpPr>
        <p:spPr>
          <a:xfrm>
            <a:off x="8187258" y="1803278"/>
            <a:ext cx="158274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Heap Memory</a:t>
            </a:r>
          </a:p>
        </p:txBody>
      </p:sp>
      <p:sp>
        <p:nvSpPr>
          <p:cNvPr id="18" name="Ellipse 17">
            <a:extLst>
              <a:ext uri="{FF2B5EF4-FFF2-40B4-BE49-F238E27FC236}">
                <a16:creationId xmlns:a16="http://schemas.microsoft.com/office/drawing/2014/main" id="{B1D3D365-59EF-E7FA-2C8B-B1D094E3B6CB}"/>
              </a:ext>
            </a:extLst>
          </p:cNvPr>
          <p:cNvSpPr/>
          <p:nvPr/>
        </p:nvSpPr>
        <p:spPr>
          <a:xfrm>
            <a:off x="9141854" y="5075495"/>
            <a:ext cx="1846634" cy="673084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buffer_ptr2</a:t>
            </a:r>
          </a:p>
        </p:txBody>
      </p:sp>
      <p:cxnSp>
        <p:nvCxnSpPr>
          <p:cNvPr id="20" name="Verbinder: gekrümmt 19">
            <a:extLst>
              <a:ext uri="{FF2B5EF4-FFF2-40B4-BE49-F238E27FC236}">
                <a16:creationId xmlns:a16="http://schemas.microsoft.com/office/drawing/2014/main" id="{77154F65-24E2-4EC4-F9E3-F448D3C25AAC}"/>
              </a:ext>
            </a:extLst>
          </p:cNvPr>
          <p:cNvCxnSpPr>
            <a:cxnSpLocks/>
            <a:stCxn id="19" idx="6"/>
          </p:cNvCxnSpPr>
          <p:nvPr/>
        </p:nvCxnSpPr>
        <p:spPr>
          <a:xfrm flipV="1">
            <a:off x="6840166" y="3320591"/>
            <a:ext cx="1130105" cy="1340341"/>
          </a:xfrm>
          <a:prstGeom prst="curvedConnector2">
            <a:avLst/>
          </a:prstGeom>
          <a:ln>
            <a:solidFill>
              <a:schemeClr val="tx1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Verbinder: gekrümmt 20">
            <a:extLst>
              <a:ext uri="{FF2B5EF4-FFF2-40B4-BE49-F238E27FC236}">
                <a16:creationId xmlns:a16="http://schemas.microsoft.com/office/drawing/2014/main" id="{70A37690-EEB0-F368-4E17-87B4FC226FF6}"/>
              </a:ext>
            </a:extLst>
          </p:cNvPr>
          <p:cNvCxnSpPr>
            <a:cxnSpLocks/>
            <a:stCxn id="18" idx="2"/>
          </p:cNvCxnSpPr>
          <p:nvPr/>
        </p:nvCxnSpPr>
        <p:spPr>
          <a:xfrm rot="10800000">
            <a:off x="8735514" y="3312271"/>
            <a:ext cx="406340" cy="2099767"/>
          </a:xfrm>
          <a:prstGeom prst="curvedConnector2">
            <a:avLst/>
          </a:prstGeom>
          <a:ln>
            <a:solidFill>
              <a:schemeClr val="tx1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Ellipse 22">
            <a:extLst>
              <a:ext uri="{FF2B5EF4-FFF2-40B4-BE49-F238E27FC236}">
                <a16:creationId xmlns:a16="http://schemas.microsoft.com/office/drawing/2014/main" id="{A688C07E-2631-EBF9-AE9E-D8E3494C0ED1}"/>
              </a:ext>
            </a:extLst>
          </p:cNvPr>
          <p:cNvSpPr/>
          <p:nvPr/>
        </p:nvSpPr>
        <p:spPr>
          <a:xfrm>
            <a:off x="5558584" y="5498311"/>
            <a:ext cx="1846634" cy="673084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buffer_ptr3</a:t>
            </a:r>
          </a:p>
        </p:txBody>
      </p:sp>
      <p:cxnSp>
        <p:nvCxnSpPr>
          <p:cNvPr id="24" name="Verbinder: gekrümmt 23">
            <a:extLst>
              <a:ext uri="{FF2B5EF4-FFF2-40B4-BE49-F238E27FC236}">
                <a16:creationId xmlns:a16="http://schemas.microsoft.com/office/drawing/2014/main" id="{25C1E508-7E70-C02B-296E-E81674BB504F}"/>
              </a:ext>
            </a:extLst>
          </p:cNvPr>
          <p:cNvCxnSpPr>
            <a:cxnSpLocks/>
            <a:stCxn id="23" idx="6"/>
          </p:cNvCxnSpPr>
          <p:nvPr/>
        </p:nvCxnSpPr>
        <p:spPr>
          <a:xfrm flipV="1">
            <a:off x="7405218" y="3320591"/>
            <a:ext cx="945977" cy="2514262"/>
          </a:xfrm>
          <a:prstGeom prst="curvedConnector2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feld 27">
            <a:extLst>
              <a:ext uri="{FF2B5EF4-FFF2-40B4-BE49-F238E27FC236}">
                <a16:creationId xmlns:a16="http://schemas.microsoft.com/office/drawing/2014/main" id="{6C0C1359-E227-CF41-2AB7-466A0C1B205B}"/>
              </a:ext>
            </a:extLst>
          </p:cNvPr>
          <p:cNvSpPr txBox="1"/>
          <p:nvPr/>
        </p:nvSpPr>
        <p:spPr>
          <a:xfrm>
            <a:off x="9054959" y="3906271"/>
            <a:ext cx="202042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Access previously </a:t>
            </a:r>
          </a:p>
          <a:p>
            <a:r>
              <a:rPr lang="en-US" dirty="0"/>
              <a:t>freed Memory Unit</a:t>
            </a:r>
          </a:p>
        </p:txBody>
      </p:sp>
      <p:pic>
        <p:nvPicPr>
          <p:cNvPr id="29" name="Grafik 28">
            <a:extLst>
              <a:ext uri="{FF2B5EF4-FFF2-40B4-BE49-F238E27FC236}">
                <a16:creationId xmlns:a16="http://schemas.microsoft.com/office/drawing/2014/main" id="{BEC4D6A2-5AF0-5B88-37FC-669253BB0CB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98067" y="1456196"/>
            <a:ext cx="4562475" cy="4162425"/>
          </a:xfrm>
          <a:prstGeom prst="rect">
            <a:avLst/>
          </a:prstGeom>
        </p:spPr>
      </p:pic>
      <p:sp>
        <p:nvSpPr>
          <p:cNvPr id="19" name="Ellipse 18">
            <a:extLst>
              <a:ext uri="{FF2B5EF4-FFF2-40B4-BE49-F238E27FC236}">
                <a16:creationId xmlns:a16="http://schemas.microsoft.com/office/drawing/2014/main" id="{EE9BAE28-1B73-3251-4217-91B83EA646E1}"/>
              </a:ext>
            </a:extLst>
          </p:cNvPr>
          <p:cNvSpPr/>
          <p:nvPr/>
        </p:nvSpPr>
        <p:spPr>
          <a:xfrm>
            <a:off x="4993532" y="4324390"/>
            <a:ext cx="1846634" cy="673084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buffer_ptr1</a:t>
            </a:r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5AAC0C49-6D3F-A5DF-EDCC-A4DCE4D4205A}"/>
              </a:ext>
            </a:extLst>
          </p:cNvPr>
          <p:cNvSpPr/>
          <p:nvPr/>
        </p:nvSpPr>
        <p:spPr>
          <a:xfrm>
            <a:off x="7585952" y="2406191"/>
            <a:ext cx="1530485" cy="914400"/>
          </a:xfrm>
          <a:prstGeom prst="rect">
            <a:avLst/>
          </a:prstGeom>
          <a:solidFill>
            <a:srgbClr val="64378C">
              <a:alpha val="80000"/>
            </a:srgbClr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42</a:t>
            </a:r>
          </a:p>
        </p:txBody>
      </p:sp>
      <p:pic>
        <p:nvPicPr>
          <p:cNvPr id="14" name="Grafik 13" descr="Marke 6 Silhouette">
            <a:extLst>
              <a:ext uri="{FF2B5EF4-FFF2-40B4-BE49-F238E27FC236}">
                <a16:creationId xmlns:a16="http://schemas.microsoft.com/office/drawing/2014/main" id="{90FBA145-8A54-B802-A4D8-0191FBA2625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825628" y="4073671"/>
            <a:ext cx="306000" cy="306000"/>
          </a:xfrm>
          <a:prstGeom prst="rect">
            <a:avLst/>
          </a:prstGeom>
        </p:spPr>
      </p:pic>
      <p:pic>
        <p:nvPicPr>
          <p:cNvPr id="9" name="Grafik 8" descr="Blitz Silhouette">
            <a:extLst>
              <a:ext uri="{FF2B5EF4-FFF2-40B4-BE49-F238E27FC236}">
                <a16:creationId xmlns:a16="http://schemas.microsoft.com/office/drawing/2014/main" id="{C8F7908F-2876-7E4E-494D-8545749B840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4053626" y="4478369"/>
            <a:ext cx="365125" cy="365125"/>
          </a:xfrm>
          <a:prstGeom prst="rect">
            <a:avLst/>
          </a:prstGeom>
          <a:effectLst>
            <a:outerShdw blurRad="50800" dist="50800" dir="5400000" algn="ctr" rotWithShape="0">
              <a:srgbClr val="FF0000"/>
            </a:outerShdw>
          </a:effectLst>
        </p:spPr>
      </p:pic>
      <p:pic>
        <p:nvPicPr>
          <p:cNvPr id="10" name="Grafik 9" descr="Blitz Silhouette">
            <a:extLst>
              <a:ext uri="{FF2B5EF4-FFF2-40B4-BE49-F238E27FC236}">
                <a16:creationId xmlns:a16="http://schemas.microsoft.com/office/drawing/2014/main" id="{56A68814-B05A-F951-D3C9-B4BCE95ED97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0988488" y="4073671"/>
            <a:ext cx="365125" cy="365125"/>
          </a:xfrm>
          <a:prstGeom prst="rect">
            <a:avLst/>
          </a:prstGeom>
          <a:effectLst>
            <a:outerShdw blurRad="50800" dist="50800" dir="5400000" algn="ctr" rotWithShape="0">
              <a:srgbClr val="FF0000"/>
            </a:outerShdw>
          </a:effectLst>
        </p:spPr>
      </p:pic>
      <p:sp>
        <p:nvSpPr>
          <p:cNvPr id="12" name="Rechteck: abgerundete Ecken 11">
            <a:extLst>
              <a:ext uri="{FF2B5EF4-FFF2-40B4-BE49-F238E27FC236}">
                <a16:creationId xmlns:a16="http://schemas.microsoft.com/office/drawing/2014/main" id="{956AFEF0-6FF7-DA4A-F006-346B88638754}"/>
              </a:ext>
            </a:extLst>
          </p:cNvPr>
          <p:cNvSpPr/>
          <p:nvPr/>
        </p:nvSpPr>
        <p:spPr>
          <a:xfrm>
            <a:off x="1374889" y="4551108"/>
            <a:ext cx="2732878" cy="192118"/>
          </a:xfrm>
          <a:prstGeom prst="roundRect">
            <a:avLst/>
          </a:prstGeom>
          <a:noFill/>
          <a:ln w="95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5" name="Gerade Verbindung mit Pfeil 14">
            <a:extLst>
              <a:ext uri="{FF2B5EF4-FFF2-40B4-BE49-F238E27FC236}">
                <a16:creationId xmlns:a16="http://schemas.microsoft.com/office/drawing/2014/main" id="{3C687C1F-D938-7296-CD20-B53748C871DD}"/>
              </a:ext>
            </a:extLst>
          </p:cNvPr>
          <p:cNvCxnSpPr>
            <a:cxnSpLocks/>
            <a:endCxn id="12" idx="1"/>
          </p:cNvCxnSpPr>
          <p:nvPr/>
        </p:nvCxnSpPr>
        <p:spPr>
          <a:xfrm>
            <a:off x="1144306" y="4647167"/>
            <a:ext cx="230583" cy="0"/>
          </a:xfrm>
          <a:prstGeom prst="straightConnector1">
            <a:avLst/>
          </a:prstGeom>
          <a:ln w="12700">
            <a:solidFill>
              <a:schemeClr val="tx1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echteck: abgerundete Ecken 10">
            <a:extLst>
              <a:ext uri="{FF2B5EF4-FFF2-40B4-BE49-F238E27FC236}">
                <a16:creationId xmlns:a16="http://schemas.microsoft.com/office/drawing/2014/main" id="{F4B537FF-9B4F-BC77-EEBA-1E6C3CECC73E}"/>
              </a:ext>
            </a:extLst>
          </p:cNvPr>
          <p:cNvSpPr/>
          <p:nvPr/>
        </p:nvSpPr>
        <p:spPr>
          <a:xfrm>
            <a:off x="1427179" y="5371321"/>
            <a:ext cx="2980361" cy="439643"/>
          </a:xfrm>
          <a:prstGeom prst="round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dirty="0">
                <a:solidFill>
                  <a:schemeClr val="tx1"/>
                </a:solidFill>
              </a:rPr>
              <a:t>&gt;42</a:t>
            </a:r>
          </a:p>
        </p:txBody>
      </p:sp>
    </p:spTree>
    <p:extLst>
      <p:ext uri="{BB962C8B-B14F-4D97-AF65-F5344CB8AC3E}">
        <p14:creationId xmlns:p14="http://schemas.microsoft.com/office/powerpoint/2010/main" val="203467941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CFC18A-1268-A298-47B0-6A616C5D98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ußzeilenplatzhalter 1">
            <a:extLst>
              <a:ext uri="{FF2B5EF4-FFF2-40B4-BE49-F238E27FC236}">
                <a16:creationId xmlns:a16="http://schemas.microsoft.com/office/drawing/2014/main" id="{F12E66BC-A753-DEC9-4BBE-7FF9DF756C82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>
                <a:solidFill>
                  <a:srgbClr val="64378C"/>
                </a:solidFill>
              </a:rPr>
              <a:t>Rust's Approach to Memory Safety</a:t>
            </a:r>
            <a:endParaRPr lang="en-US" dirty="0">
              <a:solidFill>
                <a:srgbClr val="64378C"/>
              </a:solidFill>
            </a:endParaRPr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44CA94E3-9B78-E550-5BBC-5C01D4B8E19E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 algn="ctr"/>
            <a:fld id="{5F85D455-7770-4F98-B944-71C158B4E906}" type="slidenum">
              <a:rPr lang="en-US" smtClean="0"/>
              <a:pPr algn="ctr"/>
              <a:t>13</a:t>
            </a:fld>
            <a:endParaRPr lang="en-US" dirty="0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CA6662FA-B02C-D652-9C77-867E3B41D265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dirty="0"/>
              <a:t>Memory Safety</a:t>
            </a:r>
          </a:p>
        </p:txBody>
      </p:sp>
      <p:sp>
        <p:nvSpPr>
          <p:cNvPr id="5" name="Inhaltsplatzhalter 4">
            <a:extLst>
              <a:ext uri="{FF2B5EF4-FFF2-40B4-BE49-F238E27FC236}">
                <a16:creationId xmlns:a16="http://schemas.microsoft.com/office/drawing/2014/main" id="{D3E36E59-7E3F-6F0F-FAFD-5E3CFC7B0EB0}"/>
              </a:ext>
            </a:extLst>
          </p:cNvPr>
          <p:cNvSpPr txBox="1">
            <a:spLocks/>
          </p:cNvSpPr>
          <p:nvPr/>
        </p:nvSpPr>
        <p:spPr>
          <a:xfrm>
            <a:off x="1203513" y="941293"/>
            <a:ext cx="9856694" cy="563187"/>
          </a:xfrm>
          <a:prstGeom prst="rect">
            <a:avLst/>
          </a:prstGeom>
        </p:spPr>
        <p:txBody>
          <a:bodyPr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sz="3600" dirty="0"/>
              <a:t>Out-of-bounds Write</a:t>
            </a:r>
          </a:p>
        </p:txBody>
      </p:sp>
      <p:sp>
        <p:nvSpPr>
          <p:cNvPr id="16" name="Rechteck 15">
            <a:extLst>
              <a:ext uri="{FF2B5EF4-FFF2-40B4-BE49-F238E27FC236}">
                <a16:creationId xmlns:a16="http://schemas.microsoft.com/office/drawing/2014/main" id="{E6820A03-6D07-1808-8E58-9090672CB769}"/>
              </a:ext>
            </a:extLst>
          </p:cNvPr>
          <p:cNvSpPr/>
          <p:nvPr/>
        </p:nvSpPr>
        <p:spPr>
          <a:xfrm>
            <a:off x="8161774" y="2086453"/>
            <a:ext cx="1171843" cy="3146612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hteck 22">
            <a:extLst>
              <a:ext uri="{FF2B5EF4-FFF2-40B4-BE49-F238E27FC236}">
                <a16:creationId xmlns:a16="http://schemas.microsoft.com/office/drawing/2014/main" id="{7D48AE71-9A14-793A-A3DC-4CB33E9A1856}"/>
              </a:ext>
            </a:extLst>
          </p:cNvPr>
          <p:cNvSpPr/>
          <p:nvPr/>
        </p:nvSpPr>
        <p:spPr>
          <a:xfrm>
            <a:off x="8161773" y="2299071"/>
            <a:ext cx="1171843" cy="563188"/>
          </a:xfrm>
          <a:prstGeom prst="rect">
            <a:avLst/>
          </a:prstGeom>
          <a:solidFill>
            <a:srgbClr val="00B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5</a:t>
            </a:r>
          </a:p>
        </p:txBody>
      </p:sp>
      <p:cxnSp>
        <p:nvCxnSpPr>
          <p:cNvPr id="26" name="Gerade Verbindung mit Pfeil 25">
            <a:extLst>
              <a:ext uri="{FF2B5EF4-FFF2-40B4-BE49-F238E27FC236}">
                <a16:creationId xmlns:a16="http://schemas.microsoft.com/office/drawing/2014/main" id="{35CE047D-1808-1434-1D68-473A1D03276B}"/>
              </a:ext>
            </a:extLst>
          </p:cNvPr>
          <p:cNvCxnSpPr>
            <a:cxnSpLocks/>
          </p:cNvCxnSpPr>
          <p:nvPr/>
        </p:nvCxnSpPr>
        <p:spPr>
          <a:xfrm>
            <a:off x="9496741" y="2086453"/>
            <a:ext cx="0" cy="3146612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feld 29">
            <a:extLst>
              <a:ext uri="{FF2B5EF4-FFF2-40B4-BE49-F238E27FC236}">
                <a16:creationId xmlns:a16="http://schemas.microsoft.com/office/drawing/2014/main" id="{108FC136-39C3-E3FB-9385-94034A54E7F2}"/>
              </a:ext>
            </a:extLst>
          </p:cNvPr>
          <p:cNvSpPr txBox="1"/>
          <p:nvPr/>
        </p:nvSpPr>
        <p:spPr>
          <a:xfrm>
            <a:off x="9578502" y="3547452"/>
            <a:ext cx="162776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Stack Memory</a:t>
            </a:r>
          </a:p>
        </p:txBody>
      </p:sp>
      <p:sp>
        <p:nvSpPr>
          <p:cNvPr id="11" name="Textfeld 10">
            <a:extLst>
              <a:ext uri="{FF2B5EF4-FFF2-40B4-BE49-F238E27FC236}">
                <a16:creationId xmlns:a16="http://schemas.microsoft.com/office/drawing/2014/main" id="{CE3899F3-E78B-E03D-9C0B-88F6B76DEBF2}"/>
              </a:ext>
            </a:extLst>
          </p:cNvPr>
          <p:cNvSpPr txBox="1"/>
          <p:nvPr/>
        </p:nvSpPr>
        <p:spPr>
          <a:xfrm>
            <a:off x="7907535" y="5233065"/>
            <a:ext cx="168828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Low Addresses</a:t>
            </a:r>
          </a:p>
        </p:txBody>
      </p:sp>
      <p:sp>
        <p:nvSpPr>
          <p:cNvPr id="12" name="Textfeld 11">
            <a:extLst>
              <a:ext uri="{FF2B5EF4-FFF2-40B4-BE49-F238E27FC236}">
                <a16:creationId xmlns:a16="http://schemas.microsoft.com/office/drawing/2014/main" id="{C416F9DB-FE97-9B18-ECCE-FBA23D02E50F}"/>
              </a:ext>
            </a:extLst>
          </p:cNvPr>
          <p:cNvSpPr txBox="1"/>
          <p:nvPr/>
        </p:nvSpPr>
        <p:spPr>
          <a:xfrm>
            <a:off x="7878674" y="1749183"/>
            <a:ext cx="17380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High Addresses</a:t>
            </a:r>
          </a:p>
        </p:txBody>
      </p:sp>
      <p:sp>
        <p:nvSpPr>
          <p:cNvPr id="17" name="Textfeld 16">
            <a:extLst>
              <a:ext uri="{FF2B5EF4-FFF2-40B4-BE49-F238E27FC236}">
                <a16:creationId xmlns:a16="http://schemas.microsoft.com/office/drawing/2014/main" id="{2C6168B6-5B9E-85D2-D8BE-9665AD30C038}"/>
              </a:ext>
            </a:extLst>
          </p:cNvPr>
          <p:cNvSpPr txBox="1"/>
          <p:nvPr/>
        </p:nvSpPr>
        <p:spPr>
          <a:xfrm>
            <a:off x="7364996" y="2390904"/>
            <a:ext cx="48846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var</a:t>
            </a:r>
          </a:p>
        </p:txBody>
      </p:sp>
      <p:pic>
        <p:nvPicPr>
          <p:cNvPr id="15" name="Grafik 14">
            <a:extLst>
              <a:ext uri="{FF2B5EF4-FFF2-40B4-BE49-F238E27FC236}">
                <a16:creationId xmlns:a16="http://schemas.microsoft.com/office/drawing/2014/main" id="{05B53546-076A-A51A-BAF8-970C3033971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98067" y="1478540"/>
            <a:ext cx="4781550" cy="3800475"/>
          </a:xfrm>
          <a:prstGeom prst="rect">
            <a:avLst/>
          </a:prstGeom>
        </p:spPr>
      </p:pic>
      <p:sp>
        <p:nvSpPr>
          <p:cNvPr id="19" name="Rechteck 18">
            <a:extLst>
              <a:ext uri="{FF2B5EF4-FFF2-40B4-BE49-F238E27FC236}">
                <a16:creationId xmlns:a16="http://schemas.microsoft.com/office/drawing/2014/main" id="{59E1AEF7-015D-C5BE-2AF7-E5B398BC473A}"/>
              </a:ext>
            </a:extLst>
          </p:cNvPr>
          <p:cNvSpPr/>
          <p:nvPr/>
        </p:nvSpPr>
        <p:spPr>
          <a:xfrm>
            <a:off x="1203512" y="3522375"/>
            <a:ext cx="3790019" cy="1583024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Geschweifte Klammer links 27">
            <a:extLst>
              <a:ext uri="{FF2B5EF4-FFF2-40B4-BE49-F238E27FC236}">
                <a16:creationId xmlns:a16="http://schemas.microsoft.com/office/drawing/2014/main" id="{2BAF153D-2675-F85E-C421-DE3DEBDAB182}"/>
              </a:ext>
            </a:extLst>
          </p:cNvPr>
          <p:cNvSpPr/>
          <p:nvPr/>
        </p:nvSpPr>
        <p:spPr>
          <a:xfrm>
            <a:off x="7853464" y="2293978"/>
            <a:ext cx="108142" cy="562650"/>
          </a:xfrm>
          <a:prstGeom prst="leftBrac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Rechteck: abgerundete Ecken 31">
            <a:extLst>
              <a:ext uri="{FF2B5EF4-FFF2-40B4-BE49-F238E27FC236}">
                <a16:creationId xmlns:a16="http://schemas.microsoft.com/office/drawing/2014/main" id="{FE6FD1F6-145B-CA61-5828-3EA8859C4839}"/>
              </a:ext>
            </a:extLst>
          </p:cNvPr>
          <p:cNvSpPr/>
          <p:nvPr/>
        </p:nvSpPr>
        <p:spPr>
          <a:xfrm>
            <a:off x="1434095" y="3319225"/>
            <a:ext cx="1568509" cy="192118"/>
          </a:xfrm>
          <a:prstGeom prst="roundRect">
            <a:avLst/>
          </a:prstGeom>
          <a:noFill/>
          <a:ln w="95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3" name="Gerade Verbindung mit Pfeil 32">
            <a:extLst>
              <a:ext uri="{FF2B5EF4-FFF2-40B4-BE49-F238E27FC236}">
                <a16:creationId xmlns:a16="http://schemas.microsoft.com/office/drawing/2014/main" id="{384B2590-B48D-5EF0-E90D-69DCF0BF699C}"/>
              </a:ext>
            </a:extLst>
          </p:cNvPr>
          <p:cNvCxnSpPr>
            <a:cxnSpLocks/>
            <a:endCxn id="32" idx="1"/>
          </p:cNvCxnSpPr>
          <p:nvPr/>
        </p:nvCxnSpPr>
        <p:spPr>
          <a:xfrm>
            <a:off x="1203512" y="3415284"/>
            <a:ext cx="230583" cy="0"/>
          </a:xfrm>
          <a:prstGeom prst="straightConnector1">
            <a:avLst/>
          </a:prstGeom>
          <a:ln w="12700">
            <a:solidFill>
              <a:schemeClr val="tx1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0881430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F493B4-7564-62EA-AA54-FDA7FB6C73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ußzeilenplatzhalter 1">
            <a:extLst>
              <a:ext uri="{FF2B5EF4-FFF2-40B4-BE49-F238E27FC236}">
                <a16:creationId xmlns:a16="http://schemas.microsoft.com/office/drawing/2014/main" id="{0C303287-BE23-5DA7-0F27-C049FDD5CB8C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>
                <a:solidFill>
                  <a:srgbClr val="64378C"/>
                </a:solidFill>
              </a:rPr>
              <a:t>Rust's Approach to Memory Safety</a:t>
            </a:r>
            <a:endParaRPr lang="en-US" dirty="0">
              <a:solidFill>
                <a:srgbClr val="64378C"/>
              </a:solidFill>
            </a:endParaRPr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8A36034F-2ADD-9C53-F8AC-9E8CA7A52819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 algn="ctr"/>
            <a:fld id="{5F85D455-7770-4F98-B944-71C158B4E906}" type="slidenum">
              <a:rPr lang="en-US" smtClean="0"/>
              <a:pPr algn="ctr"/>
              <a:t>14</a:t>
            </a:fld>
            <a:endParaRPr lang="en-US" dirty="0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4A952C03-FD2B-DE72-7023-57B2C381F73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dirty="0"/>
              <a:t>Memory Safety</a:t>
            </a:r>
          </a:p>
        </p:txBody>
      </p:sp>
      <p:sp>
        <p:nvSpPr>
          <p:cNvPr id="5" name="Inhaltsplatzhalter 4">
            <a:extLst>
              <a:ext uri="{FF2B5EF4-FFF2-40B4-BE49-F238E27FC236}">
                <a16:creationId xmlns:a16="http://schemas.microsoft.com/office/drawing/2014/main" id="{2CFC08E1-5D30-BEDD-36F3-8D5A02268823}"/>
              </a:ext>
            </a:extLst>
          </p:cNvPr>
          <p:cNvSpPr txBox="1">
            <a:spLocks/>
          </p:cNvSpPr>
          <p:nvPr/>
        </p:nvSpPr>
        <p:spPr>
          <a:xfrm>
            <a:off x="1203513" y="941293"/>
            <a:ext cx="9856694" cy="563187"/>
          </a:xfrm>
          <a:prstGeom prst="rect">
            <a:avLst/>
          </a:prstGeom>
        </p:spPr>
        <p:txBody>
          <a:bodyPr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sz="3600" dirty="0"/>
              <a:t>Out-of-bounds Write</a:t>
            </a:r>
          </a:p>
        </p:txBody>
      </p:sp>
      <p:sp>
        <p:nvSpPr>
          <p:cNvPr id="16" name="Rechteck 15">
            <a:extLst>
              <a:ext uri="{FF2B5EF4-FFF2-40B4-BE49-F238E27FC236}">
                <a16:creationId xmlns:a16="http://schemas.microsoft.com/office/drawing/2014/main" id="{7AB70FAE-EF7A-5137-7478-A2F01471AC31}"/>
              </a:ext>
            </a:extLst>
          </p:cNvPr>
          <p:cNvSpPr/>
          <p:nvPr/>
        </p:nvSpPr>
        <p:spPr>
          <a:xfrm>
            <a:off x="8161774" y="2086453"/>
            <a:ext cx="1171843" cy="3146612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hteck 22">
            <a:extLst>
              <a:ext uri="{FF2B5EF4-FFF2-40B4-BE49-F238E27FC236}">
                <a16:creationId xmlns:a16="http://schemas.microsoft.com/office/drawing/2014/main" id="{CAC553D7-C0C7-49AA-2A54-1BAC6DCDD44C}"/>
              </a:ext>
            </a:extLst>
          </p:cNvPr>
          <p:cNvSpPr/>
          <p:nvPr/>
        </p:nvSpPr>
        <p:spPr>
          <a:xfrm>
            <a:off x="8161773" y="2299071"/>
            <a:ext cx="1171843" cy="563188"/>
          </a:xfrm>
          <a:prstGeom prst="rect">
            <a:avLst/>
          </a:prstGeom>
          <a:solidFill>
            <a:srgbClr val="00B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5</a:t>
            </a:r>
          </a:p>
        </p:txBody>
      </p:sp>
      <p:cxnSp>
        <p:nvCxnSpPr>
          <p:cNvPr id="26" name="Gerade Verbindung mit Pfeil 25">
            <a:extLst>
              <a:ext uri="{FF2B5EF4-FFF2-40B4-BE49-F238E27FC236}">
                <a16:creationId xmlns:a16="http://schemas.microsoft.com/office/drawing/2014/main" id="{2A99F2DC-8C72-2878-657D-CADB4D1EFC16}"/>
              </a:ext>
            </a:extLst>
          </p:cNvPr>
          <p:cNvCxnSpPr>
            <a:cxnSpLocks/>
          </p:cNvCxnSpPr>
          <p:nvPr/>
        </p:nvCxnSpPr>
        <p:spPr>
          <a:xfrm>
            <a:off x="9496741" y="2086453"/>
            <a:ext cx="0" cy="3146612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feld 29">
            <a:extLst>
              <a:ext uri="{FF2B5EF4-FFF2-40B4-BE49-F238E27FC236}">
                <a16:creationId xmlns:a16="http://schemas.microsoft.com/office/drawing/2014/main" id="{7840C0CB-AD71-1233-B2A4-B0D570025428}"/>
              </a:ext>
            </a:extLst>
          </p:cNvPr>
          <p:cNvSpPr txBox="1"/>
          <p:nvPr/>
        </p:nvSpPr>
        <p:spPr>
          <a:xfrm>
            <a:off x="9578502" y="3547452"/>
            <a:ext cx="162776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Stack Memory</a:t>
            </a:r>
          </a:p>
        </p:txBody>
      </p:sp>
      <p:sp>
        <p:nvSpPr>
          <p:cNvPr id="8" name="Geschweifte Klammer links 7">
            <a:extLst>
              <a:ext uri="{FF2B5EF4-FFF2-40B4-BE49-F238E27FC236}">
                <a16:creationId xmlns:a16="http://schemas.microsoft.com/office/drawing/2014/main" id="{6A7DA580-3ACD-B660-9047-CBF09250A3B1}"/>
              </a:ext>
            </a:extLst>
          </p:cNvPr>
          <p:cNvSpPr/>
          <p:nvPr/>
        </p:nvSpPr>
        <p:spPr>
          <a:xfrm>
            <a:off x="7853464" y="2293978"/>
            <a:ext cx="108142" cy="562650"/>
          </a:xfrm>
          <a:prstGeom prst="leftBrac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feld 10">
            <a:extLst>
              <a:ext uri="{FF2B5EF4-FFF2-40B4-BE49-F238E27FC236}">
                <a16:creationId xmlns:a16="http://schemas.microsoft.com/office/drawing/2014/main" id="{DF569C8C-4682-0E0C-B573-5CEAD6AE1C38}"/>
              </a:ext>
            </a:extLst>
          </p:cNvPr>
          <p:cNvSpPr txBox="1"/>
          <p:nvPr/>
        </p:nvSpPr>
        <p:spPr>
          <a:xfrm>
            <a:off x="7907535" y="5233065"/>
            <a:ext cx="168828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Low Addresses</a:t>
            </a:r>
          </a:p>
        </p:txBody>
      </p:sp>
      <p:sp>
        <p:nvSpPr>
          <p:cNvPr id="12" name="Textfeld 11">
            <a:extLst>
              <a:ext uri="{FF2B5EF4-FFF2-40B4-BE49-F238E27FC236}">
                <a16:creationId xmlns:a16="http://schemas.microsoft.com/office/drawing/2014/main" id="{72D7E4C1-6BDF-B8B3-20F1-E4B179B7B514}"/>
              </a:ext>
            </a:extLst>
          </p:cNvPr>
          <p:cNvSpPr txBox="1"/>
          <p:nvPr/>
        </p:nvSpPr>
        <p:spPr>
          <a:xfrm>
            <a:off x="7878674" y="1749183"/>
            <a:ext cx="17380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High Addresses</a:t>
            </a:r>
          </a:p>
        </p:txBody>
      </p:sp>
      <p:sp>
        <p:nvSpPr>
          <p:cNvPr id="17" name="Textfeld 16">
            <a:extLst>
              <a:ext uri="{FF2B5EF4-FFF2-40B4-BE49-F238E27FC236}">
                <a16:creationId xmlns:a16="http://schemas.microsoft.com/office/drawing/2014/main" id="{F183D153-5056-1EF5-D1F6-545BED6ADD28}"/>
              </a:ext>
            </a:extLst>
          </p:cNvPr>
          <p:cNvSpPr txBox="1"/>
          <p:nvPr/>
        </p:nvSpPr>
        <p:spPr>
          <a:xfrm>
            <a:off x="7364996" y="2390904"/>
            <a:ext cx="48846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var</a:t>
            </a:r>
          </a:p>
        </p:txBody>
      </p:sp>
      <p:pic>
        <p:nvPicPr>
          <p:cNvPr id="15" name="Grafik 14">
            <a:extLst>
              <a:ext uri="{FF2B5EF4-FFF2-40B4-BE49-F238E27FC236}">
                <a16:creationId xmlns:a16="http://schemas.microsoft.com/office/drawing/2014/main" id="{076B6573-840C-65ED-F8C1-D0DB5ED5D94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98067" y="1472055"/>
            <a:ext cx="4781550" cy="3800475"/>
          </a:xfrm>
          <a:prstGeom prst="rect">
            <a:avLst/>
          </a:prstGeom>
        </p:spPr>
      </p:pic>
      <p:sp>
        <p:nvSpPr>
          <p:cNvPr id="19" name="Rechteck 18">
            <a:extLst>
              <a:ext uri="{FF2B5EF4-FFF2-40B4-BE49-F238E27FC236}">
                <a16:creationId xmlns:a16="http://schemas.microsoft.com/office/drawing/2014/main" id="{6735E6C7-463F-9DE0-0FB6-1DF817DE69C1}"/>
              </a:ext>
            </a:extLst>
          </p:cNvPr>
          <p:cNvSpPr/>
          <p:nvPr/>
        </p:nvSpPr>
        <p:spPr>
          <a:xfrm>
            <a:off x="1203512" y="3715965"/>
            <a:ext cx="3790019" cy="1389433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D3DA0038-8ED1-3FAB-5707-50D68EB95169}"/>
              </a:ext>
            </a:extLst>
          </p:cNvPr>
          <p:cNvSpPr/>
          <p:nvPr/>
        </p:nvSpPr>
        <p:spPr>
          <a:xfrm>
            <a:off x="8161773" y="3425447"/>
            <a:ext cx="1171843" cy="563188"/>
          </a:xfrm>
          <a:prstGeom prst="rect">
            <a:avLst/>
          </a:prstGeom>
          <a:solidFill>
            <a:srgbClr val="64378C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2</a:t>
            </a:r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F842F551-3BB2-153D-2D2C-6C1B5BD3171C}"/>
              </a:ext>
            </a:extLst>
          </p:cNvPr>
          <p:cNvSpPr/>
          <p:nvPr/>
        </p:nvSpPr>
        <p:spPr>
          <a:xfrm>
            <a:off x="8161773" y="2862259"/>
            <a:ext cx="1171843" cy="563188"/>
          </a:xfrm>
          <a:prstGeom prst="rect">
            <a:avLst/>
          </a:prstGeom>
          <a:solidFill>
            <a:srgbClr val="64378C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2</a:t>
            </a:r>
          </a:p>
        </p:txBody>
      </p:sp>
      <p:sp>
        <p:nvSpPr>
          <p:cNvPr id="9" name="Geschweifte Klammer links 8">
            <a:extLst>
              <a:ext uri="{FF2B5EF4-FFF2-40B4-BE49-F238E27FC236}">
                <a16:creationId xmlns:a16="http://schemas.microsoft.com/office/drawing/2014/main" id="{0326D8E5-447A-A058-C5E2-076628F8CB51}"/>
              </a:ext>
            </a:extLst>
          </p:cNvPr>
          <p:cNvSpPr/>
          <p:nvPr/>
        </p:nvSpPr>
        <p:spPr>
          <a:xfrm>
            <a:off x="7853464" y="2856628"/>
            <a:ext cx="108142" cy="572372"/>
          </a:xfrm>
          <a:prstGeom prst="leftBrac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Geschweifte Klammer links 9">
            <a:extLst>
              <a:ext uri="{FF2B5EF4-FFF2-40B4-BE49-F238E27FC236}">
                <a16:creationId xmlns:a16="http://schemas.microsoft.com/office/drawing/2014/main" id="{6C40E5B5-DAD4-B77A-6502-05A4AFF3E2C9}"/>
              </a:ext>
            </a:extLst>
          </p:cNvPr>
          <p:cNvSpPr/>
          <p:nvPr/>
        </p:nvSpPr>
        <p:spPr>
          <a:xfrm>
            <a:off x="7853464" y="3425448"/>
            <a:ext cx="108142" cy="563188"/>
          </a:xfrm>
          <a:prstGeom prst="leftBrac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feld 12">
            <a:extLst>
              <a:ext uri="{FF2B5EF4-FFF2-40B4-BE49-F238E27FC236}">
                <a16:creationId xmlns:a16="http://schemas.microsoft.com/office/drawing/2014/main" id="{E9381477-6583-EE75-A5D2-AFFD3BE72F65}"/>
              </a:ext>
            </a:extLst>
          </p:cNvPr>
          <p:cNvSpPr txBox="1"/>
          <p:nvPr/>
        </p:nvSpPr>
        <p:spPr>
          <a:xfrm>
            <a:off x="7158604" y="3522375"/>
            <a:ext cx="72006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arr</a:t>
            </a:r>
            <a:r>
              <a:rPr lang="en-US" dirty="0"/>
              <a:t>[0]</a:t>
            </a:r>
          </a:p>
        </p:txBody>
      </p:sp>
      <p:sp>
        <p:nvSpPr>
          <p:cNvPr id="14" name="Textfeld 13">
            <a:extLst>
              <a:ext uri="{FF2B5EF4-FFF2-40B4-BE49-F238E27FC236}">
                <a16:creationId xmlns:a16="http://schemas.microsoft.com/office/drawing/2014/main" id="{6799D3B0-ED99-880D-7CE7-3458F00517C3}"/>
              </a:ext>
            </a:extLst>
          </p:cNvPr>
          <p:cNvSpPr txBox="1"/>
          <p:nvPr/>
        </p:nvSpPr>
        <p:spPr>
          <a:xfrm>
            <a:off x="7158605" y="2959187"/>
            <a:ext cx="72006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arr</a:t>
            </a:r>
            <a:r>
              <a:rPr lang="en-US" dirty="0"/>
              <a:t>[1]</a:t>
            </a:r>
          </a:p>
        </p:txBody>
      </p:sp>
      <p:sp>
        <p:nvSpPr>
          <p:cNvPr id="18" name="Rechteck: abgerundete Ecken 17">
            <a:extLst>
              <a:ext uri="{FF2B5EF4-FFF2-40B4-BE49-F238E27FC236}">
                <a16:creationId xmlns:a16="http://schemas.microsoft.com/office/drawing/2014/main" id="{495D5E18-20A5-C10E-4AC3-E8436A7517A4}"/>
              </a:ext>
            </a:extLst>
          </p:cNvPr>
          <p:cNvSpPr/>
          <p:nvPr/>
        </p:nvSpPr>
        <p:spPr>
          <a:xfrm>
            <a:off x="1434095" y="3494320"/>
            <a:ext cx="2307811" cy="192118"/>
          </a:xfrm>
          <a:prstGeom prst="roundRect">
            <a:avLst/>
          </a:prstGeom>
          <a:noFill/>
          <a:ln w="95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0" name="Gerade Verbindung mit Pfeil 19">
            <a:extLst>
              <a:ext uri="{FF2B5EF4-FFF2-40B4-BE49-F238E27FC236}">
                <a16:creationId xmlns:a16="http://schemas.microsoft.com/office/drawing/2014/main" id="{44AC5F50-45EE-0A3D-8CDB-AEB3DF523A59}"/>
              </a:ext>
            </a:extLst>
          </p:cNvPr>
          <p:cNvCxnSpPr>
            <a:cxnSpLocks/>
            <a:endCxn id="18" idx="1"/>
          </p:cNvCxnSpPr>
          <p:nvPr/>
        </p:nvCxnSpPr>
        <p:spPr>
          <a:xfrm>
            <a:off x="1203512" y="3590379"/>
            <a:ext cx="230583" cy="0"/>
          </a:xfrm>
          <a:prstGeom prst="straightConnector1">
            <a:avLst/>
          </a:prstGeom>
          <a:ln w="12700">
            <a:solidFill>
              <a:schemeClr val="tx1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5308821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9" grpId="0" animBg="1"/>
      <p:bldP spid="10" grpId="0" animBg="1"/>
      <p:bldP spid="13" grpId="0"/>
      <p:bldP spid="14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78C680-08DA-2AC9-2A9D-DF2F4CAB74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ußzeilenplatzhalter 1">
            <a:extLst>
              <a:ext uri="{FF2B5EF4-FFF2-40B4-BE49-F238E27FC236}">
                <a16:creationId xmlns:a16="http://schemas.microsoft.com/office/drawing/2014/main" id="{927A5245-21D8-A7DE-AFA0-8465EC291388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>
                <a:solidFill>
                  <a:srgbClr val="64378C"/>
                </a:solidFill>
              </a:rPr>
              <a:t>Rust's Approach to Memory Safety</a:t>
            </a:r>
            <a:endParaRPr lang="en-US" dirty="0">
              <a:solidFill>
                <a:srgbClr val="64378C"/>
              </a:solidFill>
            </a:endParaRPr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1D141E58-E733-4A53-CA04-5F24C483CC70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 algn="ctr"/>
            <a:fld id="{5F85D455-7770-4F98-B944-71C158B4E906}" type="slidenum">
              <a:rPr lang="en-US" smtClean="0"/>
              <a:pPr algn="ctr"/>
              <a:t>15</a:t>
            </a:fld>
            <a:endParaRPr lang="en-US" dirty="0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796CEEF7-3933-67D2-63E8-B5C6135727AF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dirty="0"/>
              <a:t>Memory Safety</a:t>
            </a:r>
          </a:p>
        </p:txBody>
      </p:sp>
      <p:sp>
        <p:nvSpPr>
          <p:cNvPr id="5" name="Inhaltsplatzhalter 4">
            <a:extLst>
              <a:ext uri="{FF2B5EF4-FFF2-40B4-BE49-F238E27FC236}">
                <a16:creationId xmlns:a16="http://schemas.microsoft.com/office/drawing/2014/main" id="{5105C3BE-031D-2A9D-62B4-44FD33C6A020}"/>
              </a:ext>
            </a:extLst>
          </p:cNvPr>
          <p:cNvSpPr txBox="1">
            <a:spLocks/>
          </p:cNvSpPr>
          <p:nvPr/>
        </p:nvSpPr>
        <p:spPr>
          <a:xfrm>
            <a:off x="1203513" y="941293"/>
            <a:ext cx="9856694" cy="563187"/>
          </a:xfrm>
          <a:prstGeom prst="rect">
            <a:avLst/>
          </a:prstGeom>
        </p:spPr>
        <p:txBody>
          <a:bodyPr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sz="3600" dirty="0"/>
              <a:t>Out-of-bounds Write</a:t>
            </a:r>
          </a:p>
        </p:txBody>
      </p:sp>
      <p:sp>
        <p:nvSpPr>
          <p:cNvPr id="16" name="Rechteck 15">
            <a:extLst>
              <a:ext uri="{FF2B5EF4-FFF2-40B4-BE49-F238E27FC236}">
                <a16:creationId xmlns:a16="http://schemas.microsoft.com/office/drawing/2014/main" id="{5EE6EE93-2D57-1B0D-0861-82E743C50509}"/>
              </a:ext>
            </a:extLst>
          </p:cNvPr>
          <p:cNvSpPr/>
          <p:nvPr/>
        </p:nvSpPr>
        <p:spPr>
          <a:xfrm>
            <a:off x="8161774" y="2086453"/>
            <a:ext cx="1171843" cy="3146612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hteck 22">
            <a:extLst>
              <a:ext uri="{FF2B5EF4-FFF2-40B4-BE49-F238E27FC236}">
                <a16:creationId xmlns:a16="http://schemas.microsoft.com/office/drawing/2014/main" id="{B8359ECF-0732-AF0D-390F-FA05F4561087}"/>
              </a:ext>
            </a:extLst>
          </p:cNvPr>
          <p:cNvSpPr/>
          <p:nvPr/>
        </p:nvSpPr>
        <p:spPr>
          <a:xfrm>
            <a:off x="8161773" y="2299071"/>
            <a:ext cx="1171843" cy="563188"/>
          </a:xfrm>
          <a:prstGeom prst="rect">
            <a:avLst/>
          </a:prstGeom>
          <a:solidFill>
            <a:srgbClr val="00B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99</a:t>
            </a:r>
          </a:p>
        </p:txBody>
      </p:sp>
      <p:cxnSp>
        <p:nvCxnSpPr>
          <p:cNvPr id="26" name="Gerade Verbindung mit Pfeil 25">
            <a:extLst>
              <a:ext uri="{FF2B5EF4-FFF2-40B4-BE49-F238E27FC236}">
                <a16:creationId xmlns:a16="http://schemas.microsoft.com/office/drawing/2014/main" id="{1C12F694-7CDC-4FD9-579C-E21E379A336D}"/>
              </a:ext>
            </a:extLst>
          </p:cNvPr>
          <p:cNvCxnSpPr>
            <a:cxnSpLocks/>
          </p:cNvCxnSpPr>
          <p:nvPr/>
        </p:nvCxnSpPr>
        <p:spPr>
          <a:xfrm>
            <a:off x="9496741" y="2086453"/>
            <a:ext cx="0" cy="3146612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feld 29">
            <a:extLst>
              <a:ext uri="{FF2B5EF4-FFF2-40B4-BE49-F238E27FC236}">
                <a16:creationId xmlns:a16="http://schemas.microsoft.com/office/drawing/2014/main" id="{38CB2041-538A-4A17-C144-38BCAD6C3500}"/>
              </a:ext>
            </a:extLst>
          </p:cNvPr>
          <p:cNvSpPr txBox="1"/>
          <p:nvPr/>
        </p:nvSpPr>
        <p:spPr>
          <a:xfrm>
            <a:off x="9578502" y="3547452"/>
            <a:ext cx="162776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Stack Memory</a:t>
            </a:r>
          </a:p>
        </p:txBody>
      </p:sp>
      <p:sp>
        <p:nvSpPr>
          <p:cNvPr id="8" name="Geschweifte Klammer links 7">
            <a:extLst>
              <a:ext uri="{FF2B5EF4-FFF2-40B4-BE49-F238E27FC236}">
                <a16:creationId xmlns:a16="http://schemas.microsoft.com/office/drawing/2014/main" id="{DDCB97EF-176E-78A7-A969-5C169906D30F}"/>
              </a:ext>
            </a:extLst>
          </p:cNvPr>
          <p:cNvSpPr/>
          <p:nvPr/>
        </p:nvSpPr>
        <p:spPr>
          <a:xfrm>
            <a:off x="7853464" y="2293978"/>
            <a:ext cx="108142" cy="562650"/>
          </a:xfrm>
          <a:prstGeom prst="leftBrac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feld 10">
            <a:extLst>
              <a:ext uri="{FF2B5EF4-FFF2-40B4-BE49-F238E27FC236}">
                <a16:creationId xmlns:a16="http://schemas.microsoft.com/office/drawing/2014/main" id="{6C84C2B4-7C74-106A-92A8-445EB70430FD}"/>
              </a:ext>
            </a:extLst>
          </p:cNvPr>
          <p:cNvSpPr txBox="1"/>
          <p:nvPr/>
        </p:nvSpPr>
        <p:spPr>
          <a:xfrm>
            <a:off x="7907535" y="5233065"/>
            <a:ext cx="168828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Low Addresses</a:t>
            </a:r>
          </a:p>
        </p:txBody>
      </p:sp>
      <p:sp>
        <p:nvSpPr>
          <p:cNvPr id="12" name="Textfeld 11">
            <a:extLst>
              <a:ext uri="{FF2B5EF4-FFF2-40B4-BE49-F238E27FC236}">
                <a16:creationId xmlns:a16="http://schemas.microsoft.com/office/drawing/2014/main" id="{EDA6EAB5-ED38-1E46-BAD8-39211CC2C76A}"/>
              </a:ext>
            </a:extLst>
          </p:cNvPr>
          <p:cNvSpPr txBox="1"/>
          <p:nvPr/>
        </p:nvSpPr>
        <p:spPr>
          <a:xfrm>
            <a:off x="7878674" y="1749183"/>
            <a:ext cx="17380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High Addresses</a:t>
            </a:r>
          </a:p>
        </p:txBody>
      </p:sp>
      <p:sp>
        <p:nvSpPr>
          <p:cNvPr id="17" name="Textfeld 16">
            <a:extLst>
              <a:ext uri="{FF2B5EF4-FFF2-40B4-BE49-F238E27FC236}">
                <a16:creationId xmlns:a16="http://schemas.microsoft.com/office/drawing/2014/main" id="{CB57FD93-F05C-6298-41AB-CC149C7F7AEC}"/>
              </a:ext>
            </a:extLst>
          </p:cNvPr>
          <p:cNvSpPr txBox="1"/>
          <p:nvPr/>
        </p:nvSpPr>
        <p:spPr>
          <a:xfrm>
            <a:off x="7364996" y="2390904"/>
            <a:ext cx="48846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var</a:t>
            </a:r>
          </a:p>
        </p:txBody>
      </p:sp>
      <p:pic>
        <p:nvPicPr>
          <p:cNvPr id="15" name="Grafik 14">
            <a:extLst>
              <a:ext uri="{FF2B5EF4-FFF2-40B4-BE49-F238E27FC236}">
                <a16:creationId xmlns:a16="http://schemas.microsoft.com/office/drawing/2014/main" id="{813DC8A2-3EC2-2642-269B-3DD1E596A00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98067" y="1472055"/>
            <a:ext cx="4781550" cy="3800475"/>
          </a:xfrm>
          <a:prstGeom prst="rect">
            <a:avLst/>
          </a:prstGeom>
        </p:spPr>
      </p:pic>
      <p:sp>
        <p:nvSpPr>
          <p:cNvPr id="19" name="Rechteck 18">
            <a:extLst>
              <a:ext uri="{FF2B5EF4-FFF2-40B4-BE49-F238E27FC236}">
                <a16:creationId xmlns:a16="http://schemas.microsoft.com/office/drawing/2014/main" id="{EDEEC9FA-1CCA-502E-99D2-729656C43FD7}"/>
              </a:ext>
            </a:extLst>
          </p:cNvPr>
          <p:cNvSpPr/>
          <p:nvPr/>
        </p:nvSpPr>
        <p:spPr>
          <a:xfrm>
            <a:off x="1203512" y="4085617"/>
            <a:ext cx="3790019" cy="1019781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CA2151E1-BC19-C388-9584-6280D6E09A4A}"/>
              </a:ext>
            </a:extLst>
          </p:cNvPr>
          <p:cNvSpPr/>
          <p:nvPr/>
        </p:nvSpPr>
        <p:spPr>
          <a:xfrm>
            <a:off x="8161773" y="3425447"/>
            <a:ext cx="1171843" cy="563188"/>
          </a:xfrm>
          <a:prstGeom prst="rect">
            <a:avLst/>
          </a:prstGeom>
          <a:solidFill>
            <a:srgbClr val="64378C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2</a:t>
            </a:r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F38E40F8-ED22-EF43-F39F-E9E4CD2B247F}"/>
              </a:ext>
            </a:extLst>
          </p:cNvPr>
          <p:cNvSpPr/>
          <p:nvPr/>
        </p:nvSpPr>
        <p:spPr>
          <a:xfrm>
            <a:off x="8161773" y="2862259"/>
            <a:ext cx="1171843" cy="563188"/>
          </a:xfrm>
          <a:prstGeom prst="rect">
            <a:avLst/>
          </a:prstGeom>
          <a:solidFill>
            <a:srgbClr val="64378C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2</a:t>
            </a:r>
          </a:p>
        </p:txBody>
      </p:sp>
      <p:sp>
        <p:nvSpPr>
          <p:cNvPr id="9" name="Geschweifte Klammer links 8">
            <a:extLst>
              <a:ext uri="{FF2B5EF4-FFF2-40B4-BE49-F238E27FC236}">
                <a16:creationId xmlns:a16="http://schemas.microsoft.com/office/drawing/2014/main" id="{32310471-6674-7CD4-83BA-84EED8FCCA82}"/>
              </a:ext>
            </a:extLst>
          </p:cNvPr>
          <p:cNvSpPr/>
          <p:nvPr/>
        </p:nvSpPr>
        <p:spPr>
          <a:xfrm>
            <a:off x="7853464" y="2856628"/>
            <a:ext cx="108142" cy="572372"/>
          </a:xfrm>
          <a:prstGeom prst="leftBrac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Geschweifte Klammer links 9">
            <a:extLst>
              <a:ext uri="{FF2B5EF4-FFF2-40B4-BE49-F238E27FC236}">
                <a16:creationId xmlns:a16="http://schemas.microsoft.com/office/drawing/2014/main" id="{AAB5EF3F-85B5-8E43-F8F8-67D1E1BCCB37}"/>
              </a:ext>
            </a:extLst>
          </p:cNvPr>
          <p:cNvSpPr/>
          <p:nvPr/>
        </p:nvSpPr>
        <p:spPr>
          <a:xfrm>
            <a:off x="7853464" y="3425448"/>
            <a:ext cx="108142" cy="563188"/>
          </a:xfrm>
          <a:prstGeom prst="leftBrac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feld 12">
            <a:extLst>
              <a:ext uri="{FF2B5EF4-FFF2-40B4-BE49-F238E27FC236}">
                <a16:creationId xmlns:a16="http://schemas.microsoft.com/office/drawing/2014/main" id="{0A6F45C4-DAA0-A0F3-3C4A-FE60D8B98B92}"/>
              </a:ext>
            </a:extLst>
          </p:cNvPr>
          <p:cNvSpPr txBox="1"/>
          <p:nvPr/>
        </p:nvSpPr>
        <p:spPr>
          <a:xfrm>
            <a:off x="7158604" y="3522375"/>
            <a:ext cx="72006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arr</a:t>
            </a:r>
            <a:r>
              <a:rPr lang="en-US" dirty="0"/>
              <a:t>[0]</a:t>
            </a:r>
          </a:p>
        </p:txBody>
      </p:sp>
      <p:sp>
        <p:nvSpPr>
          <p:cNvPr id="14" name="Textfeld 13">
            <a:extLst>
              <a:ext uri="{FF2B5EF4-FFF2-40B4-BE49-F238E27FC236}">
                <a16:creationId xmlns:a16="http://schemas.microsoft.com/office/drawing/2014/main" id="{3D1E18B3-080B-92E4-0C99-53542124C5F1}"/>
              </a:ext>
            </a:extLst>
          </p:cNvPr>
          <p:cNvSpPr txBox="1"/>
          <p:nvPr/>
        </p:nvSpPr>
        <p:spPr>
          <a:xfrm>
            <a:off x="7158605" y="2959187"/>
            <a:ext cx="72006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arr</a:t>
            </a:r>
            <a:r>
              <a:rPr lang="en-US" dirty="0"/>
              <a:t>[1]</a:t>
            </a:r>
          </a:p>
        </p:txBody>
      </p:sp>
      <p:sp>
        <p:nvSpPr>
          <p:cNvPr id="21" name="Rechteck: abgerundete Ecken 20">
            <a:extLst>
              <a:ext uri="{FF2B5EF4-FFF2-40B4-BE49-F238E27FC236}">
                <a16:creationId xmlns:a16="http://schemas.microsoft.com/office/drawing/2014/main" id="{D87B8153-110A-4615-3DF8-15997EE0590A}"/>
              </a:ext>
            </a:extLst>
          </p:cNvPr>
          <p:cNvSpPr/>
          <p:nvPr/>
        </p:nvSpPr>
        <p:spPr>
          <a:xfrm>
            <a:off x="1374888" y="3850721"/>
            <a:ext cx="2879341" cy="192118"/>
          </a:xfrm>
          <a:prstGeom prst="roundRect">
            <a:avLst/>
          </a:prstGeom>
          <a:noFill/>
          <a:ln w="95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2" name="Gerade Verbindung mit Pfeil 21">
            <a:extLst>
              <a:ext uri="{FF2B5EF4-FFF2-40B4-BE49-F238E27FC236}">
                <a16:creationId xmlns:a16="http://schemas.microsoft.com/office/drawing/2014/main" id="{E33A07CD-DA18-BD47-734B-1953B669F111}"/>
              </a:ext>
            </a:extLst>
          </p:cNvPr>
          <p:cNvCxnSpPr>
            <a:cxnSpLocks/>
            <a:endCxn id="21" idx="1"/>
          </p:cNvCxnSpPr>
          <p:nvPr/>
        </p:nvCxnSpPr>
        <p:spPr>
          <a:xfrm>
            <a:off x="1144306" y="3946780"/>
            <a:ext cx="230582" cy="0"/>
          </a:xfrm>
          <a:prstGeom prst="straightConnector1">
            <a:avLst/>
          </a:prstGeom>
          <a:ln w="12700">
            <a:solidFill>
              <a:schemeClr val="tx1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hteck: abgerundete Ecken 17">
            <a:extLst>
              <a:ext uri="{FF2B5EF4-FFF2-40B4-BE49-F238E27FC236}">
                <a16:creationId xmlns:a16="http://schemas.microsoft.com/office/drawing/2014/main" id="{FD993FCB-FA13-7658-1466-8F44AB4869DF}"/>
              </a:ext>
            </a:extLst>
          </p:cNvPr>
          <p:cNvSpPr/>
          <p:nvPr/>
        </p:nvSpPr>
        <p:spPr>
          <a:xfrm>
            <a:off x="1374888" y="2397578"/>
            <a:ext cx="3851208" cy="563186"/>
          </a:xfrm>
          <a:prstGeom prst="roundRect">
            <a:avLst/>
          </a:prstGeom>
          <a:noFill/>
          <a:ln w="95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5098133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9" grpId="0" animBg="1"/>
      <p:bldP spid="10" grpId="0" animBg="1"/>
      <p:bldP spid="13" grpId="0"/>
      <p:bldP spid="14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AEC52E-4AE8-0517-59F8-2F14334E8A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ußzeilenplatzhalter 1">
            <a:extLst>
              <a:ext uri="{FF2B5EF4-FFF2-40B4-BE49-F238E27FC236}">
                <a16:creationId xmlns:a16="http://schemas.microsoft.com/office/drawing/2014/main" id="{63D499F6-2F16-3676-00C4-2F9196117F6D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>
                <a:solidFill>
                  <a:srgbClr val="64378C"/>
                </a:solidFill>
              </a:rPr>
              <a:t>Rust's Approach to Memory Safety</a:t>
            </a:r>
            <a:endParaRPr lang="en-US" dirty="0">
              <a:solidFill>
                <a:srgbClr val="64378C"/>
              </a:solidFill>
            </a:endParaRPr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9EDC55E6-9656-C129-AAD8-3305E2790495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 algn="ctr"/>
            <a:fld id="{5F85D455-7770-4F98-B944-71C158B4E906}" type="slidenum">
              <a:rPr lang="en-US" smtClean="0"/>
              <a:pPr algn="ctr"/>
              <a:t>16</a:t>
            </a:fld>
            <a:endParaRPr lang="en-US" dirty="0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1D64AD13-B1D5-1B24-60F7-106FB7558B7C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dirty="0"/>
              <a:t>Memory Safety</a:t>
            </a:r>
          </a:p>
        </p:txBody>
      </p:sp>
      <p:sp>
        <p:nvSpPr>
          <p:cNvPr id="5" name="Inhaltsplatzhalter 4">
            <a:extLst>
              <a:ext uri="{FF2B5EF4-FFF2-40B4-BE49-F238E27FC236}">
                <a16:creationId xmlns:a16="http://schemas.microsoft.com/office/drawing/2014/main" id="{62949C74-922E-6A2E-5F18-2A43122C16BD}"/>
              </a:ext>
            </a:extLst>
          </p:cNvPr>
          <p:cNvSpPr txBox="1">
            <a:spLocks/>
          </p:cNvSpPr>
          <p:nvPr/>
        </p:nvSpPr>
        <p:spPr>
          <a:xfrm>
            <a:off x="1203513" y="941293"/>
            <a:ext cx="9856694" cy="563187"/>
          </a:xfrm>
          <a:prstGeom prst="rect">
            <a:avLst/>
          </a:prstGeom>
        </p:spPr>
        <p:txBody>
          <a:bodyPr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sz="3600" dirty="0"/>
              <a:t>Out-of-bounds Write</a:t>
            </a:r>
          </a:p>
        </p:txBody>
      </p:sp>
      <p:sp>
        <p:nvSpPr>
          <p:cNvPr id="16" name="Rechteck 15">
            <a:extLst>
              <a:ext uri="{FF2B5EF4-FFF2-40B4-BE49-F238E27FC236}">
                <a16:creationId xmlns:a16="http://schemas.microsoft.com/office/drawing/2014/main" id="{5B2C0B2C-F3DB-1ACC-32F5-1A1EBA60FAF3}"/>
              </a:ext>
            </a:extLst>
          </p:cNvPr>
          <p:cNvSpPr/>
          <p:nvPr/>
        </p:nvSpPr>
        <p:spPr>
          <a:xfrm>
            <a:off x="8161774" y="2086453"/>
            <a:ext cx="1171843" cy="3146612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hteck 22">
            <a:extLst>
              <a:ext uri="{FF2B5EF4-FFF2-40B4-BE49-F238E27FC236}">
                <a16:creationId xmlns:a16="http://schemas.microsoft.com/office/drawing/2014/main" id="{9CD6931F-A402-369B-D28D-B7F451173DC7}"/>
              </a:ext>
            </a:extLst>
          </p:cNvPr>
          <p:cNvSpPr/>
          <p:nvPr/>
        </p:nvSpPr>
        <p:spPr>
          <a:xfrm>
            <a:off x="8161773" y="2299071"/>
            <a:ext cx="1171843" cy="563188"/>
          </a:xfrm>
          <a:prstGeom prst="rect">
            <a:avLst/>
          </a:prstGeom>
          <a:solidFill>
            <a:srgbClr val="00B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99</a:t>
            </a:r>
          </a:p>
        </p:txBody>
      </p:sp>
      <p:cxnSp>
        <p:nvCxnSpPr>
          <p:cNvPr id="26" name="Gerade Verbindung mit Pfeil 25">
            <a:extLst>
              <a:ext uri="{FF2B5EF4-FFF2-40B4-BE49-F238E27FC236}">
                <a16:creationId xmlns:a16="http://schemas.microsoft.com/office/drawing/2014/main" id="{AC83E7D6-ED91-B6F5-3C54-80EC2D3277B2}"/>
              </a:ext>
            </a:extLst>
          </p:cNvPr>
          <p:cNvCxnSpPr>
            <a:cxnSpLocks/>
          </p:cNvCxnSpPr>
          <p:nvPr/>
        </p:nvCxnSpPr>
        <p:spPr>
          <a:xfrm>
            <a:off x="9496741" y="2086453"/>
            <a:ext cx="0" cy="3146612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feld 29">
            <a:extLst>
              <a:ext uri="{FF2B5EF4-FFF2-40B4-BE49-F238E27FC236}">
                <a16:creationId xmlns:a16="http://schemas.microsoft.com/office/drawing/2014/main" id="{AC8FB692-5FB1-A37E-F2D5-AD2CA84D9378}"/>
              </a:ext>
            </a:extLst>
          </p:cNvPr>
          <p:cNvSpPr txBox="1"/>
          <p:nvPr/>
        </p:nvSpPr>
        <p:spPr>
          <a:xfrm>
            <a:off x="9578502" y="3547452"/>
            <a:ext cx="162776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Stack Memory</a:t>
            </a:r>
          </a:p>
        </p:txBody>
      </p:sp>
      <p:sp>
        <p:nvSpPr>
          <p:cNvPr id="8" name="Geschweifte Klammer links 7">
            <a:extLst>
              <a:ext uri="{FF2B5EF4-FFF2-40B4-BE49-F238E27FC236}">
                <a16:creationId xmlns:a16="http://schemas.microsoft.com/office/drawing/2014/main" id="{8DACB839-2F09-4396-7375-6095F9A34D8B}"/>
              </a:ext>
            </a:extLst>
          </p:cNvPr>
          <p:cNvSpPr/>
          <p:nvPr/>
        </p:nvSpPr>
        <p:spPr>
          <a:xfrm>
            <a:off x="7853464" y="2293978"/>
            <a:ext cx="108142" cy="562650"/>
          </a:xfrm>
          <a:prstGeom prst="leftBrac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feld 10">
            <a:extLst>
              <a:ext uri="{FF2B5EF4-FFF2-40B4-BE49-F238E27FC236}">
                <a16:creationId xmlns:a16="http://schemas.microsoft.com/office/drawing/2014/main" id="{36E9A234-CFCC-149A-C2A4-8C190DCCEC2B}"/>
              </a:ext>
            </a:extLst>
          </p:cNvPr>
          <p:cNvSpPr txBox="1"/>
          <p:nvPr/>
        </p:nvSpPr>
        <p:spPr>
          <a:xfrm>
            <a:off x="7907535" y="5233065"/>
            <a:ext cx="168828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Low Addresses</a:t>
            </a:r>
          </a:p>
        </p:txBody>
      </p:sp>
      <p:sp>
        <p:nvSpPr>
          <p:cNvPr id="12" name="Textfeld 11">
            <a:extLst>
              <a:ext uri="{FF2B5EF4-FFF2-40B4-BE49-F238E27FC236}">
                <a16:creationId xmlns:a16="http://schemas.microsoft.com/office/drawing/2014/main" id="{F1653C6A-CAB3-BB2D-570A-01E996DB72B8}"/>
              </a:ext>
            </a:extLst>
          </p:cNvPr>
          <p:cNvSpPr txBox="1"/>
          <p:nvPr/>
        </p:nvSpPr>
        <p:spPr>
          <a:xfrm>
            <a:off x="7878674" y="1749183"/>
            <a:ext cx="17380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High Addresses</a:t>
            </a:r>
          </a:p>
        </p:txBody>
      </p:sp>
      <p:sp>
        <p:nvSpPr>
          <p:cNvPr id="17" name="Textfeld 16">
            <a:extLst>
              <a:ext uri="{FF2B5EF4-FFF2-40B4-BE49-F238E27FC236}">
                <a16:creationId xmlns:a16="http://schemas.microsoft.com/office/drawing/2014/main" id="{33F9039C-BDA8-1C77-25E1-EE97AB89326D}"/>
              </a:ext>
            </a:extLst>
          </p:cNvPr>
          <p:cNvSpPr txBox="1"/>
          <p:nvPr/>
        </p:nvSpPr>
        <p:spPr>
          <a:xfrm>
            <a:off x="7364996" y="2390904"/>
            <a:ext cx="48846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var</a:t>
            </a:r>
          </a:p>
        </p:txBody>
      </p:sp>
      <p:pic>
        <p:nvPicPr>
          <p:cNvPr id="15" name="Grafik 14">
            <a:extLst>
              <a:ext uri="{FF2B5EF4-FFF2-40B4-BE49-F238E27FC236}">
                <a16:creationId xmlns:a16="http://schemas.microsoft.com/office/drawing/2014/main" id="{A176311C-5975-1898-D0DF-2BCB2DBAC92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98067" y="1472055"/>
            <a:ext cx="4781550" cy="3800475"/>
          </a:xfrm>
          <a:prstGeom prst="rect">
            <a:avLst/>
          </a:prstGeom>
        </p:spPr>
      </p:pic>
      <p:sp>
        <p:nvSpPr>
          <p:cNvPr id="6" name="Rechteck 5">
            <a:extLst>
              <a:ext uri="{FF2B5EF4-FFF2-40B4-BE49-F238E27FC236}">
                <a16:creationId xmlns:a16="http://schemas.microsoft.com/office/drawing/2014/main" id="{6931457A-E4A6-4E83-933E-ED7E3EB8FBBC}"/>
              </a:ext>
            </a:extLst>
          </p:cNvPr>
          <p:cNvSpPr/>
          <p:nvPr/>
        </p:nvSpPr>
        <p:spPr>
          <a:xfrm>
            <a:off x="8161773" y="3425447"/>
            <a:ext cx="1171843" cy="563188"/>
          </a:xfrm>
          <a:prstGeom prst="rect">
            <a:avLst/>
          </a:prstGeom>
          <a:solidFill>
            <a:srgbClr val="64378C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2</a:t>
            </a:r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1EBBC0BD-E41D-63CD-C3F4-1637D745440E}"/>
              </a:ext>
            </a:extLst>
          </p:cNvPr>
          <p:cNvSpPr/>
          <p:nvPr/>
        </p:nvSpPr>
        <p:spPr>
          <a:xfrm>
            <a:off x="8161773" y="2862259"/>
            <a:ext cx="1171843" cy="563188"/>
          </a:xfrm>
          <a:prstGeom prst="rect">
            <a:avLst/>
          </a:prstGeom>
          <a:solidFill>
            <a:srgbClr val="64378C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2</a:t>
            </a:r>
          </a:p>
        </p:txBody>
      </p:sp>
      <p:sp>
        <p:nvSpPr>
          <p:cNvPr id="9" name="Geschweifte Klammer links 8">
            <a:extLst>
              <a:ext uri="{FF2B5EF4-FFF2-40B4-BE49-F238E27FC236}">
                <a16:creationId xmlns:a16="http://schemas.microsoft.com/office/drawing/2014/main" id="{8D38C806-65F8-BC40-DDC1-3484C2ACB226}"/>
              </a:ext>
            </a:extLst>
          </p:cNvPr>
          <p:cNvSpPr/>
          <p:nvPr/>
        </p:nvSpPr>
        <p:spPr>
          <a:xfrm>
            <a:off x="7853464" y="2856628"/>
            <a:ext cx="108142" cy="572372"/>
          </a:xfrm>
          <a:prstGeom prst="leftBrac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Geschweifte Klammer links 9">
            <a:extLst>
              <a:ext uri="{FF2B5EF4-FFF2-40B4-BE49-F238E27FC236}">
                <a16:creationId xmlns:a16="http://schemas.microsoft.com/office/drawing/2014/main" id="{15A17814-C0EE-7F35-00C9-51B06A4FF635}"/>
              </a:ext>
            </a:extLst>
          </p:cNvPr>
          <p:cNvSpPr/>
          <p:nvPr/>
        </p:nvSpPr>
        <p:spPr>
          <a:xfrm>
            <a:off x="7853464" y="3425448"/>
            <a:ext cx="108142" cy="563188"/>
          </a:xfrm>
          <a:prstGeom prst="leftBrac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feld 12">
            <a:extLst>
              <a:ext uri="{FF2B5EF4-FFF2-40B4-BE49-F238E27FC236}">
                <a16:creationId xmlns:a16="http://schemas.microsoft.com/office/drawing/2014/main" id="{11520DD8-927B-275D-1260-7E30012DF613}"/>
              </a:ext>
            </a:extLst>
          </p:cNvPr>
          <p:cNvSpPr txBox="1"/>
          <p:nvPr/>
        </p:nvSpPr>
        <p:spPr>
          <a:xfrm>
            <a:off x="7158604" y="3522375"/>
            <a:ext cx="72006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arr</a:t>
            </a:r>
            <a:r>
              <a:rPr lang="en-US" dirty="0"/>
              <a:t>[0]</a:t>
            </a:r>
          </a:p>
        </p:txBody>
      </p:sp>
      <p:sp>
        <p:nvSpPr>
          <p:cNvPr id="14" name="Textfeld 13">
            <a:extLst>
              <a:ext uri="{FF2B5EF4-FFF2-40B4-BE49-F238E27FC236}">
                <a16:creationId xmlns:a16="http://schemas.microsoft.com/office/drawing/2014/main" id="{0C05DCD1-ED6D-63CD-6181-E9A3FBFF9E70}"/>
              </a:ext>
            </a:extLst>
          </p:cNvPr>
          <p:cNvSpPr txBox="1"/>
          <p:nvPr/>
        </p:nvSpPr>
        <p:spPr>
          <a:xfrm>
            <a:off x="7158605" y="2959187"/>
            <a:ext cx="72006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arr</a:t>
            </a:r>
            <a:r>
              <a:rPr lang="en-US" dirty="0"/>
              <a:t>[1]</a:t>
            </a:r>
          </a:p>
        </p:txBody>
      </p:sp>
      <p:sp>
        <p:nvSpPr>
          <p:cNvPr id="18" name="Rechteck: abgerundete Ecken 17">
            <a:extLst>
              <a:ext uri="{FF2B5EF4-FFF2-40B4-BE49-F238E27FC236}">
                <a16:creationId xmlns:a16="http://schemas.microsoft.com/office/drawing/2014/main" id="{CF46C3CE-553C-C5B2-FCE3-622DAF9659DF}"/>
              </a:ext>
            </a:extLst>
          </p:cNvPr>
          <p:cNvSpPr/>
          <p:nvPr/>
        </p:nvSpPr>
        <p:spPr>
          <a:xfrm>
            <a:off x="1427179" y="5371321"/>
            <a:ext cx="2980361" cy="439643"/>
          </a:xfrm>
          <a:prstGeom prst="round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dirty="0">
                <a:solidFill>
                  <a:schemeClr val="tx1"/>
                </a:solidFill>
              </a:rPr>
              <a:t>&gt;99</a:t>
            </a:r>
          </a:p>
        </p:txBody>
      </p:sp>
      <p:sp>
        <p:nvSpPr>
          <p:cNvPr id="20" name="Rechteck: abgerundete Ecken 19">
            <a:extLst>
              <a:ext uri="{FF2B5EF4-FFF2-40B4-BE49-F238E27FC236}">
                <a16:creationId xmlns:a16="http://schemas.microsoft.com/office/drawing/2014/main" id="{F9A24740-A5BC-D52F-39E6-D42DFCAE067C}"/>
              </a:ext>
            </a:extLst>
          </p:cNvPr>
          <p:cNvSpPr/>
          <p:nvPr/>
        </p:nvSpPr>
        <p:spPr>
          <a:xfrm>
            <a:off x="1374889" y="4213888"/>
            <a:ext cx="2085358" cy="192118"/>
          </a:xfrm>
          <a:prstGeom prst="roundRect">
            <a:avLst/>
          </a:prstGeom>
          <a:noFill/>
          <a:ln w="95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1" name="Gerade Verbindung mit Pfeil 20">
            <a:extLst>
              <a:ext uri="{FF2B5EF4-FFF2-40B4-BE49-F238E27FC236}">
                <a16:creationId xmlns:a16="http://schemas.microsoft.com/office/drawing/2014/main" id="{323D7656-6D06-99D8-5B2E-F7877DE5C2CA}"/>
              </a:ext>
            </a:extLst>
          </p:cNvPr>
          <p:cNvCxnSpPr>
            <a:cxnSpLocks/>
            <a:endCxn id="20" idx="1"/>
          </p:cNvCxnSpPr>
          <p:nvPr/>
        </p:nvCxnSpPr>
        <p:spPr>
          <a:xfrm>
            <a:off x="1144306" y="4309947"/>
            <a:ext cx="230583" cy="0"/>
          </a:xfrm>
          <a:prstGeom prst="straightConnector1">
            <a:avLst/>
          </a:prstGeom>
          <a:ln w="12700">
            <a:solidFill>
              <a:schemeClr val="tx1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22" name="Grafik 21" descr="Blitz Silhouette">
            <a:extLst>
              <a:ext uri="{FF2B5EF4-FFF2-40B4-BE49-F238E27FC236}">
                <a16:creationId xmlns:a16="http://schemas.microsoft.com/office/drawing/2014/main" id="{652BD652-D1E2-E6F4-E0EC-38651E35991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440808" y="4127384"/>
            <a:ext cx="365125" cy="365125"/>
          </a:xfrm>
          <a:prstGeom prst="rect">
            <a:avLst/>
          </a:prstGeom>
          <a:effectLst>
            <a:outerShdw blurRad="50800" dist="50800" dir="5400000" algn="ctr" rotWithShape="0">
              <a:srgbClr val="FF0000"/>
            </a:outerShdw>
          </a:effectLst>
        </p:spPr>
      </p:pic>
    </p:spTree>
    <p:extLst>
      <p:ext uri="{BB962C8B-B14F-4D97-AF65-F5344CB8AC3E}">
        <p14:creationId xmlns:p14="http://schemas.microsoft.com/office/powerpoint/2010/main" val="43134906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9" grpId="0" animBg="1"/>
      <p:bldP spid="10" grpId="0" animBg="1"/>
      <p:bldP spid="13" grpId="0"/>
      <p:bldP spid="14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7D8F18-65F3-D852-76B4-FD39683F28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ußzeilenplatzhalter 1">
            <a:extLst>
              <a:ext uri="{FF2B5EF4-FFF2-40B4-BE49-F238E27FC236}">
                <a16:creationId xmlns:a16="http://schemas.microsoft.com/office/drawing/2014/main" id="{016BFE0C-E54E-31A5-B1EF-A78E93DB92F0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>
                <a:solidFill>
                  <a:srgbClr val="64378C"/>
                </a:solidFill>
              </a:rPr>
              <a:t>Rust's Approach to Memory Safety</a:t>
            </a:r>
            <a:endParaRPr lang="en-US" dirty="0">
              <a:solidFill>
                <a:srgbClr val="64378C"/>
              </a:solidFill>
            </a:endParaRPr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CC1760FE-10D8-E071-8A1C-8F99E12EE260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 algn="ctr"/>
            <a:fld id="{5F85D455-7770-4F98-B944-71C158B4E906}" type="slidenum">
              <a:rPr lang="en-US" smtClean="0"/>
              <a:pPr algn="ctr"/>
              <a:t>17</a:t>
            </a:fld>
            <a:endParaRPr lang="en-US" dirty="0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67D4A55C-81E8-25A9-FD4E-5B288D0948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dirty="0"/>
              <a:t>Memory Safety</a:t>
            </a:r>
          </a:p>
        </p:txBody>
      </p:sp>
      <p:sp>
        <p:nvSpPr>
          <p:cNvPr id="5" name="Inhaltsplatzhalter 4">
            <a:extLst>
              <a:ext uri="{FF2B5EF4-FFF2-40B4-BE49-F238E27FC236}">
                <a16:creationId xmlns:a16="http://schemas.microsoft.com/office/drawing/2014/main" id="{06989FF3-7089-5B87-8E78-25BFC8206D64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1203513" y="941293"/>
            <a:ext cx="9856694" cy="556767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sz="3600" dirty="0"/>
              <a:t>Consequences of this Behavior</a:t>
            </a:r>
            <a:endParaRPr lang="en-US" sz="3600" baseline="-25000" dirty="0"/>
          </a:p>
        </p:txBody>
      </p:sp>
      <p:sp>
        <p:nvSpPr>
          <p:cNvPr id="8" name="Textfeld 7">
            <a:extLst>
              <a:ext uri="{FF2B5EF4-FFF2-40B4-BE49-F238E27FC236}">
                <a16:creationId xmlns:a16="http://schemas.microsoft.com/office/drawing/2014/main" id="{B3EC41C0-68E9-8151-D0D8-23130577AC3E}"/>
              </a:ext>
            </a:extLst>
          </p:cNvPr>
          <p:cNvSpPr txBox="1"/>
          <p:nvPr/>
        </p:nvSpPr>
        <p:spPr>
          <a:xfrm>
            <a:off x="2049294" y="1919591"/>
            <a:ext cx="8527915" cy="36933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/>
              <a:t>Data integrity </a:t>
            </a:r>
            <a:r>
              <a:rPr lang="en-US" sz="2400" dirty="0"/>
              <a:t>is lost:</a:t>
            </a:r>
          </a:p>
          <a:p>
            <a:pPr marL="742950" lvl="1" indent="-285750">
              <a:buFont typeface="Wingdings" panose="05000000000000000000" pitchFamily="2" charset="2"/>
              <a:buChar char="§"/>
            </a:pPr>
            <a:r>
              <a:rPr lang="en-US" dirty="0"/>
              <a:t>Dangling Pointers can be used to manipulate and read the content of a Memory Unit, which they should not have access to.</a:t>
            </a:r>
          </a:p>
          <a:p>
            <a:pPr marL="742950" lvl="1" indent="-285750">
              <a:buFont typeface="Wingdings" panose="05000000000000000000" pitchFamily="2" charset="2"/>
              <a:buChar char="§"/>
            </a:pPr>
            <a:r>
              <a:rPr lang="en-US" dirty="0"/>
              <a:t>The same applies to changing memory on the stack via Out-of-bounds Writes.</a:t>
            </a:r>
          </a:p>
          <a:p>
            <a:pPr lvl="1"/>
            <a:endParaRPr lang="en-US" dirty="0"/>
          </a:p>
          <a:p>
            <a:r>
              <a:rPr lang="en-US" sz="2400" b="1" dirty="0"/>
              <a:t>Availability</a:t>
            </a:r>
            <a:r>
              <a:rPr lang="en-US" sz="2400" dirty="0"/>
              <a:t> of a service may be limited due to software crashes:</a:t>
            </a:r>
          </a:p>
          <a:p>
            <a:pPr marL="742950" lvl="1" indent="-285750">
              <a:buFont typeface="Wingdings" panose="05000000000000000000" pitchFamily="2" charset="2"/>
              <a:buChar char="§"/>
            </a:pPr>
            <a:r>
              <a:rPr lang="en-US" dirty="0"/>
              <a:t>If chunk consolidation occurs after a </a:t>
            </a:r>
            <a:r>
              <a:rPr lang="en-US" i="1" dirty="0"/>
              <a:t>memory free</a:t>
            </a:r>
            <a:r>
              <a:rPr lang="en-US" dirty="0"/>
              <a:t>, the program will crash the next time memory is accessed via a</a:t>
            </a:r>
            <a:r>
              <a:rPr lang="en-US" i="1" dirty="0"/>
              <a:t> </a:t>
            </a:r>
            <a:r>
              <a:rPr lang="en-US" dirty="0"/>
              <a:t>Dangling Pointer, as the chunk information is no longer valid.</a:t>
            </a:r>
          </a:p>
          <a:p>
            <a:pPr marL="742950" lvl="1" indent="-285750">
              <a:buFont typeface="Wingdings" panose="05000000000000000000" pitchFamily="2" charset="2"/>
              <a:buChar char="§"/>
            </a:pPr>
            <a:r>
              <a:rPr lang="en-US" dirty="0"/>
              <a:t>If the Out-of-bounds Write accidentally overwrites a return address of a function, this can also cause the program to crash.</a:t>
            </a:r>
          </a:p>
        </p:txBody>
      </p:sp>
      <p:pic>
        <p:nvPicPr>
          <p:cNvPr id="10" name="Grafik 9" descr="Uhr Silhouette">
            <a:extLst>
              <a:ext uri="{FF2B5EF4-FFF2-40B4-BE49-F238E27FC236}">
                <a16:creationId xmlns:a16="http://schemas.microsoft.com/office/drawing/2014/main" id="{A6C907EB-9FC3-E49A-4BF1-F8D1AB53FD1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42998" y="3315012"/>
            <a:ext cx="914400" cy="914400"/>
          </a:xfrm>
          <a:prstGeom prst="rect">
            <a:avLst/>
          </a:prstGeom>
        </p:spPr>
      </p:pic>
      <p:pic>
        <p:nvPicPr>
          <p:cNvPr id="14" name="Grafik 13" descr="Datenbank Silhouette">
            <a:extLst>
              <a:ext uri="{FF2B5EF4-FFF2-40B4-BE49-F238E27FC236}">
                <a16:creationId xmlns:a16="http://schemas.microsoft.com/office/drawing/2014/main" id="{31B368F1-8D6C-57E8-B5EC-9014EEBDBD7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142998" y="1714189"/>
            <a:ext cx="914400" cy="914400"/>
          </a:xfrm>
          <a:prstGeom prst="rect">
            <a:avLst/>
          </a:prstGeom>
        </p:spPr>
      </p:pic>
      <p:pic>
        <p:nvPicPr>
          <p:cNvPr id="16" name="Grafik 15" descr="Schild mit einfarbiger Füllung">
            <a:extLst>
              <a:ext uri="{FF2B5EF4-FFF2-40B4-BE49-F238E27FC236}">
                <a16:creationId xmlns:a16="http://schemas.microsoft.com/office/drawing/2014/main" id="{BC59D99C-A5BB-8314-436E-EE29CB80B05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571296" y="2142487"/>
            <a:ext cx="486102" cy="486102"/>
          </a:xfrm>
          <a:prstGeom prst="rect">
            <a:avLst/>
          </a:prstGeom>
        </p:spPr>
      </p:pic>
      <p:sp>
        <p:nvSpPr>
          <p:cNvPr id="17" name="Textfeld 16">
            <a:extLst>
              <a:ext uri="{FF2B5EF4-FFF2-40B4-BE49-F238E27FC236}">
                <a16:creationId xmlns:a16="http://schemas.microsoft.com/office/drawing/2014/main" id="{5B3518C4-9462-F4F6-90E0-D7C6C872C71F}"/>
              </a:ext>
            </a:extLst>
          </p:cNvPr>
          <p:cNvSpPr txBox="1"/>
          <p:nvPr/>
        </p:nvSpPr>
        <p:spPr>
          <a:xfrm>
            <a:off x="1283444" y="3587546"/>
            <a:ext cx="63350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tx1">
                    <a:alpha val="36000"/>
                  </a:schemeClr>
                </a:solidFill>
              </a:rPr>
              <a:t>24/7</a:t>
            </a:r>
          </a:p>
        </p:txBody>
      </p:sp>
    </p:spTree>
    <p:extLst>
      <p:ext uri="{BB962C8B-B14F-4D97-AF65-F5344CB8AC3E}">
        <p14:creationId xmlns:p14="http://schemas.microsoft.com/office/powerpoint/2010/main" val="1782411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ußzeilenplatzhalter 1">
            <a:extLst>
              <a:ext uri="{FF2B5EF4-FFF2-40B4-BE49-F238E27FC236}">
                <a16:creationId xmlns:a16="http://schemas.microsoft.com/office/drawing/2014/main" id="{ECE9134A-6DC6-9AA5-5E12-BD8DC0D2521A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>
                <a:solidFill>
                  <a:srgbClr val="64378C"/>
                </a:solidFill>
              </a:rPr>
              <a:t>Rust's Approach to Memory Safety</a:t>
            </a:r>
            <a:endParaRPr lang="en-US" dirty="0">
              <a:solidFill>
                <a:srgbClr val="64378C"/>
              </a:solidFill>
            </a:endParaRPr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E279AEE0-7862-958E-9183-AA7D3D05879C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 algn="ctr"/>
            <a:fld id="{5F85D455-7770-4F98-B944-71C158B4E906}" type="slidenum">
              <a:rPr lang="en-US" smtClean="0"/>
              <a:pPr algn="ctr"/>
              <a:t>18</a:t>
            </a:fld>
            <a:endParaRPr lang="en-US" dirty="0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F21EB78F-8967-A29F-440C-0D8164EDA57A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dirty="0"/>
              <a:t>Memory Safety</a:t>
            </a:r>
          </a:p>
        </p:txBody>
      </p:sp>
      <p:sp>
        <p:nvSpPr>
          <p:cNvPr id="5" name="Inhaltsplatzhalter 4">
            <a:extLst>
              <a:ext uri="{FF2B5EF4-FFF2-40B4-BE49-F238E27FC236}">
                <a16:creationId xmlns:a16="http://schemas.microsoft.com/office/drawing/2014/main" id="{24B85922-9B7C-11D6-F72A-C25793DD84F7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1203513" y="941294"/>
            <a:ext cx="9856694" cy="67349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3600" dirty="0"/>
              <a:t>Approaches</a:t>
            </a:r>
            <a:r>
              <a:rPr lang="en-US" dirty="0"/>
              <a:t> </a:t>
            </a:r>
            <a:r>
              <a:rPr lang="en-US" sz="3600" dirty="0"/>
              <a:t>to achieving Memory Safety</a:t>
            </a:r>
            <a:endParaRPr lang="en-US" dirty="0"/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589432FC-2CBA-298E-2940-DCE46464B5A8}"/>
              </a:ext>
            </a:extLst>
          </p:cNvPr>
          <p:cNvSpPr txBox="1"/>
          <p:nvPr/>
        </p:nvSpPr>
        <p:spPr>
          <a:xfrm>
            <a:off x="1963270" y="1855694"/>
            <a:ext cx="8310283" cy="39703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/>
              <a:t>Programming Languages with </a:t>
            </a:r>
            <a:r>
              <a:rPr lang="en-US" sz="2000" b="1" dirty="0"/>
              <a:t>Automatic Memory Management</a:t>
            </a:r>
            <a:r>
              <a:rPr lang="en-US" sz="1600" b="1" dirty="0"/>
              <a:t>:</a:t>
            </a:r>
          </a:p>
          <a:p>
            <a:pPr marL="742950" lvl="1" indent="-285750">
              <a:buFont typeface="Wingdings" panose="05000000000000000000" pitchFamily="2" charset="2"/>
              <a:buChar char="§"/>
            </a:pPr>
            <a:r>
              <a:rPr lang="de-DE" sz="1600" dirty="0" err="1"/>
              <a:t>No</a:t>
            </a:r>
            <a:r>
              <a:rPr lang="de-DE" sz="1600" dirty="0"/>
              <a:t> </a:t>
            </a:r>
            <a:r>
              <a:rPr lang="de-DE" sz="1600" dirty="0" err="1"/>
              <a:t>developer-controlled</a:t>
            </a:r>
            <a:r>
              <a:rPr lang="de-DE" sz="1600" dirty="0"/>
              <a:t> </a:t>
            </a:r>
            <a:r>
              <a:rPr lang="de-DE" sz="1600" dirty="0" err="1"/>
              <a:t>memory</a:t>
            </a:r>
            <a:r>
              <a:rPr lang="de-DE" sz="1600" dirty="0"/>
              <a:t> </a:t>
            </a:r>
            <a:r>
              <a:rPr lang="de-DE" sz="1600" dirty="0" err="1"/>
              <a:t>management</a:t>
            </a:r>
            <a:endParaRPr lang="de-DE" sz="1600" dirty="0"/>
          </a:p>
          <a:p>
            <a:pPr marL="742950" lvl="1" indent="-285750">
              <a:buFont typeface="Wingdings" panose="05000000000000000000" pitchFamily="2" charset="2"/>
              <a:buChar char="§"/>
            </a:pPr>
            <a:r>
              <a:rPr lang="de-DE" sz="1600" dirty="0" err="1"/>
              <a:t>Runtime-managed</a:t>
            </a:r>
            <a:r>
              <a:rPr lang="de-DE" sz="1600" dirty="0"/>
              <a:t> </a:t>
            </a:r>
            <a:r>
              <a:rPr lang="de-DE" sz="1600" dirty="0" err="1"/>
              <a:t>automated</a:t>
            </a:r>
            <a:r>
              <a:rPr lang="de-DE" sz="1600" dirty="0"/>
              <a:t> </a:t>
            </a:r>
            <a:r>
              <a:rPr lang="de-DE" sz="1600" dirty="0" err="1"/>
              <a:t>garbage</a:t>
            </a:r>
            <a:r>
              <a:rPr lang="de-DE" sz="1600" dirty="0"/>
              <a:t> </a:t>
            </a:r>
            <a:r>
              <a:rPr lang="de-DE" sz="1600" dirty="0" err="1"/>
              <a:t>collection</a:t>
            </a:r>
            <a:endParaRPr lang="en-US" sz="1600" dirty="0"/>
          </a:p>
          <a:p>
            <a:pPr marL="742950" lvl="1" indent="-285750">
              <a:buFont typeface="Wingdings" panose="05000000000000000000" pitchFamily="2" charset="2"/>
              <a:buChar char="§"/>
            </a:pPr>
            <a:r>
              <a:rPr lang="en-US" sz="1600" dirty="0"/>
              <a:t>High reliability paired with unpredictable performance costs</a:t>
            </a:r>
          </a:p>
          <a:p>
            <a:pPr marL="742950" lvl="1" indent="-285750">
              <a:buFont typeface="Wingdings" panose="05000000000000000000" pitchFamily="2" charset="2"/>
              <a:buChar char="§"/>
            </a:pPr>
            <a:endParaRPr lang="en-US" sz="1600" dirty="0"/>
          </a:p>
          <a:p>
            <a:r>
              <a:rPr lang="en-US" sz="2000" b="1" dirty="0"/>
              <a:t>Instrumentation</a:t>
            </a:r>
            <a:r>
              <a:rPr lang="en-US" sz="1600" dirty="0"/>
              <a:t> of memory-unsafe Programs:</a:t>
            </a:r>
          </a:p>
          <a:p>
            <a:pPr marL="742950" lvl="1" indent="-285750">
              <a:buFont typeface="Wingdings" panose="05000000000000000000" pitchFamily="2" charset="2"/>
              <a:buChar char="§"/>
            </a:pPr>
            <a:r>
              <a:rPr lang="en-US" sz="1600" dirty="0"/>
              <a:t>Compiler inserts instructions to catch invalid memory access at runtime</a:t>
            </a:r>
          </a:p>
          <a:p>
            <a:pPr marL="742950" lvl="1" indent="-285750">
              <a:buFont typeface="Wingdings" panose="05000000000000000000" pitchFamily="2" charset="2"/>
              <a:buChar char="§"/>
            </a:pPr>
            <a:r>
              <a:rPr lang="en-US" sz="1600" dirty="0"/>
              <a:t>Tools like </a:t>
            </a:r>
            <a:r>
              <a:rPr lang="en-US" sz="1600" dirty="0" err="1"/>
              <a:t>ASan</a:t>
            </a:r>
            <a:r>
              <a:rPr lang="en-US" sz="1600" dirty="0"/>
              <a:t> and </a:t>
            </a:r>
            <a:r>
              <a:rPr lang="en-US" sz="1600" dirty="0" err="1"/>
              <a:t>Valgrind</a:t>
            </a:r>
            <a:r>
              <a:rPr lang="en-US" sz="1600" dirty="0"/>
              <a:t> automatically inject these instructions</a:t>
            </a:r>
          </a:p>
          <a:p>
            <a:pPr marL="742950" lvl="1" indent="-285750">
              <a:buFont typeface="Wingdings" panose="05000000000000000000" pitchFamily="2" charset="2"/>
              <a:buChar char="Ø"/>
            </a:pPr>
            <a:r>
              <a:rPr lang="en-US" sz="1600" dirty="0"/>
              <a:t>Languages like Rust prevent illegal access by crashing safely</a:t>
            </a:r>
          </a:p>
          <a:p>
            <a:pPr marL="742950" lvl="1" indent="-285750">
              <a:buFont typeface="Wingdings" panose="05000000000000000000" pitchFamily="2" charset="2"/>
              <a:buChar char="§"/>
            </a:pPr>
            <a:endParaRPr lang="en-US" sz="1600" dirty="0"/>
          </a:p>
          <a:p>
            <a:r>
              <a:rPr lang="en-US" sz="1600" dirty="0"/>
              <a:t>Memory Safety achieved at </a:t>
            </a:r>
            <a:r>
              <a:rPr lang="en-US" sz="2000" b="1" dirty="0"/>
              <a:t>Compile Time</a:t>
            </a:r>
            <a:r>
              <a:rPr lang="en-US" sz="1600" dirty="0"/>
              <a:t>:</a:t>
            </a:r>
          </a:p>
          <a:p>
            <a:pPr marL="742950" lvl="1" indent="-285750">
              <a:buFont typeface="Wingdings" panose="05000000000000000000" pitchFamily="2" charset="2"/>
              <a:buChar char="§"/>
            </a:pPr>
            <a:r>
              <a:rPr lang="en-US" sz="1600" dirty="0"/>
              <a:t>Memory errors blocked entirely at compile time</a:t>
            </a:r>
          </a:p>
          <a:p>
            <a:pPr marL="742950" lvl="1" indent="-285750">
              <a:buFont typeface="Wingdings" panose="05000000000000000000" pitchFamily="2" charset="2"/>
              <a:buChar char="§"/>
            </a:pPr>
            <a:r>
              <a:rPr lang="en-US" sz="1600" dirty="0"/>
              <a:t>Strict reliance on new rules and concepts</a:t>
            </a:r>
          </a:p>
          <a:p>
            <a:pPr marL="742950" lvl="1" indent="-285750">
              <a:buFont typeface="Wingdings" panose="05000000000000000000" pitchFamily="2" charset="2"/>
              <a:buChar char="§"/>
            </a:pPr>
            <a:r>
              <a:rPr lang="en-US" sz="1600" dirty="0"/>
              <a:t>Zero performance or runtime overhead</a:t>
            </a:r>
          </a:p>
          <a:p>
            <a:pPr marL="742950" lvl="1" indent="-285750">
              <a:buFont typeface="Wingdings" panose="05000000000000000000" pitchFamily="2" charset="2"/>
              <a:buChar char="Ø"/>
            </a:pPr>
            <a:r>
              <a:rPr lang="en-US" sz="1600" dirty="0"/>
              <a:t>Rust uses this approach to prevent memory errors</a:t>
            </a:r>
          </a:p>
        </p:txBody>
      </p:sp>
      <p:pic>
        <p:nvPicPr>
          <p:cNvPr id="5122" name="Picture 2">
            <a:extLst>
              <a:ext uri="{FF2B5EF4-FFF2-40B4-BE49-F238E27FC236}">
                <a16:creationId xmlns:a16="http://schemas.microsoft.com/office/drawing/2014/main" id="{9CD046D1-C3AF-2608-900F-6EBE93F147B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697424" y="2219453"/>
            <a:ext cx="390993" cy="39099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126" name="Picture 6">
            <a:extLst>
              <a:ext uri="{FF2B5EF4-FFF2-40B4-BE49-F238E27FC236}">
                <a16:creationId xmlns:a16="http://schemas.microsoft.com/office/drawing/2014/main" id="{9D9121CF-D24E-8E3E-03E8-19514C22BCB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81399" y="1823596"/>
            <a:ext cx="243501" cy="46167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128" name="Picture 8">
            <a:extLst>
              <a:ext uri="{FF2B5EF4-FFF2-40B4-BE49-F238E27FC236}">
                <a16:creationId xmlns:a16="http://schemas.microsoft.com/office/drawing/2014/main" id="{A17649BF-445B-2DC0-3281-8563BFEDA30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16560" y="2263239"/>
            <a:ext cx="461679" cy="46167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Picture 4">
            <a:extLst>
              <a:ext uri="{FF2B5EF4-FFF2-40B4-BE49-F238E27FC236}">
                <a16:creationId xmlns:a16="http://schemas.microsoft.com/office/drawing/2014/main" id="{F9FAF43E-4804-E4A5-185F-FEC8053E0B4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alphaModFix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49506" y="3778795"/>
            <a:ext cx="1039971" cy="1039971"/>
          </a:xfrm>
          <a:prstGeom prst="rect">
            <a:avLst/>
          </a:prstGeom>
          <a:noFill/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9" name="Gerader Verbinder 8">
            <a:extLst>
              <a:ext uri="{FF2B5EF4-FFF2-40B4-BE49-F238E27FC236}">
                <a16:creationId xmlns:a16="http://schemas.microsoft.com/office/drawing/2014/main" id="{46A8985E-43CB-064F-F63A-4116DD818C8E}"/>
              </a:ext>
            </a:extLst>
          </p:cNvPr>
          <p:cNvCxnSpPr>
            <a:cxnSpLocks/>
          </p:cNvCxnSpPr>
          <p:nvPr/>
        </p:nvCxnSpPr>
        <p:spPr>
          <a:xfrm>
            <a:off x="1114634" y="3023527"/>
            <a:ext cx="9158919" cy="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Gerader Verbinder 13">
            <a:extLst>
              <a:ext uri="{FF2B5EF4-FFF2-40B4-BE49-F238E27FC236}">
                <a16:creationId xmlns:a16="http://schemas.microsoft.com/office/drawing/2014/main" id="{BF26E0EF-2BE4-321E-DB16-BBDDE97C86C9}"/>
              </a:ext>
            </a:extLst>
          </p:cNvPr>
          <p:cNvCxnSpPr>
            <a:cxnSpLocks/>
          </p:cNvCxnSpPr>
          <p:nvPr/>
        </p:nvCxnSpPr>
        <p:spPr>
          <a:xfrm>
            <a:off x="2015685" y="4298781"/>
            <a:ext cx="8257867" cy="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13590116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ußzeilenplatzhalter 1">
            <a:extLst>
              <a:ext uri="{FF2B5EF4-FFF2-40B4-BE49-F238E27FC236}">
                <a16:creationId xmlns:a16="http://schemas.microsoft.com/office/drawing/2014/main" id="{4926265A-37AD-7636-C1A3-8E53F6C526FC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dirty="0">
                <a:solidFill>
                  <a:srgbClr val="64378C"/>
                </a:solidFill>
              </a:rPr>
              <a:t>Rust's Approach to Memory Safety</a:t>
            </a:r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A33638A9-CFF3-39E0-4F33-3C7BEB61F5B8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 algn="ctr"/>
            <a:fld id="{5F85D455-7770-4F98-B944-71C158B4E906}" type="slidenum">
              <a:rPr lang="en-US" smtClean="0"/>
              <a:pPr algn="ctr"/>
              <a:t>19</a:t>
            </a:fld>
            <a:endParaRPr lang="en-US" dirty="0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48BFF591-8932-1D12-0BE9-9D359FE6ACB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de-DE" dirty="0"/>
              <a:t>Rust</a:t>
            </a:r>
            <a:r>
              <a:rPr lang="en-US" dirty="0"/>
              <a:t>’s Approach</a:t>
            </a:r>
            <a:endParaRPr lang="de-DE" dirty="0"/>
          </a:p>
        </p:txBody>
      </p:sp>
      <p:sp>
        <p:nvSpPr>
          <p:cNvPr id="5" name="Inhaltsplatzhalter 4">
            <a:extLst>
              <a:ext uri="{FF2B5EF4-FFF2-40B4-BE49-F238E27FC236}">
                <a16:creationId xmlns:a16="http://schemas.microsoft.com/office/drawing/2014/main" id="{733E09E4-3375-AF35-F800-1216B7157965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1203513" y="1790700"/>
            <a:ext cx="9856694" cy="4013200"/>
          </a:xfrm>
        </p:spPr>
        <p:txBody>
          <a:bodyPr>
            <a:normAutofit/>
          </a:bodyPr>
          <a:lstStyle/>
          <a:p>
            <a:pPr>
              <a:buFont typeface="Wingdings" panose="05000000000000000000" pitchFamily="2" charset="2"/>
              <a:buChar char="§"/>
            </a:pPr>
            <a:r>
              <a:rPr lang="en-US" sz="2000" dirty="0"/>
              <a:t>Rust promises to be the solution to the challenge of combining two previously incompatible programming challenges:</a:t>
            </a:r>
          </a:p>
          <a:p>
            <a:pPr marL="0" indent="0" algn="ctr">
              <a:buNone/>
            </a:pPr>
            <a:r>
              <a:rPr lang="en-US" b="1" dirty="0"/>
              <a:t>Full hardware and memory control without compromising on security or the developer experience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en-US" sz="2000" dirty="0"/>
              <a:t>Rust offers a complete tool suite, in addition to the compiler also a formatter, language server, and its own package manager.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en-US" sz="2000" dirty="0"/>
              <a:t>According to Stack Overflow statistics from 2025, Rust has been the most popular up-and-coming programming language for years:</a:t>
            </a:r>
          </a:p>
          <a:p>
            <a:pPr marL="0" indent="0" algn="ctr">
              <a:buNone/>
            </a:pPr>
            <a:r>
              <a:rPr lang="en-US" b="1" dirty="0"/>
              <a:t>Over 72% of developers who start programming in Rust continue to use it</a:t>
            </a:r>
            <a:r>
              <a:rPr lang="en-US" sz="1200" baseline="-25000" dirty="0"/>
              <a:t>[6]</a:t>
            </a:r>
            <a:endParaRPr lang="de-DE" baseline="-25000" dirty="0"/>
          </a:p>
        </p:txBody>
      </p:sp>
      <p:sp>
        <p:nvSpPr>
          <p:cNvPr id="6" name="Inhaltsplatzhalter 4">
            <a:extLst>
              <a:ext uri="{FF2B5EF4-FFF2-40B4-BE49-F238E27FC236}">
                <a16:creationId xmlns:a16="http://schemas.microsoft.com/office/drawing/2014/main" id="{5077A446-F896-3D2F-449B-C4009441E9EE}"/>
              </a:ext>
            </a:extLst>
          </p:cNvPr>
          <p:cNvSpPr txBox="1">
            <a:spLocks/>
          </p:cNvSpPr>
          <p:nvPr/>
        </p:nvSpPr>
        <p:spPr>
          <a:xfrm>
            <a:off x="1203513" y="941294"/>
            <a:ext cx="9856694" cy="67349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sz="3600" dirty="0"/>
              <a:t>Why use Rust?</a:t>
            </a:r>
            <a:endParaRPr lang="en-US" dirty="0"/>
          </a:p>
        </p:txBody>
      </p:sp>
      <p:sp>
        <p:nvSpPr>
          <p:cNvPr id="7" name="Textfeld 6">
            <a:extLst>
              <a:ext uri="{FF2B5EF4-FFF2-40B4-BE49-F238E27FC236}">
                <a16:creationId xmlns:a16="http://schemas.microsoft.com/office/drawing/2014/main" id="{CB3EB4F2-D3D7-6A28-467F-EFBB2C490332}"/>
              </a:ext>
            </a:extLst>
          </p:cNvPr>
          <p:cNvSpPr txBox="1"/>
          <p:nvPr/>
        </p:nvSpPr>
        <p:spPr>
          <a:xfrm>
            <a:off x="1092200" y="5899150"/>
            <a:ext cx="9642287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800" dirty="0"/>
              <a:t>[6] </a:t>
            </a:r>
            <a:r>
              <a:rPr lang="de-DE" sz="800" dirty="0">
                <a:hlinkClick r:id="rId3"/>
              </a:rPr>
              <a:t>https://survey.stackoverflow.co/2025/technology/#2-programming-scripting-and-markup-languages</a:t>
            </a:r>
            <a:r>
              <a:rPr lang="de-DE" sz="800" dirty="0"/>
              <a:t> </a:t>
            </a:r>
            <a:endParaRPr lang="en-US" sz="800" dirty="0"/>
          </a:p>
        </p:txBody>
      </p:sp>
    </p:spTree>
    <p:extLst>
      <p:ext uri="{BB962C8B-B14F-4D97-AF65-F5344CB8AC3E}">
        <p14:creationId xmlns:p14="http://schemas.microsoft.com/office/powerpoint/2010/main" val="134210463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ABD33E-D409-12E2-6D7E-8A529A739F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ußzeilenplatzhalter 1">
            <a:extLst>
              <a:ext uri="{FF2B5EF4-FFF2-40B4-BE49-F238E27FC236}">
                <a16:creationId xmlns:a16="http://schemas.microsoft.com/office/drawing/2014/main" id="{DA74A8E6-F218-DF4F-E40E-DA22D5641A88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dirty="0">
                <a:solidFill>
                  <a:srgbClr val="64378C"/>
                </a:solidFill>
              </a:rPr>
              <a:t>Rust's Approach to Memory Safety</a:t>
            </a:r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A50E7429-93D0-DCC4-351E-0B51BC3586B3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 algn="ctr"/>
            <a:fld id="{5F85D455-7770-4F98-B944-71C158B4E906}" type="slidenum">
              <a:rPr lang="en-US" smtClean="0"/>
              <a:pPr algn="ctr"/>
              <a:t>20</a:t>
            </a:fld>
            <a:endParaRPr lang="en-US" dirty="0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90CE2F4B-59A4-84D9-2A74-805739D69EC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de-DE" dirty="0"/>
              <a:t>Rust</a:t>
            </a:r>
            <a:r>
              <a:rPr lang="en-US" dirty="0"/>
              <a:t>’s Approach</a:t>
            </a:r>
            <a:endParaRPr lang="de-DE" dirty="0"/>
          </a:p>
        </p:txBody>
      </p:sp>
      <p:sp>
        <p:nvSpPr>
          <p:cNvPr id="6" name="Inhaltsplatzhalter 4">
            <a:extLst>
              <a:ext uri="{FF2B5EF4-FFF2-40B4-BE49-F238E27FC236}">
                <a16:creationId xmlns:a16="http://schemas.microsoft.com/office/drawing/2014/main" id="{5532610B-77B9-A750-BD44-457FF8A158C5}"/>
              </a:ext>
            </a:extLst>
          </p:cNvPr>
          <p:cNvSpPr txBox="1">
            <a:spLocks/>
          </p:cNvSpPr>
          <p:nvPr/>
        </p:nvSpPr>
        <p:spPr>
          <a:xfrm>
            <a:off x="1203513" y="941294"/>
            <a:ext cx="9856694" cy="67349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sz="3600" dirty="0"/>
              <a:t>Ownership Rules</a:t>
            </a:r>
            <a:r>
              <a:rPr lang="en-US" sz="1200" baseline="-25000" dirty="0"/>
              <a:t>[7]</a:t>
            </a:r>
            <a:endParaRPr lang="en-US" baseline="-25000" dirty="0"/>
          </a:p>
        </p:txBody>
      </p:sp>
      <p:sp>
        <p:nvSpPr>
          <p:cNvPr id="16" name="Rechteck: abgerundete Ecken 15">
            <a:extLst>
              <a:ext uri="{FF2B5EF4-FFF2-40B4-BE49-F238E27FC236}">
                <a16:creationId xmlns:a16="http://schemas.microsoft.com/office/drawing/2014/main" id="{01EF1F76-A3CE-1791-BCCD-4CA0EFC09D4F}"/>
              </a:ext>
            </a:extLst>
          </p:cNvPr>
          <p:cNvSpPr>
            <a:spLocks/>
          </p:cNvSpPr>
          <p:nvPr/>
        </p:nvSpPr>
        <p:spPr>
          <a:xfrm>
            <a:off x="748573" y="1697002"/>
            <a:ext cx="2885316" cy="1148918"/>
          </a:xfrm>
          <a:prstGeom prst="roundRect">
            <a:avLst>
              <a:gd name="adj" fmla="val 11418"/>
            </a:avLst>
          </a:prstGeom>
          <a:solidFill>
            <a:schemeClr val="bg1"/>
          </a:solidFill>
          <a:ln w="12700" cap="flat">
            <a:solidFill>
              <a:schemeClr val="accent1">
                <a:shade val="15000"/>
              </a:schemeClr>
            </a:solidFill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sp>
        <p:nvSpPr>
          <p:cNvPr id="17" name="Rechteck: abgerundete Ecken 16">
            <a:extLst>
              <a:ext uri="{FF2B5EF4-FFF2-40B4-BE49-F238E27FC236}">
                <a16:creationId xmlns:a16="http://schemas.microsoft.com/office/drawing/2014/main" id="{EA152980-51D5-B8E4-BA85-2C4B629E91CB}"/>
              </a:ext>
            </a:extLst>
          </p:cNvPr>
          <p:cNvSpPr>
            <a:spLocks/>
          </p:cNvSpPr>
          <p:nvPr/>
        </p:nvSpPr>
        <p:spPr>
          <a:xfrm>
            <a:off x="748573" y="1697002"/>
            <a:ext cx="2885315" cy="458482"/>
          </a:xfrm>
          <a:prstGeom prst="roundRect">
            <a:avLst>
              <a:gd name="adj" fmla="val 27672"/>
            </a:avLst>
          </a:prstGeom>
          <a:solidFill>
            <a:srgbClr val="64378C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600" b="1" dirty="0" err="1"/>
              <a:t>Each</a:t>
            </a:r>
            <a:r>
              <a:rPr lang="de-DE" sz="1600" b="1" dirty="0"/>
              <a:t> Value </a:t>
            </a:r>
            <a:r>
              <a:rPr lang="de-DE" sz="1600" b="1" dirty="0" err="1"/>
              <a:t>has</a:t>
            </a:r>
            <a:r>
              <a:rPr lang="de-DE" sz="1600" b="1" dirty="0"/>
              <a:t> an Owner.</a:t>
            </a:r>
          </a:p>
        </p:txBody>
      </p:sp>
      <p:pic>
        <p:nvPicPr>
          <p:cNvPr id="10" name="Grafik 9">
            <a:extLst>
              <a:ext uri="{FF2B5EF4-FFF2-40B4-BE49-F238E27FC236}">
                <a16:creationId xmlns:a16="http://schemas.microsoft.com/office/drawing/2014/main" id="{94ED3DE4-A9F6-C7FC-7F16-3994080B6A9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85263" y="1901682"/>
            <a:ext cx="3211934" cy="1148918"/>
          </a:xfrm>
          <a:prstGeom prst="rect">
            <a:avLst/>
          </a:prstGeom>
        </p:spPr>
      </p:pic>
      <p:pic>
        <p:nvPicPr>
          <p:cNvPr id="26" name="Grafik 25" descr="Marke 1 mit einfarbiger Füllung">
            <a:extLst>
              <a:ext uri="{FF2B5EF4-FFF2-40B4-BE49-F238E27FC236}">
                <a16:creationId xmlns:a16="http://schemas.microsoft.com/office/drawing/2014/main" id="{5626019F-5830-E379-FFB9-A3CDE37D9A2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68771" y="1492321"/>
            <a:ext cx="359602" cy="366549"/>
          </a:xfrm>
          <a:prstGeom prst="rect">
            <a:avLst/>
          </a:prstGeom>
        </p:spPr>
      </p:pic>
      <p:sp>
        <p:nvSpPr>
          <p:cNvPr id="35" name="Rechteck: abgerundete Ecken 34">
            <a:extLst>
              <a:ext uri="{FF2B5EF4-FFF2-40B4-BE49-F238E27FC236}">
                <a16:creationId xmlns:a16="http://schemas.microsoft.com/office/drawing/2014/main" id="{89082FAE-47DB-BCD9-26D5-BAD85ACD7409}"/>
              </a:ext>
            </a:extLst>
          </p:cNvPr>
          <p:cNvSpPr>
            <a:spLocks/>
          </p:cNvSpPr>
          <p:nvPr/>
        </p:nvSpPr>
        <p:spPr>
          <a:xfrm>
            <a:off x="2282145" y="3080077"/>
            <a:ext cx="3772848" cy="1962570"/>
          </a:xfrm>
          <a:prstGeom prst="roundRect">
            <a:avLst>
              <a:gd name="adj" fmla="val 6487"/>
            </a:avLst>
          </a:prstGeom>
          <a:solidFill>
            <a:schemeClr val="bg1"/>
          </a:solidFill>
          <a:ln w="12700" cap="flat">
            <a:solidFill>
              <a:schemeClr val="accent1">
                <a:shade val="15000"/>
              </a:schemeClr>
            </a:solidFill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sp>
        <p:nvSpPr>
          <p:cNvPr id="36" name="Rechteck: abgerundete Ecken 35">
            <a:extLst>
              <a:ext uri="{FF2B5EF4-FFF2-40B4-BE49-F238E27FC236}">
                <a16:creationId xmlns:a16="http://schemas.microsoft.com/office/drawing/2014/main" id="{B3654B8F-5FAA-00F0-07D0-0B0437421541}"/>
              </a:ext>
            </a:extLst>
          </p:cNvPr>
          <p:cNvSpPr>
            <a:spLocks/>
          </p:cNvSpPr>
          <p:nvPr/>
        </p:nvSpPr>
        <p:spPr>
          <a:xfrm>
            <a:off x="2282145" y="3080077"/>
            <a:ext cx="3772849" cy="428005"/>
          </a:xfrm>
          <a:prstGeom prst="roundRect">
            <a:avLst>
              <a:gd name="adj" fmla="val 27672"/>
            </a:avLst>
          </a:prstGeom>
          <a:solidFill>
            <a:srgbClr val="64378C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b="1" dirty="0"/>
              <a:t>There can only be one owner at a time.</a:t>
            </a:r>
          </a:p>
        </p:txBody>
      </p:sp>
      <p:pic>
        <p:nvPicPr>
          <p:cNvPr id="37" name="Grafik 36">
            <a:extLst>
              <a:ext uri="{FF2B5EF4-FFF2-40B4-BE49-F238E27FC236}">
                <a16:creationId xmlns:a16="http://schemas.microsoft.com/office/drawing/2014/main" id="{ED8FDA57-CCD8-0970-3292-BB453673FC9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2205688" y="3285915"/>
            <a:ext cx="3734155" cy="1225766"/>
          </a:xfrm>
          <a:prstGeom prst="rect">
            <a:avLst/>
          </a:prstGeom>
        </p:spPr>
      </p:pic>
      <p:pic>
        <p:nvPicPr>
          <p:cNvPr id="38" name="Grafik 37" descr="Abzeichen mit einfarbiger Füllung">
            <a:extLst>
              <a:ext uri="{FF2B5EF4-FFF2-40B4-BE49-F238E27FC236}">
                <a16:creationId xmlns:a16="http://schemas.microsoft.com/office/drawing/2014/main" id="{A70405B8-7D4E-F80D-0655-E78A0FCBFD8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2090541" y="2877617"/>
            <a:ext cx="359294" cy="342184"/>
          </a:xfrm>
          <a:prstGeom prst="rect">
            <a:avLst/>
          </a:prstGeom>
        </p:spPr>
      </p:pic>
      <p:sp>
        <p:nvSpPr>
          <p:cNvPr id="39" name="Textfeld 38">
            <a:extLst>
              <a:ext uri="{FF2B5EF4-FFF2-40B4-BE49-F238E27FC236}">
                <a16:creationId xmlns:a16="http://schemas.microsoft.com/office/drawing/2014/main" id="{8D5CA4BD-FCD0-3177-7884-203445506797}"/>
              </a:ext>
            </a:extLst>
          </p:cNvPr>
          <p:cNvSpPr txBox="1"/>
          <p:nvPr/>
        </p:nvSpPr>
        <p:spPr>
          <a:xfrm>
            <a:off x="2446677" y="4252838"/>
            <a:ext cx="3252175" cy="49509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i="1" dirty="0" err="1"/>
              <a:t>buffer_owner</a:t>
            </a:r>
            <a:r>
              <a:rPr lang="en-US" sz="1600" i="1" dirty="0"/>
              <a:t> </a:t>
            </a:r>
            <a:r>
              <a:rPr lang="en-US" sz="1600" dirty="0"/>
              <a:t>moves its Ownership to </a:t>
            </a:r>
            <a:r>
              <a:rPr lang="en-US" sz="1600" i="1" dirty="0" err="1"/>
              <a:t>another_buffer_owner</a:t>
            </a:r>
            <a:endParaRPr lang="en-US" sz="1600" i="1" dirty="0"/>
          </a:p>
        </p:txBody>
      </p:sp>
      <p:grpSp>
        <p:nvGrpSpPr>
          <p:cNvPr id="46" name="Gruppieren 45">
            <a:extLst>
              <a:ext uri="{FF2B5EF4-FFF2-40B4-BE49-F238E27FC236}">
                <a16:creationId xmlns:a16="http://schemas.microsoft.com/office/drawing/2014/main" id="{9F7DC3BA-E82A-2747-6C48-3E610886FB55}"/>
              </a:ext>
            </a:extLst>
          </p:cNvPr>
          <p:cNvGrpSpPr/>
          <p:nvPr/>
        </p:nvGrpSpPr>
        <p:grpSpPr>
          <a:xfrm>
            <a:off x="6322714" y="1692882"/>
            <a:ext cx="4266845" cy="3349765"/>
            <a:chOff x="6322714" y="1532964"/>
            <a:chExt cx="4463138" cy="3509683"/>
          </a:xfrm>
        </p:grpSpPr>
        <p:sp>
          <p:nvSpPr>
            <p:cNvPr id="28" name="Rechteck: abgerundete Ecken 27">
              <a:extLst>
                <a:ext uri="{FF2B5EF4-FFF2-40B4-BE49-F238E27FC236}">
                  <a16:creationId xmlns:a16="http://schemas.microsoft.com/office/drawing/2014/main" id="{6AEE0388-7CD1-A69F-7F1A-B8FD8F5880C5}"/>
                </a:ext>
              </a:extLst>
            </p:cNvPr>
            <p:cNvSpPr>
              <a:spLocks/>
            </p:cNvSpPr>
            <p:nvPr/>
          </p:nvSpPr>
          <p:spPr>
            <a:xfrm>
              <a:off x="6541800" y="1772097"/>
              <a:ext cx="4244051" cy="3270550"/>
            </a:xfrm>
            <a:prstGeom prst="roundRect">
              <a:avLst>
                <a:gd name="adj" fmla="val 4565"/>
              </a:avLst>
            </a:prstGeom>
            <a:solidFill>
              <a:schemeClr val="bg1"/>
            </a:solidFill>
            <a:ln w="12700" cap="flat">
              <a:solidFill>
                <a:schemeClr val="accent1">
                  <a:shade val="15000"/>
                </a:schemeClr>
              </a:solidFill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 dirty="0"/>
            </a:p>
          </p:txBody>
        </p:sp>
        <p:sp>
          <p:nvSpPr>
            <p:cNvPr id="29" name="Rechteck: abgerundete Ecken 28">
              <a:extLst>
                <a:ext uri="{FF2B5EF4-FFF2-40B4-BE49-F238E27FC236}">
                  <a16:creationId xmlns:a16="http://schemas.microsoft.com/office/drawing/2014/main" id="{98515F1B-4BBA-9D44-8C85-18D560CBE086}"/>
                </a:ext>
              </a:extLst>
            </p:cNvPr>
            <p:cNvSpPr>
              <a:spLocks/>
            </p:cNvSpPr>
            <p:nvPr/>
          </p:nvSpPr>
          <p:spPr>
            <a:xfrm>
              <a:off x="6541800" y="1772097"/>
              <a:ext cx="4244052" cy="646331"/>
            </a:xfrm>
            <a:prstGeom prst="roundRect">
              <a:avLst>
                <a:gd name="adj" fmla="val 27672"/>
              </a:avLst>
            </a:prstGeom>
            <a:solidFill>
              <a:srgbClr val="64378C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600" b="1" dirty="0"/>
                <a:t>When the owner goes out of scope, the value will be dropped.</a:t>
              </a:r>
            </a:p>
          </p:txBody>
        </p:sp>
        <p:pic>
          <p:nvPicPr>
            <p:cNvPr id="42" name="Grafik 41" descr="Marke 3 mit einfarbiger Füllung">
              <a:extLst>
                <a:ext uri="{FF2B5EF4-FFF2-40B4-BE49-F238E27FC236}">
                  <a16:creationId xmlns:a16="http://schemas.microsoft.com/office/drawing/2014/main" id="{7C5119BB-4EAA-E4DF-8BCE-132040449675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6322714" y="1532964"/>
              <a:ext cx="404167" cy="404167"/>
            </a:xfrm>
            <a:prstGeom prst="rect">
              <a:avLst/>
            </a:prstGeom>
          </p:spPr>
        </p:pic>
        <p:pic>
          <p:nvPicPr>
            <p:cNvPr id="14" name="Grafik 13">
              <a:extLst>
                <a:ext uri="{FF2B5EF4-FFF2-40B4-BE49-F238E27FC236}">
                  <a16:creationId xmlns:a16="http://schemas.microsoft.com/office/drawing/2014/main" id="{215B1384-A11D-C7D4-D013-84D88E092733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>
              <a:off x="6599513" y="2116743"/>
              <a:ext cx="3905250" cy="1628775"/>
            </a:xfrm>
            <a:prstGeom prst="rect">
              <a:avLst/>
            </a:prstGeom>
          </p:spPr>
        </p:pic>
        <p:sp>
          <p:nvSpPr>
            <p:cNvPr id="43" name="Textfeld 42">
              <a:extLst>
                <a:ext uri="{FF2B5EF4-FFF2-40B4-BE49-F238E27FC236}">
                  <a16:creationId xmlns:a16="http://schemas.microsoft.com/office/drawing/2014/main" id="{AD74D419-FC4D-08E7-2EF5-E464AB2D3A51}"/>
                </a:ext>
              </a:extLst>
            </p:cNvPr>
            <p:cNvSpPr txBox="1"/>
            <p:nvPr/>
          </p:nvSpPr>
          <p:spPr>
            <a:xfrm>
              <a:off x="6817371" y="3406667"/>
              <a:ext cx="3745106" cy="156966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de-DE" sz="1600" dirty="0"/>
                <a:t>Out </a:t>
              </a:r>
              <a:r>
                <a:rPr lang="de-DE" sz="1600" dirty="0" err="1"/>
                <a:t>of</a:t>
              </a:r>
              <a:r>
                <a:rPr lang="de-DE" sz="1600" dirty="0"/>
                <a:t> Scope:</a:t>
              </a:r>
            </a:p>
            <a:p>
              <a:pPr marL="285750" indent="-285750">
                <a:buFont typeface="Arial" panose="020B0604020202020204" pitchFamily="34" charset="0"/>
                <a:buChar char="•"/>
              </a:pPr>
              <a:r>
                <a:rPr lang="en-US" sz="1600" dirty="0"/>
                <a:t>Scope ends when the block closes</a:t>
              </a:r>
            </a:p>
            <a:p>
              <a:pPr marL="285750" indent="-285750">
                <a:buFont typeface="Arial" panose="020B0604020202020204" pitchFamily="34" charset="0"/>
                <a:buChar char="•"/>
              </a:pPr>
              <a:r>
                <a:rPr lang="en-US" sz="1600" dirty="0"/>
                <a:t>Reassigning </a:t>
              </a:r>
              <a:r>
                <a:rPr lang="en-US" sz="1600" i="1" dirty="0" err="1"/>
                <a:t>buffer_owner</a:t>
              </a:r>
              <a:r>
                <a:rPr lang="en-US" sz="1600" i="1" dirty="0"/>
                <a:t> </a:t>
              </a:r>
              <a:r>
                <a:rPr lang="en-US" sz="1600" dirty="0"/>
                <a:t>drops the old value</a:t>
              </a:r>
            </a:p>
            <a:p>
              <a:pPr marL="285750" indent="-285750">
                <a:buFont typeface="Arial" panose="020B0604020202020204" pitchFamily="34" charset="0"/>
                <a:buChar char="•"/>
              </a:pPr>
              <a:r>
                <a:rPr lang="en-US" sz="1600" dirty="0"/>
                <a:t>Passing </a:t>
              </a:r>
              <a:r>
                <a:rPr lang="en-US" sz="1600" i="1" dirty="0" err="1"/>
                <a:t>buffer_owner</a:t>
              </a:r>
              <a:r>
                <a:rPr lang="en-US" sz="1600" i="1" dirty="0"/>
                <a:t> </a:t>
              </a:r>
              <a:r>
                <a:rPr lang="en-US" sz="1600" dirty="0"/>
                <a:t>to a function moves it out of scope</a:t>
              </a:r>
            </a:p>
          </p:txBody>
        </p:sp>
      </p:grpSp>
      <p:sp>
        <p:nvSpPr>
          <p:cNvPr id="47" name="Textfeld 46">
            <a:extLst>
              <a:ext uri="{FF2B5EF4-FFF2-40B4-BE49-F238E27FC236}">
                <a16:creationId xmlns:a16="http://schemas.microsoft.com/office/drawing/2014/main" id="{F864F10D-DBF8-6AB7-1E3F-2564C5317ECC}"/>
              </a:ext>
            </a:extLst>
          </p:cNvPr>
          <p:cNvSpPr txBox="1"/>
          <p:nvPr/>
        </p:nvSpPr>
        <p:spPr>
          <a:xfrm>
            <a:off x="1092200" y="5899150"/>
            <a:ext cx="9642287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800" dirty="0"/>
              <a:t>[7] </a:t>
            </a:r>
            <a:r>
              <a:rPr lang="de-DE" sz="800" dirty="0">
                <a:hlinkClick r:id="rId9"/>
              </a:rPr>
              <a:t>https://doc.rust-lang.org/book/ch04-01-what-is-ownership.html</a:t>
            </a:r>
            <a:r>
              <a:rPr lang="de-DE" sz="800" dirty="0"/>
              <a:t> </a:t>
            </a:r>
            <a:endParaRPr lang="en-US" sz="800" dirty="0"/>
          </a:p>
        </p:txBody>
      </p:sp>
      <p:sp>
        <p:nvSpPr>
          <p:cNvPr id="48" name="Rechteck 47">
            <a:extLst>
              <a:ext uri="{FF2B5EF4-FFF2-40B4-BE49-F238E27FC236}">
                <a16:creationId xmlns:a16="http://schemas.microsoft.com/office/drawing/2014/main" id="{BDB9E720-8772-7F38-C037-093FE513055D}"/>
              </a:ext>
            </a:extLst>
          </p:cNvPr>
          <p:cNvSpPr/>
          <p:nvPr/>
        </p:nvSpPr>
        <p:spPr>
          <a:xfrm>
            <a:off x="0" y="5284403"/>
            <a:ext cx="9372600" cy="538476"/>
          </a:xfrm>
          <a:prstGeom prst="rect">
            <a:avLst/>
          </a:prstGeom>
          <a:solidFill>
            <a:srgbClr val="64378C">
              <a:alpha val="5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/>
              <a:t>Ownership ensures developers can’t forget to free memory.</a:t>
            </a:r>
          </a:p>
        </p:txBody>
      </p:sp>
      <p:sp>
        <p:nvSpPr>
          <p:cNvPr id="49" name="Pfeil: nach rechts 48">
            <a:extLst>
              <a:ext uri="{FF2B5EF4-FFF2-40B4-BE49-F238E27FC236}">
                <a16:creationId xmlns:a16="http://schemas.microsoft.com/office/drawing/2014/main" id="{1143E4B5-6E6B-71FD-74AE-83B52618D5D4}"/>
              </a:ext>
            </a:extLst>
          </p:cNvPr>
          <p:cNvSpPr/>
          <p:nvPr/>
        </p:nvSpPr>
        <p:spPr>
          <a:xfrm>
            <a:off x="79567" y="5419903"/>
            <a:ext cx="438145" cy="267476"/>
          </a:xfrm>
          <a:prstGeom prst="rightArrow">
            <a:avLst/>
          </a:prstGeom>
          <a:solidFill>
            <a:srgbClr val="64378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79832812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ußzeilenplatzhalter 1">
            <a:extLst>
              <a:ext uri="{FF2B5EF4-FFF2-40B4-BE49-F238E27FC236}">
                <a16:creationId xmlns:a16="http://schemas.microsoft.com/office/drawing/2014/main" id="{F24AF5C6-72ED-8B38-9B8E-A41DE0C544E2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>
                <a:solidFill>
                  <a:srgbClr val="64378C"/>
                </a:solidFill>
              </a:rPr>
              <a:t>Rust's Approach to Memory Safety</a:t>
            </a:r>
            <a:endParaRPr lang="en-US" dirty="0">
              <a:solidFill>
                <a:srgbClr val="64378C"/>
              </a:solidFill>
            </a:endParaRPr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76463E62-7CE0-C187-D345-3B5B3DCF6910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 algn="ctr"/>
            <a:fld id="{5F85D455-7770-4F98-B944-71C158B4E906}" type="slidenum">
              <a:rPr lang="en-US" smtClean="0"/>
              <a:pPr algn="ctr"/>
              <a:t>21</a:t>
            </a:fld>
            <a:endParaRPr lang="en-US" dirty="0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8E2D52C6-AACD-194D-C99F-ED0339EC9971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5" name="Inhaltsplatzhalter 4">
            <a:extLst>
              <a:ext uri="{FF2B5EF4-FFF2-40B4-BE49-F238E27FC236}">
                <a16:creationId xmlns:a16="http://schemas.microsoft.com/office/drawing/2014/main" id="{08025D89-E700-B96B-278E-7A93CA32A163}"/>
              </a:ext>
            </a:extLst>
          </p:cNvPr>
          <p:cNvSpPr txBox="1">
            <a:spLocks/>
          </p:cNvSpPr>
          <p:nvPr/>
        </p:nvSpPr>
        <p:spPr>
          <a:xfrm>
            <a:off x="1203513" y="941294"/>
            <a:ext cx="9856694" cy="67349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sz="3600" dirty="0"/>
              <a:t>Transfer of Ownership</a:t>
            </a:r>
          </a:p>
        </p:txBody>
      </p:sp>
      <p:sp>
        <p:nvSpPr>
          <p:cNvPr id="8" name="Textfeld 7">
            <a:extLst>
              <a:ext uri="{FF2B5EF4-FFF2-40B4-BE49-F238E27FC236}">
                <a16:creationId xmlns:a16="http://schemas.microsoft.com/office/drawing/2014/main" id="{16E0BDBE-45B8-3A5E-5F9B-0DE32BC6779C}"/>
              </a:ext>
            </a:extLst>
          </p:cNvPr>
          <p:cNvSpPr txBox="1"/>
          <p:nvPr/>
        </p:nvSpPr>
        <p:spPr>
          <a:xfrm>
            <a:off x="1947659" y="2501153"/>
            <a:ext cx="189083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2400" dirty="0"/>
              <a:t>Stack – Copy</a:t>
            </a:r>
          </a:p>
        </p:txBody>
      </p:sp>
      <p:cxnSp>
        <p:nvCxnSpPr>
          <p:cNvPr id="9" name="Gerader Verbinder 8">
            <a:extLst>
              <a:ext uri="{FF2B5EF4-FFF2-40B4-BE49-F238E27FC236}">
                <a16:creationId xmlns:a16="http://schemas.microsoft.com/office/drawing/2014/main" id="{DB6B506D-9D38-AB62-E236-5B2C73435C71}"/>
              </a:ext>
            </a:extLst>
          </p:cNvPr>
          <p:cNvCxnSpPr>
            <a:cxnSpLocks/>
          </p:cNvCxnSpPr>
          <p:nvPr/>
        </p:nvCxnSpPr>
        <p:spPr>
          <a:xfrm>
            <a:off x="5224182" y="2420471"/>
            <a:ext cx="0" cy="3314700"/>
          </a:xfrm>
          <a:prstGeom prst="line">
            <a:avLst/>
          </a:prstGeom>
          <a:ln>
            <a:solidFill>
              <a:schemeClr val="tx1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feld 9">
            <a:extLst>
              <a:ext uri="{FF2B5EF4-FFF2-40B4-BE49-F238E27FC236}">
                <a16:creationId xmlns:a16="http://schemas.microsoft.com/office/drawing/2014/main" id="{3BC19A83-0F01-0BF7-EA97-CA31776C2FD7}"/>
              </a:ext>
            </a:extLst>
          </p:cNvPr>
          <p:cNvSpPr txBox="1"/>
          <p:nvPr/>
        </p:nvSpPr>
        <p:spPr>
          <a:xfrm>
            <a:off x="6971934" y="2501153"/>
            <a:ext cx="159210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2400" dirty="0"/>
              <a:t>Heap - ???</a:t>
            </a:r>
          </a:p>
        </p:txBody>
      </p:sp>
      <p:sp>
        <p:nvSpPr>
          <p:cNvPr id="11" name="Textfeld 10">
            <a:extLst>
              <a:ext uri="{FF2B5EF4-FFF2-40B4-BE49-F238E27FC236}">
                <a16:creationId xmlns:a16="http://schemas.microsoft.com/office/drawing/2014/main" id="{4F2C97B0-1CD7-4AD6-F32B-913265FD4230}"/>
              </a:ext>
            </a:extLst>
          </p:cNvPr>
          <p:cNvSpPr txBox="1"/>
          <p:nvPr/>
        </p:nvSpPr>
        <p:spPr>
          <a:xfrm>
            <a:off x="6059472" y="4296040"/>
            <a:ext cx="3417025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Copying would consume a significant amount of additional memory and cause performance overhead.</a:t>
            </a:r>
          </a:p>
        </p:txBody>
      </p:sp>
      <p:sp>
        <p:nvSpPr>
          <p:cNvPr id="12" name="Textfeld 11">
            <a:extLst>
              <a:ext uri="{FF2B5EF4-FFF2-40B4-BE49-F238E27FC236}">
                <a16:creationId xmlns:a16="http://schemas.microsoft.com/office/drawing/2014/main" id="{BCF63218-700E-7139-CE13-8CAEEA709BE9}"/>
              </a:ext>
            </a:extLst>
          </p:cNvPr>
          <p:cNvSpPr txBox="1"/>
          <p:nvPr/>
        </p:nvSpPr>
        <p:spPr>
          <a:xfrm>
            <a:off x="1116106" y="4296040"/>
            <a:ext cx="3560949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Value of var1 is copied into var2. Two variables exist that contain the same value, but in separate memory of the stack.</a:t>
            </a:r>
          </a:p>
          <a:p>
            <a:endParaRPr lang="de-DE" dirty="0"/>
          </a:p>
        </p:txBody>
      </p:sp>
      <p:pic>
        <p:nvPicPr>
          <p:cNvPr id="14" name="Grafik 13">
            <a:extLst>
              <a:ext uri="{FF2B5EF4-FFF2-40B4-BE49-F238E27FC236}">
                <a16:creationId xmlns:a16="http://schemas.microsoft.com/office/drawing/2014/main" id="{B13B2B5A-11B0-2FB2-E457-724D7C41C95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677055" y="2324791"/>
            <a:ext cx="6781962" cy="2337547"/>
          </a:xfrm>
          <a:prstGeom prst="rect">
            <a:avLst/>
          </a:prstGeom>
        </p:spPr>
      </p:pic>
      <p:pic>
        <p:nvPicPr>
          <p:cNvPr id="18" name="Grafik 17">
            <a:extLst>
              <a:ext uri="{FF2B5EF4-FFF2-40B4-BE49-F238E27FC236}">
                <a16:creationId xmlns:a16="http://schemas.microsoft.com/office/drawing/2014/main" id="{2C89D232-674A-D18F-0762-CCC0B3A1B1C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53598" y="2339259"/>
            <a:ext cx="3888182" cy="2308609"/>
          </a:xfrm>
          <a:prstGeom prst="rect">
            <a:avLst/>
          </a:prstGeom>
        </p:spPr>
      </p:pic>
      <p:sp>
        <p:nvSpPr>
          <p:cNvPr id="17" name="Rechteck: abgerundete Ecken 16">
            <a:extLst>
              <a:ext uri="{FF2B5EF4-FFF2-40B4-BE49-F238E27FC236}">
                <a16:creationId xmlns:a16="http://schemas.microsoft.com/office/drawing/2014/main" id="{668BE026-8DD1-3E56-83D2-454A4224BF26}"/>
              </a:ext>
            </a:extLst>
          </p:cNvPr>
          <p:cNvSpPr>
            <a:spLocks/>
          </p:cNvSpPr>
          <p:nvPr/>
        </p:nvSpPr>
        <p:spPr>
          <a:xfrm>
            <a:off x="1451333" y="1729077"/>
            <a:ext cx="3772849" cy="428005"/>
          </a:xfrm>
          <a:prstGeom prst="roundRect">
            <a:avLst>
              <a:gd name="adj" fmla="val 27672"/>
            </a:avLst>
          </a:prstGeom>
          <a:solidFill>
            <a:srgbClr val="64378C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b="1" dirty="0"/>
              <a:t>There can only be one owner at a time.</a:t>
            </a:r>
          </a:p>
        </p:txBody>
      </p:sp>
      <p:pic>
        <p:nvPicPr>
          <p:cNvPr id="19" name="Grafik 18" descr="Abzeichen mit einfarbiger Füllung">
            <a:extLst>
              <a:ext uri="{FF2B5EF4-FFF2-40B4-BE49-F238E27FC236}">
                <a16:creationId xmlns:a16="http://schemas.microsoft.com/office/drawing/2014/main" id="{0623761E-0B01-C311-0461-03E0FB1A636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259729" y="1526617"/>
            <a:ext cx="359294" cy="342184"/>
          </a:xfrm>
          <a:prstGeom prst="rect">
            <a:avLst/>
          </a:prstGeom>
        </p:spPr>
      </p:pic>
      <p:sp>
        <p:nvSpPr>
          <p:cNvPr id="21" name="Textfeld 20">
            <a:extLst>
              <a:ext uri="{FF2B5EF4-FFF2-40B4-BE49-F238E27FC236}">
                <a16:creationId xmlns:a16="http://schemas.microsoft.com/office/drawing/2014/main" id="{F661064D-A0F4-1D5B-9AAE-37103AF5F5BB}"/>
              </a:ext>
            </a:extLst>
          </p:cNvPr>
          <p:cNvSpPr txBox="1"/>
          <p:nvPr/>
        </p:nvSpPr>
        <p:spPr>
          <a:xfrm>
            <a:off x="5258921" y="1755111"/>
            <a:ext cx="6094878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dirty="0"/>
              <a:t>How will this ownership be transferred?</a:t>
            </a:r>
            <a:endParaRPr lang="de-DE" sz="2000" dirty="0"/>
          </a:p>
        </p:txBody>
      </p:sp>
    </p:spTree>
    <p:extLst>
      <p:ext uri="{BB962C8B-B14F-4D97-AF65-F5344CB8AC3E}">
        <p14:creationId xmlns:p14="http://schemas.microsoft.com/office/powerpoint/2010/main" val="226218055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74FE70-2D29-931F-07F7-5583B396DC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ußzeilenplatzhalter 1">
            <a:extLst>
              <a:ext uri="{FF2B5EF4-FFF2-40B4-BE49-F238E27FC236}">
                <a16:creationId xmlns:a16="http://schemas.microsoft.com/office/drawing/2014/main" id="{2B2E1980-3DDC-F333-7917-4AD7C24913EA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dirty="0">
                <a:solidFill>
                  <a:srgbClr val="64378C"/>
                </a:solidFill>
              </a:rPr>
              <a:t>Rust's Approach to Memory Safety</a:t>
            </a:r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8A09F125-6BF0-BECF-116B-270812DEBF60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 algn="ctr"/>
            <a:fld id="{5F85D455-7770-4F98-B944-71C158B4E906}" type="slidenum">
              <a:rPr lang="en-US" smtClean="0"/>
              <a:pPr algn="ctr"/>
              <a:t>22</a:t>
            </a:fld>
            <a:endParaRPr lang="en-US" dirty="0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DF881714-0859-9622-5D45-1631146525A9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de-DE" dirty="0"/>
              <a:t>Rust</a:t>
            </a:r>
            <a:r>
              <a:rPr lang="en-US" dirty="0"/>
              <a:t>’s Approach</a:t>
            </a:r>
            <a:endParaRPr lang="de-DE" dirty="0"/>
          </a:p>
        </p:txBody>
      </p:sp>
      <p:sp>
        <p:nvSpPr>
          <p:cNvPr id="6" name="Inhaltsplatzhalter 4">
            <a:extLst>
              <a:ext uri="{FF2B5EF4-FFF2-40B4-BE49-F238E27FC236}">
                <a16:creationId xmlns:a16="http://schemas.microsoft.com/office/drawing/2014/main" id="{ED50214A-6D0C-47F5-BA53-7BB2D32FDA9E}"/>
              </a:ext>
            </a:extLst>
          </p:cNvPr>
          <p:cNvSpPr txBox="1">
            <a:spLocks/>
          </p:cNvSpPr>
          <p:nvPr/>
        </p:nvSpPr>
        <p:spPr>
          <a:xfrm>
            <a:off x="1203513" y="941294"/>
            <a:ext cx="9856694" cy="67349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3600" dirty="0"/>
              <a:t>Transfer Methods</a:t>
            </a:r>
            <a:r>
              <a:rPr lang="en-US" sz="1200" baseline="-25000" dirty="0"/>
              <a:t>[7]</a:t>
            </a:r>
            <a:endParaRPr lang="en-US" dirty="0"/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AD3C134C-ACC0-48DF-C641-3B879D41CF04}"/>
              </a:ext>
            </a:extLst>
          </p:cNvPr>
          <p:cNvSpPr txBox="1"/>
          <p:nvPr/>
        </p:nvSpPr>
        <p:spPr>
          <a:xfrm>
            <a:off x="1092200" y="5899150"/>
            <a:ext cx="9642287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800" dirty="0"/>
              <a:t>[7] </a:t>
            </a:r>
            <a:r>
              <a:rPr lang="de-DE" sz="800" dirty="0">
                <a:hlinkClick r:id="rId3"/>
              </a:rPr>
              <a:t>https://doc.rust-lang.org/book/ch04-01-what-is-ownership.html</a:t>
            </a:r>
            <a:r>
              <a:rPr lang="de-DE" sz="800" dirty="0"/>
              <a:t> </a:t>
            </a:r>
            <a:endParaRPr lang="en-US" sz="800" dirty="0"/>
          </a:p>
        </p:txBody>
      </p:sp>
      <p:grpSp>
        <p:nvGrpSpPr>
          <p:cNvPr id="176" name="Gruppieren 175">
            <a:extLst>
              <a:ext uri="{FF2B5EF4-FFF2-40B4-BE49-F238E27FC236}">
                <a16:creationId xmlns:a16="http://schemas.microsoft.com/office/drawing/2014/main" id="{05797BB5-1EBD-1E8D-D258-B408B78CF65E}"/>
              </a:ext>
            </a:extLst>
          </p:cNvPr>
          <p:cNvGrpSpPr/>
          <p:nvPr/>
        </p:nvGrpSpPr>
        <p:grpSpPr>
          <a:xfrm>
            <a:off x="428061" y="1727947"/>
            <a:ext cx="11221573" cy="3496235"/>
            <a:chOff x="428061" y="1727947"/>
            <a:chExt cx="11221573" cy="3496235"/>
          </a:xfrm>
        </p:grpSpPr>
        <p:grpSp>
          <p:nvGrpSpPr>
            <p:cNvPr id="27" name="Gruppieren 26">
              <a:extLst>
                <a:ext uri="{FF2B5EF4-FFF2-40B4-BE49-F238E27FC236}">
                  <a16:creationId xmlns:a16="http://schemas.microsoft.com/office/drawing/2014/main" id="{D980EC97-08A6-651F-4811-8E3642B5D344}"/>
                </a:ext>
              </a:extLst>
            </p:cNvPr>
            <p:cNvGrpSpPr/>
            <p:nvPr/>
          </p:nvGrpSpPr>
          <p:grpSpPr>
            <a:xfrm>
              <a:off x="428061" y="1727947"/>
              <a:ext cx="11221573" cy="3496235"/>
              <a:chOff x="428061" y="1727947"/>
              <a:chExt cx="11221573" cy="3496235"/>
            </a:xfrm>
          </p:grpSpPr>
          <p:cxnSp>
            <p:nvCxnSpPr>
              <p:cNvPr id="12" name="Gerader Verbinder 11">
                <a:extLst>
                  <a:ext uri="{FF2B5EF4-FFF2-40B4-BE49-F238E27FC236}">
                    <a16:creationId xmlns:a16="http://schemas.microsoft.com/office/drawing/2014/main" id="{6275F2E9-BEB8-AA73-2603-7D58CBE94D1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168588" y="1727947"/>
                <a:ext cx="0" cy="3496235"/>
              </a:xfrm>
              <a:prstGeom prst="line">
                <a:avLst/>
              </a:prstGeom>
              <a:ln w="25400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7" name="Textfeld 16">
                <a:extLst>
                  <a:ext uri="{FF2B5EF4-FFF2-40B4-BE49-F238E27FC236}">
                    <a16:creationId xmlns:a16="http://schemas.microsoft.com/office/drawing/2014/main" id="{0AACD0D6-C4BD-C5FB-DF33-524C623D9829}"/>
                  </a:ext>
                </a:extLst>
              </p:cNvPr>
              <p:cNvSpPr txBox="1"/>
              <p:nvPr/>
            </p:nvSpPr>
            <p:spPr>
              <a:xfrm>
                <a:off x="4168588" y="1727947"/>
                <a:ext cx="3740523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de-DE" b="1" dirty="0"/>
                  <a:t>Shallow Copy</a:t>
                </a:r>
              </a:p>
            </p:txBody>
          </p:sp>
          <p:cxnSp>
            <p:nvCxnSpPr>
              <p:cNvPr id="18" name="Gerader Verbinder 17">
                <a:extLst>
                  <a:ext uri="{FF2B5EF4-FFF2-40B4-BE49-F238E27FC236}">
                    <a16:creationId xmlns:a16="http://schemas.microsoft.com/office/drawing/2014/main" id="{03FBAFA9-962F-02A2-5B57-23736ECC4C15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7909111" y="1727947"/>
                <a:ext cx="2" cy="3494093"/>
              </a:xfrm>
              <a:prstGeom prst="line">
                <a:avLst/>
              </a:prstGeom>
              <a:ln w="25400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9" name="Textfeld 18">
                <a:extLst>
                  <a:ext uri="{FF2B5EF4-FFF2-40B4-BE49-F238E27FC236}">
                    <a16:creationId xmlns:a16="http://schemas.microsoft.com/office/drawing/2014/main" id="{FC0B2CA3-226B-3ADE-CCC8-5B3567B8C32C}"/>
                  </a:ext>
                </a:extLst>
              </p:cNvPr>
              <p:cNvSpPr txBox="1"/>
              <p:nvPr/>
            </p:nvSpPr>
            <p:spPr>
              <a:xfrm>
                <a:off x="428061" y="1727947"/>
                <a:ext cx="3740523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de-DE" b="1" dirty="0"/>
                  <a:t>Deep Copy</a:t>
                </a:r>
              </a:p>
            </p:txBody>
          </p:sp>
          <p:sp>
            <p:nvSpPr>
              <p:cNvPr id="26" name="Textfeld 25">
                <a:extLst>
                  <a:ext uri="{FF2B5EF4-FFF2-40B4-BE49-F238E27FC236}">
                    <a16:creationId xmlns:a16="http://schemas.microsoft.com/office/drawing/2014/main" id="{D5DA064E-B154-F533-BE6D-6DCA6F315EC2}"/>
                  </a:ext>
                </a:extLst>
              </p:cNvPr>
              <p:cNvSpPr txBox="1"/>
              <p:nvPr/>
            </p:nvSpPr>
            <p:spPr>
              <a:xfrm>
                <a:off x="7909111" y="1734208"/>
                <a:ext cx="3740523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de-DE" b="1" dirty="0"/>
                  <a:t>Move</a:t>
                </a:r>
              </a:p>
            </p:txBody>
          </p:sp>
        </p:grpSp>
        <p:cxnSp>
          <p:nvCxnSpPr>
            <p:cNvPr id="167" name="Gerader Verbinder 166">
              <a:extLst>
                <a:ext uri="{FF2B5EF4-FFF2-40B4-BE49-F238E27FC236}">
                  <a16:creationId xmlns:a16="http://schemas.microsoft.com/office/drawing/2014/main" id="{892755D1-F873-159D-43A1-780455304CA5}"/>
                </a:ext>
              </a:extLst>
            </p:cNvPr>
            <p:cNvCxnSpPr>
              <a:cxnSpLocks/>
            </p:cNvCxnSpPr>
            <p:nvPr/>
          </p:nvCxnSpPr>
          <p:spPr>
            <a:xfrm>
              <a:off x="1066798" y="2113470"/>
              <a:ext cx="10058401" cy="10531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0" name="Gruppieren 9">
            <a:extLst>
              <a:ext uri="{FF2B5EF4-FFF2-40B4-BE49-F238E27FC236}">
                <a16:creationId xmlns:a16="http://schemas.microsoft.com/office/drawing/2014/main" id="{B143EA09-B4CC-584D-B11D-2E74D2CF7A7B}"/>
              </a:ext>
            </a:extLst>
          </p:cNvPr>
          <p:cNvGrpSpPr/>
          <p:nvPr/>
        </p:nvGrpSpPr>
        <p:grpSpPr>
          <a:xfrm>
            <a:off x="4908169" y="2993559"/>
            <a:ext cx="2261360" cy="1292664"/>
            <a:chOff x="4908169" y="2993559"/>
            <a:chExt cx="2261360" cy="1292664"/>
          </a:xfrm>
        </p:grpSpPr>
        <p:grpSp>
          <p:nvGrpSpPr>
            <p:cNvPr id="97" name="Gruppieren 96">
              <a:extLst>
                <a:ext uri="{FF2B5EF4-FFF2-40B4-BE49-F238E27FC236}">
                  <a16:creationId xmlns:a16="http://schemas.microsoft.com/office/drawing/2014/main" id="{CD914227-F166-79D6-521D-46E6E4ADB461}"/>
                </a:ext>
              </a:extLst>
            </p:cNvPr>
            <p:cNvGrpSpPr/>
            <p:nvPr/>
          </p:nvGrpSpPr>
          <p:grpSpPr>
            <a:xfrm>
              <a:off x="4908169" y="2993559"/>
              <a:ext cx="2261360" cy="1292664"/>
              <a:chOff x="4543879" y="2569470"/>
              <a:chExt cx="2261360" cy="1292664"/>
            </a:xfrm>
          </p:grpSpPr>
          <p:sp>
            <p:nvSpPr>
              <p:cNvPr id="98" name="Rechteck: abgerundete Ecken 97">
                <a:extLst>
                  <a:ext uri="{FF2B5EF4-FFF2-40B4-BE49-F238E27FC236}">
                    <a16:creationId xmlns:a16="http://schemas.microsoft.com/office/drawing/2014/main" id="{0773322D-255C-3F1B-3216-D12A84E12C3B}"/>
                  </a:ext>
                </a:extLst>
              </p:cNvPr>
              <p:cNvSpPr/>
              <p:nvPr/>
            </p:nvSpPr>
            <p:spPr>
              <a:xfrm>
                <a:off x="4543879" y="2654997"/>
                <a:ext cx="739775" cy="215445"/>
              </a:xfrm>
              <a:prstGeom prst="roundRect">
                <a:avLst/>
              </a:prstGeom>
              <a:solidFill>
                <a:schemeClr val="bg1"/>
              </a:solidFill>
              <a:ln w="1270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de-DE" sz="1000" dirty="0">
                    <a:solidFill>
                      <a:schemeClr val="tx1"/>
                    </a:solidFill>
                  </a:rPr>
                  <a:t>pointer_1</a:t>
                </a:r>
              </a:p>
            </p:txBody>
          </p:sp>
          <p:sp>
            <p:nvSpPr>
              <p:cNvPr id="99" name="Rechteck: abgerundete Ecken 98">
                <a:extLst>
                  <a:ext uri="{FF2B5EF4-FFF2-40B4-BE49-F238E27FC236}">
                    <a16:creationId xmlns:a16="http://schemas.microsoft.com/office/drawing/2014/main" id="{445EB689-A328-1B87-E51D-3399C2DF358E}"/>
                  </a:ext>
                </a:extLst>
              </p:cNvPr>
              <p:cNvSpPr/>
              <p:nvPr/>
            </p:nvSpPr>
            <p:spPr>
              <a:xfrm>
                <a:off x="4543879" y="3376623"/>
                <a:ext cx="739775" cy="215445"/>
              </a:xfrm>
              <a:prstGeom prst="roundRect">
                <a:avLst/>
              </a:prstGeom>
              <a:solidFill>
                <a:schemeClr val="bg1"/>
              </a:solidFill>
              <a:ln w="1270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de-DE" sz="1000" dirty="0">
                    <a:solidFill>
                      <a:schemeClr val="tx1"/>
                    </a:solidFill>
                  </a:rPr>
                  <a:t>pointer_2</a:t>
                </a:r>
              </a:p>
            </p:txBody>
          </p:sp>
          <p:grpSp>
            <p:nvGrpSpPr>
              <p:cNvPr id="100" name="Gruppieren 99">
                <a:extLst>
                  <a:ext uri="{FF2B5EF4-FFF2-40B4-BE49-F238E27FC236}">
                    <a16:creationId xmlns:a16="http://schemas.microsoft.com/office/drawing/2014/main" id="{1CFEC5AD-9C67-FC0B-3CB0-EB0A0B29F475}"/>
                  </a:ext>
                </a:extLst>
              </p:cNvPr>
              <p:cNvGrpSpPr/>
              <p:nvPr/>
            </p:nvGrpSpPr>
            <p:grpSpPr>
              <a:xfrm>
                <a:off x="4848264" y="2569470"/>
                <a:ext cx="1956975" cy="1292664"/>
                <a:chOff x="4848264" y="2569470"/>
                <a:chExt cx="1956975" cy="1292664"/>
              </a:xfrm>
            </p:grpSpPr>
            <p:grpSp>
              <p:nvGrpSpPr>
                <p:cNvPr id="101" name="Gruppieren 100">
                  <a:extLst>
                    <a:ext uri="{FF2B5EF4-FFF2-40B4-BE49-F238E27FC236}">
                      <a16:creationId xmlns:a16="http://schemas.microsoft.com/office/drawing/2014/main" id="{3236B63F-24F4-33C8-1617-7AEDCC9C6494}"/>
                    </a:ext>
                  </a:extLst>
                </p:cNvPr>
                <p:cNvGrpSpPr/>
                <p:nvPr/>
              </p:nvGrpSpPr>
              <p:grpSpPr>
                <a:xfrm>
                  <a:off x="5832171" y="2569470"/>
                  <a:ext cx="973068" cy="1292664"/>
                  <a:chOff x="1761821" y="1719128"/>
                  <a:chExt cx="973068" cy="1292664"/>
                </a:xfrm>
              </p:grpSpPr>
              <p:grpSp>
                <p:nvGrpSpPr>
                  <p:cNvPr id="107" name="Gruppieren 106">
                    <a:extLst>
                      <a:ext uri="{FF2B5EF4-FFF2-40B4-BE49-F238E27FC236}">
                        <a16:creationId xmlns:a16="http://schemas.microsoft.com/office/drawing/2014/main" id="{5F41CE6E-5647-303D-A324-7D9981D5D538}"/>
                      </a:ext>
                    </a:extLst>
                  </p:cNvPr>
                  <p:cNvGrpSpPr/>
                  <p:nvPr/>
                </p:nvGrpSpPr>
                <p:grpSpPr>
                  <a:xfrm>
                    <a:off x="1761822" y="1934572"/>
                    <a:ext cx="973067" cy="1077220"/>
                    <a:chOff x="2652409" y="2248896"/>
                    <a:chExt cx="973067" cy="1077220"/>
                  </a:xfrm>
                </p:grpSpPr>
                <p:sp>
                  <p:nvSpPr>
                    <p:cNvPr id="109" name="Rechteck 108">
                      <a:extLst>
                        <a:ext uri="{FF2B5EF4-FFF2-40B4-BE49-F238E27FC236}">
                          <a16:creationId xmlns:a16="http://schemas.microsoft.com/office/drawing/2014/main" id="{A1A3E7AE-CF8F-8197-0C0D-E80FD3945AB9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2652409" y="2248896"/>
                      <a:ext cx="486382" cy="215444"/>
                    </a:xfrm>
                    <a:prstGeom prst="rect">
                      <a:avLst/>
                    </a:prstGeom>
                    <a:solidFill>
                      <a:schemeClr val="bg1"/>
                    </a:solidFill>
                    <a:ln w="12700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r>
                        <a:rPr lang="de-DE" sz="900" dirty="0">
                          <a:solidFill>
                            <a:schemeClr val="tx1"/>
                          </a:solidFill>
                        </a:rPr>
                        <a:t>Byte</a:t>
                      </a:r>
                    </a:p>
                  </p:txBody>
                </p:sp>
                <p:sp>
                  <p:nvSpPr>
                    <p:cNvPr id="110" name="Rechteck 109">
                      <a:extLst>
                        <a:ext uri="{FF2B5EF4-FFF2-40B4-BE49-F238E27FC236}">
                          <a16:creationId xmlns:a16="http://schemas.microsoft.com/office/drawing/2014/main" id="{37AB2430-0A2A-8930-D5C9-DB91425C5857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3139094" y="2248896"/>
                      <a:ext cx="486382" cy="215444"/>
                    </a:xfrm>
                    <a:prstGeom prst="rect">
                      <a:avLst/>
                    </a:prstGeom>
                    <a:solidFill>
                      <a:schemeClr val="bg1"/>
                    </a:solidFill>
                    <a:ln w="12700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r>
                        <a:rPr lang="de-DE" sz="900" dirty="0">
                          <a:solidFill>
                            <a:schemeClr val="tx1"/>
                          </a:solidFill>
                        </a:rPr>
                        <a:t>Value</a:t>
                      </a:r>
                    </a:p>
                  </p:txBody>
                </p:sp>
                <p:sp>
                  <p:nvSpPr>
                    <p:cNvPr id="111" name="Rechteck 110">
                      <a:extLst>
                        <a:ext uri="{FF2B5EF4-FFF2-40B4-BE49-F238E27FC236}">
                          <a16:creationId xmlns:a16="http://schemas.microsoft.com/office/drawing/2014/main" id="{F77D4F8D-4828-9660-0BA9-1950662D8904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2652409" y="2464340"/>
                      <a:ext cx="486382" cy="215444"/>
                    </a:xfrm>
                    <a:prstGeom prst="rect">
                      <a:avLst/>
                    </a:prstGeom>
                    <a:solidFill>
                      <a:schemeClr val="bg1"/>
                    </a:solidFill>
                    <a:ln w="12700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r>
                        <a:rPr lang="de-DE" sz="9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p:txBody>
                </p:sp>
                <p:sp>
                  <p:nvSpPr>
                    <p:cNvPr id="112" name="Rechteck 111">
                      <a:extLst>
                        <a:ext uri="{FF2B5EF4-FFF2-40B4-BE49-F238E27FC236}">
                          <a16:creationId xmlns:a16="http://schemas.microsoft.com/office/drawing/2014/main" id="{B5A8A36C-5E88-5657-7FFC-3B7593C7699F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3139094" y="2464340"/>
                      <a:ext cx="486382" cy="215444"/>
                    </a:xfrm>
                    <a:prstGeom prst="rect">
                      <a:avLst/>
                    </a:prstGeom>
                    <a:solidFill>
                      <a:schemeClr val="bg1"/>
                    </a:solidFill>
                    <a:ln w="12700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r>
                        <a:rPr lang="de-DE" sz="900" dirty="0">
                          <a:solidFill>
                            <a:schemeClr val="tx1"/>
                          </a:solidFill>
                        </a:rPr>
                        <a:t>0x2A</a:t>
                      </a:r>
                    </a:p>
                  </p:txBody>
                </p:sp>
                <p:sp>
                  <p:nvSpPr>
                    <p:cNvPr id="113" name="Rechteck 112">
                      <a:extLst>
                        <a:ext uri="{FF2B5EF4-FFF2-40B4-BE49-F238E27FC236}">
                          <a16:creationId xmlns:a16="http://schemas.microsoft.com/office/drawing/2014/main" id="{39160CE1-AE90-0ACD-FDB9-657E512D36E3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2652409" y="2679784"/>
                      <a:ext cx="486382" cy="215444"/>
                    </a:xfrm>
                    <a:prstGeom prst="rect">
                      <a:avLst/>
                    </a:prstGeom>
                    <a:solidFill>
                      <a:schemeClr val="bg1"/>
                    </a:solidFill>
                    <a:ln w="12700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r>
                        <a:rPr lang="de-DE" sz="900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</p:txBody>
                </p:sp>
                <p:sp>
                  <p:nvSpPr>
                    <p:cNvPr id="114" name="Rechteck 113">
                      <a:extLst>
                        <a:ext uri="{FF2B5EF4-FFF2-40B4-BE49-F238E27FC236}">
                          <a16:creationId xmlns:a16="http://schemas.microsoft.com/office/drawing/2014/main" id="{A5028BA7-D517-866A-4EA9-88E767E3C9DD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3139094" y="2679784"/>
                      <a:ext cx="486382" cy="215444"/>
                    </a:xfrm>
                    <a:prstGeom prst="rect">
                      <a:avLst/>
                    </a:prstGeom>
                    <a:solidFill>
                      <a:schemeClr val="bg1"/>
                    </a:solidFill>
                    <a:ln w="12700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r>
                        <a:rPr lang="de-DE" sz="900" dirty="0">
                          <a:solidFill>
                            <a:schemeClr val="tx1"/>
                          </a:solidFill>
                        </a:rPr>
                        <a:t>0x00</a:t>
                      </a:r>
                    </a:p>
                  </p:txBody>
                </p:sp>
                <p:sp>
                  <p:nvSpPr>
                    <p:cNvPr id="115" name="Rechteck 114">
                      <a:extLst>
                        <a:ext uri="{FF2B5EF4-FFF2-40B4-BE49-F238E27FC236}">
                          <a16:creationId xmlns:a16="http://schemas.microsoft.com/office/drawing/2014/main" id="{C69F8EE5-54FA-8A67-DAEA-5D0BAE07973E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2652409" y="2895228"/>
                      <a:ext cx="486382" cy="215444"/>
                    </a:xfrm>
                    <a:prstGeom prst="rect">
                      <a:avLst/>
                    </a:prstGeom>
                    <a:solidFill>
                      <a:schemeClr val="bg1"/>
                    </a:solidFill>
                    <a:ln w="12700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r>
                        <a:rPr lang="de-DE" sz="900" dirty="0">
                          <a:solidFill>
                            <a:schemeClr val="tx1"/>
                          </a:solidFill>
                        </a:rPr>
                        <a:t>2</a:t>
                      </a:r>
                    </a:p>
                  </p:txBody>
                </p:sp>
                <p:sp>
                  <p:nvSpPr>
                    <p:cNvPr id="116" name="Rechteck 115">
                      <a:extLst>
                        <a:ext uri="{FF2B5EF4-FFF2-40B4-BE49-F238E27FC236}">
                          <a16:creationId xmlns:a16="http://schemas.microsoft.com/office/drawing/2014/main" id="{733A1185-C226-7234-816B-DB2A95A7F93A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3139094" y="2895228"/>
                      <a:ext cx="486382" cy="215444"/>
                    </a:xfrm>
                    <a:prstGeom prst="rect">
                      <a:avLst/>
                    </a:prstGeom>
                    <a:solidFill>
                      <a:schemeClr val="bg1"/>
                    </a:solidFill>
                    <a:ln w="12700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r>
                        <a:rPr lang="de-DE" sz="900" dirty="0">
                          <a:solidFill>
                            <a:schemeClr val="tx1"/>
                          </a:solidFill>
                        </a:rPr>
                        <a:t>0x00</a:t>
                      </a:r>
                    </a:p>
                  </p:txBody>
                </p:sp>
                <p:sp>
                  <p:nvSpPr>
                    <p:cNvPr id="117" name="Rechteck 116">
                      <a:extLst>
                        <a:ext uri="{FF2B5EF4-FFF2-40B4-BE49-F238E27FC236}">
                          <a16:creationId xmlns:a16="http://schemas.microsoft.com/office/drawing/2014/main" id="{D567699E-C820-C36B-2426-00DD1AD1CE55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2652409" y="3110672"/>
                      <a:ext cx="486382" cy="215444"/>
                    </a:xfrm>
                    <a:prstGeom prst="rect">
                      <a:avLst/>
                    </a:prstGeom>
                    <a:solidFill>
                      <a:schemeClr val="bg1"/>
                    </a:solidFill>
                    <a:ln w="12700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r>
                        <a:rPr lang="de-DE" sz="900" dirty="0">
                          <a:solidFill>
                            <a:schemeClr val="tx1"/>
                          </a:solidFill>
                        </a:rPr>
                        <a:t>3</a:t>
                      </a:r>
                    </a:p>
                  </p:txBody>
                </p:sp>
                <p:sp>
                  <p:nvSpPr>
                    <p:cNvPr id="118" name="Rechteck 117">
                      <a:extLst>
                        <a:ext uri="{FF2B5EF4-FFF2-40B4-BE49-F238E27FC236}">
                          <a16:creationId xmlns:a16="http://schemas.microsoft.com/office/drawing/2014/main" id="{FCB4C64F-013D-263D-74F6-6BAA527E12FE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3139094" y="3110672"/>
                      <a:ext cx="486382" cy="215444"/>
                    </a:xfrm>
                    <a:prstGeom prst="rect">
                      <a:avLst/>
                    </a:prstGeom>
                    <a:solidFill>
                      <a:schemeClr val="bg1"/>
                    </a:solidFill>
                    <a:ln w="12700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r>
                        <a:rPr lang="de-DE" sz="900" dirty="0">
                          <a:solidFill>
                            <a:schemeClr val="tx1"/>
                          </a:solidFill>
                        </a:rPr>
                        <a:t>0x00</a:t>
                      </a:r>
                    </a:p>
                  </p:txBody>
                </p:sp>
              </p:grpSp>
              <p:sp>
                <p:nvSpPr>
                  <p:cNvPr id="108" name="Rechteck 107">
                    <a:extLst>
                      <a:ext uri="{FF2B5EF4-FFF2-40B4-BE49-F238E27FC236}">
                        <a16:creationId xmlns:a16="http://schemas.microsoft.com/office/drawing/2014/main" id="{08D3FFC3-DF1B-3B6B-F0B3-CAF2668EA9B1}"/>
                      </a:ext>
                    </a:extLst>
                  </p:cNvPr>
                  <p:cNvSpPr/>
                  <p:nvPr/>
                </p:nvSpPr>
                <p:spPr>
                  <a:xfrm>
                    <a:off x="1761821" y="1719128"/>
                    <a:ext cx="973067" cy="215444"/>
                  </a:xfrm>
                  <a:prstGeom prst="rect">
                    <a:avLst/>
                  </a:prstGeom>
                  <a:solidFill>
                    <a:schemeClr val="bg1"/>
                  </a:solidFill>
                  <a:ln w="1270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de-DE" sz="1200" dirty="0">
                        <a:solidFill>
                          <a:schemeClr val="tx1"/>
                        </a:solidFill>
                      </a:rPr>
                      <a:t>Heap</a:t>
                    </a:r>
                  </a:p>
                </p:txBody>
              </p:sp>
            </p:grpSp>
            <p:sp>
              <p:nvSpPr>
                <p:cNvPr id="102" name="Pfeil: nach unten 101">
                  <a:extLst>
                    <a:ext uri="{FF2B5EF4-FFF2-40B4-BE49-F238E27FC236}">
                      <a16:creationId xmlns:a16="http://schemas.microsoft.com/office/drawing/2014/main" id="{9D108651-9212-34D1-8780-894CCEBC3CDC}"/>
                    </a:ext>
                  </a:extLst>
                </p:cNvPr>
                <p:cNvSpPr/>
                <p:nvPr/>
              </p:nvSpPr>
              <p:spPr>
                <a:xfrm>
                  <a:off x="4848264" y="2902873"/>
                  <a:ext cx="131003" cy="430888"/>
                </a:xfrm>
                <a:prstGeom prst="downArrow">
                  <a:avLst/>
                </a:prstGeom>
                <a:solidFill>
                  <a:schemeClr val="bg1"/>
                </a:solidFill>
                <a:ln w="9525">
                  <a:solidFill>
                    <a:schemeClr val="accent1">
                      <a:shade val="15000"/>
                    </a:schemeClr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  <p:cxnSp>
              <p:nvCxnSpPr>
                <p:cNvPr id="104" name="Verbinder: gekrümmt 103">
                  <a:extLst>
                    <a:ext uri="{FF2B5EF4-FFF2-40B4-BE49-F238E27FC236}">
                      <a16:creationId xmlns:a16="http://schemas.microsoft.com/office/drawing/2014/main" id="{D7D6E1BE-C718-4678-A2E0-3FD7CE2BC01B}"/>
                    </a:ext>
                  </a:extLst>
                </p:cNvPr>
                <p:cNvCxnSpPr>
                  <a:cxnSpLocks/>
                  <a:stCxn id="99" idx="3"/>
                  <a:endCxn id="111" idx="1"/>
                </p:cNvCxnSpPr>
                <p:nvPr/>
              </p:nvCxnSpPr>
              <p:spPr>
                <a:xfrm flipV="1">
                  <a:off x="5283654" y="3108080"/>
                  <a:ext cx="548518" cy="376266"/>
                </a:xfrm>
                <a:prstGeom prst="curvedConnector3">
                  <a:avLst>
                    <a:gd name="adj1" fmla="val 50000"/>
                  </a:avLst>
                </a:prstGeom>
                <a:ln w="12700">
                  <a:solidFill>
                    <a:schemeClr val="tx1"/>
                  </a:solidFill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05" name="Verbinder: gekrümmt 104">
                  <a:extLst>
                    <a:ext uri="{FF2B5EF4-FFF2-40B4-BE49-F238E27FC236}">
                      <a16:creationId xmlns:a16="http://schemas.microsoft.com/office/drawing/2014/main" id="{05996DAF-0F4F-5A90-59DA-779C55937FC8}"/>
                    </a:ext>
                  </a:extLst>
                </p:cNvPr>
                <p:cNvCxnSpPr>
                  <a:cxnSpLocks/>
                  <a:stCxn id="98" idx="3"/>
                  <a:endCxn id="111" idx="1"/>
                </p:cNvCxnSpPr>
                <p:nvPr/>
              </p:nvCxnSpPr>
              <p:spPr>
                <a:xfrm>
                  <a:off x="5283654" y="2762720"/>
                  <a:ext cx="548518" cy="345360"/>
                </a:xfrm>
                <a:prstGeom prst="curvedConnector3">
                  <a:avLst>
                    <a:gd name="adj1" fmla="val 50000"/>
                  </a:avLst>
                </a:prstGeom>
                <a:ln w="12700">
                  <a:solidFill>
                    <a:schemeClr val="tx1"/>
                  </a:solidFill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</p:grpSp>
        <p:sp>
          <p:nvSpPr>
            <p:cNvPr id="8" name="Rechteck: abgerundete Ecken 7">
              <a:extLst>
                <a:ext uri="{FF2B5EF4-FFF2-40B4-BE49-F238E27FC236}">
                  <a16:creationId xmlns:a16="http://schemas.microsoft.com/office/drawing/2014/main" id="{125B46B9-7411-AB5C-4E05-EBCE4CD6CA1B}"/>
                </a:ext>
              </a:extLst>
            </p:cNvPr>
            <p:cNvSpPr/>
            <p:nvPr/>
          </p:nvSpPr>
          <p:spPr>
            <a:xfrm>
              <a:off x="4967776" y="3465061"/>
              <a:ext cx="620562" cy="167241"/>
            </a:xfrm>
            <a:prstGeom prst="roundRect">
              <a:avLst/>
            </a:prstGeom>
            <a:solidFill>
              <a:srgbClr val="64378C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700" dirty="0"/>
                <a:t>Ownership</a:t>
              </a:r>
              <a:endParaRPr lang="de-DE" sz="500" dirty="0"/>
            </a:p>
          </p:txBody>
        </p:sp>
      </p:grpSp>
      <p:grpSp>
        <p:nvGrpSpPr>
          <p:cNvPr id="13" name="Gruppieren 12">
            <a:extLst>
              <a:ext uri="{FF2B5EF4-FFF2-40B4-BE49-F238E27FC236}">
                <a16:creationId xmlns:a16="http://schemas.microsoft.com/office/drawing/2014/main" id="{E7A444E9-E89E-FBDD-953A-590AC0E3B078}"/>
              </a:ext>
            </a:extLst>
          </p:cNvPr>
          <p:cNvGrpSpPr/>
          <p:nvPr/>
        </p:nvGrpSpPr>
        <p:grpSpPr>
          <a:xfrm>
            <a:off x="8648692" y="3071078"/>
            <a:ext cx="2261360" cy="1292664"/>
            <a:chOff x="8648692" y="3071078"/>
            <a:chExt cx="2261360" cy="1292664"/>
          </a:xfrm>
        </p:grpSpPr>
        <p:grpSp>
          <p:nvGrpSpPr>
            <p:cNvPr id="119" name="Gruppieren 118">
              <a:extLst>
                <a:ext uri="{FF2B5EF4-FFF2-40B4-BE49-F238E27FC236}">
                  <a16:creationId xmlns:a16="http://schemas.microsoft.com/office/drawing/2014/main" id="{FF539E99-0D83-1A55-DDF3-3783EF99484B}"/>
                </a:ext>
              </a:extLst>
            </p:cNvPr>
            <p:cNvGrpSpPr/>
            <p:nvPr/>
          </p:nvGrpSpPr>
          <p:grpSpPr>
            <a:xfrm>
              <a:off x="8648692" y="3071078"/>
              <a:ext cx="2261360" cy="1292664"/>
              <a:chOff x="8582479" y="2547019"/>
              <a:chExt cx="2261360" cy="1292664"/>
            </a:xfrm>
          </p:grpSpPr>
          <p:grpSp>
            <p:nvGrpSpPr>
              <p:cNvPr id="128" name="Gruppieren 127">
                <a:extLst>
                  <a:ext uri="{FF2B5EF4-FFF2-40B4-BE49-F238E27FC236}">
                    <a16:creationId xmlns:a16="http://schemas.microsoft.com/office/drawing/2014/main" id="{1B2540EA-7872-B31A-4FC3-764161394837}"/>
                  </a:ext>
                </a:extLst>
              </p:cNvPr>
              <p:cNvGrpSpPr/>
              <p:nvPr/>
            </p:nvGrpSpPr>
            <p:grpSpPr>
              <a:xfrm>
                <a:off x="9870771" y="2547019"/>
                <a:ext cx="973068" cy="1292664"/>
                <a:chOff x="1761821" y="1719128"/>
                <a:chExt cx="973068" cy="1292664"/>
              </a:xfrm>
            </p:grpSpPr>
            <p:grpSp>
              <p:nvGrpSpPr>
                <p:cNvPr id="155" name="Gruppieren 154">
                  <a:extLst>
                    <a:ext uri="{FF2B5EF4-FFF2-40B4-BE49-F238E27FC236}">
                      <a16:creationId xmlns:a16="http://schemas.microsoft.com/office/drawing/2014/main" id="{D226D8D9-4EDE-1EB3-31AC-ABB24EBB6F7F}"/>
                    </a:ext>
                  </a:extLst>
                </p:cNvPr>
                <p:cNvGrpSpPr/>
                <p:nvPr/>
              </p:nvGrpSpPr>
              <p:grpSpPr>
                <a:xfrm>
                  <a:off x="1761822" y="1934572"/>
                  <a:ext cx="973067" cy="1077220"/>
                  <a:chOff x="2652409" y="2248896"/>
                  <a:chExt cx="973067" cy="1077220"/>
                </a:xfrm>
              </p:grpSpPr>
              <p:sp>
                <p:nvSpPr>
                  <p:cNvPr id="157" name="Rechteck 156">
                    <a:extLst>
                      <a:ext uri="{FF2B5EF4-FFF2-40B4-BE49-F238E27FC236}">
                        <a16:creationId xmlns:a16="http://schemas.microsoft.com/office/drawing/2014/main" id="{A624466F-B5A6-2036-1B20-AB05E50E2C1B}"/>
                      </a:ext>
                    </a:extLst>
                  </p:cNvPr>
                  <p:cNvSpPr/>
                  <p:nvPr/>
                </p:nvSpPr>
                <p:spPr>
                  <a:xfrm>
                    <a:off x="2652409" y="2248896"/>
                    <a:ext cx="486382" cy="215444"/>
                  </a:xfrm>
                  <a:prstGeom prst="rect">
                    <a:avLst/>
                  </a:prstGeom>
                  <a:solidFill>
                    <a:schemeClr val="bg1"/>
                  </a:solidFill>
                  <a:ln w="1270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de-DE" sz="900" dirty="0">
                        <a:solidFill>
                          <a:schemeClr val="tx1"/>
                        </a:solidFill>
                      </a:rPr>
                      <a:t>Byte</a:t>
                    </a:r>
                  </a:p>
                </p:txBody>
              </p:sp>
              <p:sp>
                <p:nvSpPr>
                  <p:cNvPr id="158" name="Rechteck 157">
                    <a:extLst>
                      <a:ext uri="{FF2B5EF4-FFF2-40B4-BE49-F238E27FC236}">
                        <a16:creationId xmlns:a16="http://schemas.microsoft.com/office/drawing/2014/main" id="{F94B684A-897E-A7F8-9B07-3B6B8073F529}"/>
                      </a:ext>
                    </a:extLst>
                  </p:cNvPr>
                  <p:cNvSpPr/>
                  <p:nvPr/>
                </p:nvSpPr>
                <p:spPr>
                  <a:xfrm>
                    <a:off x="3139094" y="2248896"/>
                    <a:ext cx="486382" cy="215444"/>
                  </a:xfrm>
                  <a:prstGeom prst="rect">
                    <a:avLst/>
                  </a:prstGeom>
                  <a:solidFill>
                    <a:schemeClr val="bg1"/>
                  </a:solidFill>
                  <a:ln w="1270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de-DE" sz="900" dirty="0">
                        <a:solidFill>
                          <a:schemeClr val="tx1"/>
                        </a:solidFill>
                      </a:rPr>
                      <a:t>Value</a:t>
                    </a:r>
                  </a:p>
                </p:txBody>
              </p:sp>
              <p:sp>
                <p:nvSpPr>
                  <p:cNvPr id="159" name="Rechteck 158">
                    <a:extLst>
                      <a:ext uri="{FF2B5EF4-FFF2-40B4-BE49-F238E27FC236}">
                        <a16:creationId xmlns:a16="http://schemas.microsoft.com/office/drawing/2014/main" id="{14D48A19-4E89-93C0-183D-090D6C2E0972}"/>
                      </a:ext>
                    </a:extLst>
                  </p:cNvPr>
                  <p:cNvSpPr/>
                  <p:nvPr/>
                </p:nvSpPr>
                <p:spPr>
                  <a:xfrm>
                    <a:off x="2652409" y="2464340"/>
                    <a:ext cx="486382" cy="215444"/>
                  </a:xfrm>
                  <a:prstGeom prst="rect">
                    <a:avLst/>
                  </a:prstGeom>
                  <a:solidFill>
                    <a:schemeClr val="bg1"/>
                  </a:solidFill>
                  <a:ln w="1270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de-DE" sz="900" dirty="0">
                        <a:solidFill>
                          <a:schemeClr val="tx1"/>
                        </a:solidFill>
                      </a:rPr>
                      <a:t>0</a:t>
                    </a:r>
                  </a:p>
                </p:txBody>
              </p:sp>
              <p:sp>
                <p:nvSpPr>
                  <p:cNvPr id="160" name="Rechteck 159">
                    <a:extLst>
                      <a:ext uri="{FF2B5EF4-FFF2-40B4-BE49-F238E27FC236}">
                        <a16:creationId xmlns:a16="http://schemas.microsoft.com/office/drawing/2014/main" id="{FE3415E6-B833-CDD8-AE73-EADA529845AF}"/>
                      </a:ext>
                    </a:extLst>
                  </p:cNvPr>
                  <p:cNvSpPr/>
                  <p:nvPr/>
                </p:nvSpPr>
                <p:spPr>
                  <a:xfrm>
                    <a:off x="3139094" y="2464340"/>
                    <a:ext cx="486382" cy="215444"/>
                  </a:xfrm>
                  <a:prstGeom prst="rect">
                    <a:avLst/>
                  </a:prstGeom>
                  <a:solidFill>
                    <a:schemeClr val="bg1"/>
                  </a:solidFill>
                  <a:ln w="1270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de-DE" sz="900" dirty="0">
                        <a:solidFill>
                          <a:schemeClr val="tx1"/>
                        </a:solidFill>
                      </a:rPr>
                      <a:t>0x2A</a:t>
                    </a:r>
                  </a:p>
                </p:txBody>
              </p:sp>
              <p:sp>
                <p:nvSpPr>
                  <p:cNvPr id="161" name="Rechteck 160">
                    <a:extLst>
                      <a:ext uri="{FF2B5EF4-FFF2-40B4-BE49-F238E27FC236}">
                        <a16:creationId xmlns:a16="http://schemas.microsoft.com/office/drawing/2014/main" id="{C0FEFCB4-B6DC-2769-0D53-CCA9C5C4D7A0}"/>
                      </a:ext>
                    </a:extLst>
                  </p:cNvPr>
                  <p:cNvSpPr/>
                  <p:nvPr/>
                </p:nvSpPr>
                <p:spPr>
                  <a:xfrm>
                    <a:off x="2652409" y="2679784"/>
                    <a:ext cx="486382" cy="215444"/>
                  </a:xfrm>
                  <a:prstGeom prst="rect">
                    <a:avLst/>
                  </a:prstGeom>
                  <a:solidFill>
                    <a:schemeClr val="bg1"/>
                  </a:solidFill>
                  <a:ln w="1270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de-DE" sz="900" dirty="0">
                        <a:solidFill>
                          <a:schemeClr val="tx1"/>
                        </a:solidFill>
                      </a:rPr>
                      <a:t>1</a:t>
                    </a:r>
                  </a:p>
                </p:txBody>
              </p:sp>
              <p:sp>
                <p:nvSpPr>
                  <p:cNvPr id="162" name="Rechteck 161">
                    <a:extLst>
                      <a:ext uri="{FF2B5EF4-FFF2-40B4-BE49-F238E27FC236}">
                        <a16:creationId xmlns:a16="http://schemas.microsoft.com/office/drawing/2014/main" id="{DECFF2D5-AF17-042C-6892-8BF5529CD34B}"/>
                      </a:ext>
                    </a:extLst>
                  </p:cNvPr>
                  <p:cNvSpPr/>
                  <p:nvPr/>
                </p:nvSpPr>
                <p:spPr>
                  <a:xfrm>
                    <a:off x="3139094" y="2679784"/>
                    <a:ext cx="486382" cy="215444"/>
                  </a:xfrm>
                  <a:prstGeom prst="rect">
                    <a:avLst/>
                  </a:prstGeom>
                  <a:solidFill>
                    <a:schemeClr val="bg1"/>
                  </a:solidFill>
                  <a:ln w="1270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de-DE" sz="900" dirty="0">
                        <a:solidFill>
                          <a:schemeClr val="tx1"/>
                        </a:solidFill>
                      </a:rPr>
                      <a:t>0x00</a:t>
                    </a:r>
                  </a:p>
                </p:txBody>
              </p:sp>
              <p:sp>
                <p:nvSpPr>
                  <p:cNvPr id="163" name="Rechteck 162">
                    <a:extLst>
                      <a:ext uri="{FF2B5EF4-FFF2-40B4-BE49-F238E27FC236}">
                        <a16:creationId xmlns:a16="http://schemas.microsoft.com/office/drawing/2014/main" id="{7BA38FC0-C6CB-05D0-44A7-1CA9D70052A0}"/>
                      </a:ext>
                    </a:extLst>
                  </p:cNvPr>
                  <p:cNvSpPr/>
                  <p:nvPr/>
                </p:nvSpPr>
                <p:spPr>
                  <a:xfrm>
                    <a:off x="2652409" y="2895228"/>
                    <a:ext cx="486382" cy="215444"/>
                  </a:xfrm>
                  <a:prstGeom prst="rect">
                    <a:avLst/>
                  </a:prstGeom>
                  <a:solidFill>
                    <a:schemeClr val="bg1"/>
                  </a:solidFill>
                  <a:ln w="1270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de-DE" sz="900" dirty="0">
                        <a:solidFill>
                          <a:schemeClr val="tx1"/>
                        </a:solidFill>
                      </a:rPr>
                      <a:t>2</a:t>
                    </a:r>
                  </a:p>
                </p:txBody>
              </p:sp>
              <p:sp>
                <p:nvSpPr>
                  <p:cNvPr id="164" name="Rechteck 163">
                    <a:extLst>
                      <a:ext uri="{FF2B5EF4-FFF2-40B4-BE49-F238E27FC236}">
                        <a16:creationId xmlns:a16="http://schemas.microsoft.com/office/drawing/2014/main" id="{45EDA49C-60BA-68FF-7074-EB90C0FD4656}"/>
                      </a:ext>
                    </a:extLst>
                  </p:cNvPr>
                  <p:cNvSpPr/>
                  <p:nvPr/>
                </p:nvSpPr>
                <p:spPr>
                  <a:xfrm>
                    <a:off x="3139094" y="2895228"/>
                    <a:ext cx="486382" cy="215444"/>
                  </a:xfrm>
                  <a:prstGeom prst="rect">
                    <a:avLst/>
                  </a:prstGeom>
                  <a:solidFill>
                    <a:schemeClr val="bg1"/>
                  </a:solidFill>
                  <a:ln w="1270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de-DE" sz="900" dirty="0">
                        <a:solidFill>
                          <a:schemeClr val="tx1"/>
                        </a:solidFill>
                      </a:rPr>
                      <a:t>0x00</a:t>
                    </a:r>
                  </a:p>
                </p:txBody>
              </p:sp>
              <p:sp>
                <p:nvSpPr>
                  <p:cNvPr id="165" name="Rechteck 164">
                    <a:extLst>
                      <a:ext uri="{FF2B5EF4-FFF2-40B4-BE49-F238E27FC236}">
                        <a16:creationId xmlns:a16="http://schemas.microsoft.com/office/drawing/2014/main" id="{32BF5C0C-16F7-A6BD-385F-D4BDBC276CE0}"/>
                      </a:ext>
                    </a:extLst>
                  </p:cNvPr>
                  <p:cNvSpPr/>
                  <p:nvPr/>
                </p:nvSpPr>
                <p:spPr>
                  <a:xfrm>
                    <a:off x="2652409" y="3110672"/>
                    <a:ext cx="486382" cy="215444"/>
                  </a:xfrm>
                  <a:prstGeom prst="rect">
                    <a:avLst/>
                  </a:prstGeom>
                  <a:solidFill>
                    <a:schemeClr val="bg1"/>
                  </a:solidFill>
                  <a:ln w="1270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de-DE" sz="900" dirty="0">
                        <a:solidFill>
                          <a:schemeClr val="tx1"/>
                        </a:solidFill>
                      </a:rPr>
                      <a:t>3</a:t>
                    </a:r>
                  </a:p>
                </p:txBody>
              </p:sp>
              <p:sp>
                <p:nvSpPr>
                  <p:cNvPr id="166" name="Rechteck 165">
                    <a:extLst>
                      <a:ext uri="{FF2B5EF4-FFF2-40B4-BE49-F238E27FC236}">
                        <a16:creationId xmlns:a16="http://schemas.microsoft.com/office/drawing/2014/main" id="{42DADFD8-12B5-8E06-28A2-D555FB281D42}"/>
                      </a:ext>
                    </a:extLst>
                  </p:cNvPr>
                  <p:cNvSpPr/>
                  <p:nvPr/>
                </p:nvSpPr>
                <p:spPr>
                  <a:xfrm>
                    <a:off x="3139094" y="3110672"/>
                    <a:ext cx="486382" cy="215444"/>
                  </a:xfrm>
                  <a:prstGeom prst="rect">
                    <a:avLst/>
                  </a:prstGeom>
                  <a:solidFill>
                    <a:schemeClr val="bg1"/>
                  </a:solidFill>
                  <a:ln w="1270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de-DE" sz="900" dirty="0">
                        <a:solidFill>
                          <a:schemeClr val="tx1"/>
                        </a:solidFill>
                      </a:rPr>
                      <a:t>0x00</a:t>
                    </a:r>
                  </a:p>
                </p:txBody>
              </p:sp>
            </p:grpSp>
            <p:sp>
              <p:nvSpPr>
                <p:cNvPr id="156" name="Rechteck 155">
                  <a:extLst>
                    <a:ext uri="{FF2B5EF4-FFF2-40B4-BE49-F238E27FC236}">
                      <a16:creationId xmlns:a16="http://schemas.microsoft.com/office/drawing/2014/main" id="{F850DA0B-BB70-1371-191C-309A203615E3}"/>
                    </a:ext>
                  </a:extLst>
                </p:cNvPr>
                <p:cNvSpPr/>
                <p:nvPr/>
              </p:nvSpPr>
              <p:spPr>
                <a:xfrm>
                  <a:off x="1761821" y="1719128"/>
                  <a:ext cx="973067" cy="215444"/>
                </a:xfrm>
                <a:prstGeom prst="rect">
                  <a:avLst/>
                </a:prstGeom>
                <a:solidFill>
                  <a:schemeClr val="bg1"/>
                </a:solidFill>
                <a:ln w="12700"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de-DE" sz="1200" dirty="0">
                      <a:solidFill>
                        <a:schemeClr val="tx1"/>
                      </a:solidFill>
                    </a:rPr>
                    <a:t>Heap</a:t>
                  </a:r>
                </a:p>
              </p:txBody>
            </p:sp>
          </p:grpSp>
          <p:sp>
            <p:nvSpPr>
              <p:cNvPr id="129" name="Rechteck: abgerundete Ecken 128">
                <a:extLst>
                  <a:ext uri="{FF2B5EF4-FFF2-40B4-BE49-F238E27FC236}">
                    <a16:creationId xmlns:a16="http://schemas.microsoft.com/office/drawing/2014/main" id="{6D0769AB-CE63-E707-B78F-D078B6328F65}"/>
                  </a:ext>
                </a:extLst>
              </p:cNvPr>
              <p:cNvSpPr/>
              <p:nvPr/>
            </p:nvSpPr>
            <p:spPr>
              <a:xfrm>
                <a:off x="8582479" y="2632546"/>
                <a:ext cx="739775" cy="215445"/>
              </a:xfrm>
              <a:prstGeom prst="roundRect">
                <a:avLst/>
              </a:prstGeom>
              <a:pattFill prst="ltUpDiag">
                <a:fgClr>
                  <a:schemeClr val="accent1"/>
                </a:fgClr>
                <a:bgClr>
                  <a:schemeClr val="bg1"/>
                </a:bgClr>
              </a:pattFill>
              <a:ln w="1270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de-DE" sz="1000" dirty="0">
                    <a:solidFill>
                      <a:schemeClr val="tx1"/>
                    </a:solidFill>
                  </a:rPr>
                  <a:t>pointer_1</a:t>
                </a:r>
              </a:p>
            </p:txBody>
          </p:sp>
          <p:sp>
            <p:nvSpPr>
              <p:cNvPr id="131" name="Rechteck: abgerundete Ecken 130">
                <a:extLst>
                  <a:ext uri="{FF2B5EF4-FFF2-40B4-BE49-F238E27FC236}">
                    <a16:creationId xmlns:a16="http://schemas.microsoft.com/office/drawing/2014/main" id="{E977CA52-64C8-1178-508F-D8B91971ECCA}"/>
                  </a:ext>
                </a:extLst>
              </p:cNvPr>
              <p:cNvSpPr/>
              <p:nvPr/>
            </p:nvSpPr>
            <p:spPr>
              <a:xfrm>
                <a:off x="8582479" y="3354172"/>
                <a:ext cx="739775" cy="215445"/>
              </a:xfrm>
              <a:prstGeom prst="roundRect">
                <a:avLst/>
              </a:prstGeom>
              <a:solidFill>
                <a:schemeClr val="bg1"/>
              </a:solidFill>
              <a:ln w="1270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de-DE" sz="1000" dirty="0">
                    <a:solidFill>
                      <a:schemeClr val="tx1"/>
                    </a:solidFill>
                  </a:rPr>
                  <a:t>pointer_2</a:t>
                </a:r>
              </a:p>
            </p:txBody>
          </p:sp>
          <p:sp>
            <p:nvSpPr>
              <p:cNvPr id="132" name="Pfeil: nach unten 131">
                <a:extLst>
                  <a:ext uri="{FF2B5EF4-FFF2-40B4-BE49-F238E27FC236}">
                    <a16:creationId xmlns:a16="http://schemas.microsoft.com/office/drawing/2014/main" id="{D8AA64FC-0336-F155-DE73-CFC6FEB27894}"/>
                  </a:ext>
                </a:extLst>
              </p:cNvPr>
              <p:cNvSpPr/>
              <p:nvPr/>
            </p:nvSpPr>
            <p:spPr>
              <a:xfrm>
                <a:off x="8886864" y="2880422"/>
                <a:ext cx="131003" cy="430888"/>
              </a:xfrm>
              <a:prstGeom prst="downArrow">
                <a:avLst/>
              </a:prstGeom>
              <a:solidFill>
                <a:schemeClr val="bg1"/>
              </a:solidFill>
              <a:ln w="9525">
                <a:solidFill>
                  <a:schemeClr val="accent1">
                    <a:shade val="1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cxnSp>
            <p:nvCxnSpPr>
              <p:cNvPr id="152" name="Verbinder: gekrümmt 151">
                <a:extLst>
                  <a:ext uri="{FF2B5EF4-FFF2-40B4-BE49-F238E27FC236}">
                    <a16:creationId xmlns:a16="http://schemas.microsoft.com/office/drawing/2014/main" id="{D4B80CC1-7B54-47D4-C409-41FEC94D584A}"/>
                  </a:ext>
                </a:extLst>
              </p:cNvPr>
              <p:cNvCxnSpPr>
                <a:cxnSpLocks/>
                <a:stCxn id="131" idx="3"/>
                <a:endCxn id="159" idx="1"/>
              </p:cNvCxnSpPr>
              <p:nvPr/>
            </p:nvCxnSpPr>
            <p:spPr>
              <a:xfrm flipV="1">
                <a:off x="9322254" y="3085629"/>
                <a:ext cx="548518" cy="376266"/>
              </a:xfrm>
              <a:prstGeom prst="curvedConnector3">
                <a:avLst>
                  <a:gd name="adj1" fmla="val 50000"/>
                </a:avLst>
              </a:prstGeom>
              <a:ln w="12700">
                <a:solidFill>
                  <a:schemeClr val="tx1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9" name="Rechteck: abgerundete Ecken 8">
              <a:extLst>
                <a:ext uri="{FF2B5EF4-FFF2-40B4-BE49-F238E27FC236}">
                  <a16:creationId xmlns:a16="http://schemas.microsoft.com/office/drawing/2014/main" id="{6A3CCBDC-745D-5791-AA87-85415892A529}"/>
                </a:ext>
              </a:extLst>
            </p:cNvPr>
            <p:cNvSpPr/>
            <p:nvPr/>
          </p:nvSpPr>
          <p:spPr>
            <a:xfrm>
              <a:off x="8707391" y="3548681"/>
              <a:ext cx="620562" cy="167241"/>
            </a:xfrm>
            <a:prstGeom prst="roundRect">
              <a:avLst/>
            </a:prstGeom>
            <a:solidFill>
              <a:srgbClr val="64378C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700" dirty="0"/>
                <a:t>Ownership</a:t>
              </a:r>
              <a:endParaRPr lang="de-DE" sz="500" dirty="0"/>
            </a:p>
          </p:txBody>
        </p:sp>
      </p:grpSp>
      <p:grpSp>
        <p:nvGrpSpPr>
          <p:cNvPr id="11" name="Gruppieren 10">
            <a:extLst>
              <a:ext uri="{FF2B5EF4-FFF2-40B4-BE49-F238E27FC236}">
                <a16:creationId xmlns:a16="http://schemas.microsoft.com/office/drawing/2014/main" id="{2E8020D3-08E8-4DDC-2697-64155E5D772F}"/>
              </a:ext>
            </a:extLst>
          </p:cNvPr>
          <p:cNvGrpSpPr/>
          <p:nvPr/>
        </p:nvGrpSpPr>
        <p:grpSpPr>
          <a:xfrm>
            <a:off x="1126218" y="2510287"/>
            <a:ext cx="2352603" cy="2364765"/>
            <a:chOff x="1126218" y="2510287"/>
            <a:chExt cx="2352603" cy="2364765"/>
          </a:xfrm>
        </p:grpSpPr>
        <p:grpSp>
          <p:nvGrpSpPr>
            <p:cNvPr id="28" name="Gruppieren 27">
              <a:extLst>
                <a:ext uri="{FF2B5EF4-FFF2-40B4-BE49-F238E27FC236}">
                  <a16:creationId xmlns:a16="http://schemas.microsoft.com/office/drawing/2014/main" id="{162258AA-BBCA-7157-7521-ADB501DD45C3}"/>
                </a:ext>
              </a:extLst>
            </p:cNvPr>
            <p:cNvGrpSpPr/>
            <p:nvPr/>
          </p:nvGrpSpPr>
          <p:grpSpPr>
            <a:xfrm>
              <a:off x="1126218" y="2510287"/>
              <a:ext cx="2352603" cy="2364765"/>
              <a:chOff x="1642760" y="2311163"/>
              <a:chExt cx="2352603" cy="2364765"/>
            </a:xfrm>
          </p:grpSpPr>
          <p:sp>
            <p:nvSpPr>
              <p:cNvPr id="40" name="Rechteck: abgerundete Ecken 39">
                <a:extLst>
                  <a:ext uri="{FF2B5EF4-FFF2-40B4-BE49-F238E27FC236}">
                    <a16:creationId xmlns:a16="http://schemas.microsoft.com/office/drawing/2014/main" id="{AE11E35A-8B65-E893-749E-F84BB5212F7C}"/>
                  </a:ext>
                </a:extLst>
              </p:cNvPr>
              <p:cNvSpPr/>
              <p:nvPr/>
            </p:nvSpPr>
            <p:spPr>
              <a:xfrm>
                <a:off x="1642760" y="2925064"/>
                <a:ext cx="739775" cy="215445"/>
              </a:xfrm>
              <a:prstGeom prst="roundRect">
                <a:avLst/>
              </a:prstGeom>
              <a:solidFill>
                <a:schemeClr val="bg1"/>
              </a:solidFill>
              <a:ln w="1270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de-DE" sz="1000" dirty="0">
                    <a:solidFill>
                      <a:schemeClr val="tx1"/>
                    </a:solidFill>
                  </a:rPr>
                  <a:t>pointer_1</a:t>
                </a:r>
              </a:p>
            </p:txBody>
          </p:sp>
          <p:grpSp>
            <p:nvGrpSpPr>
              <p:cNvPr id="41" name="Gruppieren 40">
                <a:extLst>
                  <a:ext uri="{FF2B5EF4-FFF2-40B4-BE49-F238E27FC236}">
                    <a16:creationId xmlns:a16="http://schemas.microsoft.com/office/drawing/2014/main" id="{F7BE0E65-4D69-3C39-9DBF-BB8F3AA60E86}"/>
                  </a:ext>
                </a:extLst>
              </p:cNvPr>
              <p:cNvGrpSpPr/>
              <p:nvPr/>
            </p:nvGrpSpPr>
            <p:grpSpPr>
              <a:xfrm>
                <a:off x="3022144" y="2311163"/>
                <a:ext cx="973219" cy="2364765"/>
                <a:chOff x="2425245" y="2471449"/>
                <a:chExt cx="973219" cy="2364765"/>
              </a:xfrm>
            </p:grpSpPr>
            <p:grpSp>
              <p:nvGrpSpPr>
                <p:cNvPr id="48" name="Gruppieren 47">
                  <a:extLst>
                    <a:ext uri="{FF2B5EF4-FFF2-40B4-BE49-F238E27FC236}">
                      <a16:creationId xmlns:a16="http://schemas.microsoft.com/office/drawing/2014/main" id="{0CD405E9-3FCA-4233-86EE-DBD6E57A648E}"/>
                    </a:ext>
                  </a:extLst>
                </p:cNvPr>
                <p:cNvGrpSpPr/>
                <p:nvPr/>
              </p:nvGrpSpPr>
              <p:grpSpPr>
                <a:xfrm>
                  <a:off x="2425396" y="2471449"/>
                  <a:ext cx="973068" cy="1292664"/>
                  <a:chOff x="1761821" y="1719128"/>
                  <a:chExt cx="973068" cy="1292664"/>
                </a:xfrm>
              </p:grpSpPr>
              <p:grpSp>
                <p:nvGrpSpPr>
                  <p:cNvPr id="60" name="Gruppieren 59">
                    <a:extLst>
                      <a:ext uri="{FF2B5EF4-FFF2-40B4-BE49-F238E27FC236}">
                        <a16:creationId xmlns:a16="http://schemas.microsoft.com/office/drawing/2014/main" id="{7CC21FE3-8087-E4B4-6ABE-ED0A49B3326A}"/>
                      </a:ext>
                    </a:extLst>
                  </p:cNvPr>
                  <p:cNvGrpSpPr/>
                  <p:nvPr/>
                </p:nvGrpSpPr>
                <p:grpSpPr>
                  <a:xfrm>
                    <a:off x="1761822" y="1934572"/>
                    <a:ext cx="973067" cy="1077220"/>
                    <a:chOff x="2652409" y="2248896"/>
                    <a:chExt cx="973067" cy="1077220"/>
                  </a:xfrm>
                </p:grpSpPr>
                <p:sp>
                  <p:nvSpPr>
                    <p:cNvPr id="70" name="Rechteck 69">
                      <a:extLst>
                        <a:ext uri="{FF2B5EF4-FFF2-40B4-BE49-F238E27FC236}">
                          <a16:creationId xmlns:a16="http://schemas.microsoft.com/office/drawing/2014/main" id="{BA6B252A-9B31-3D08-6611-65D231AF5CE3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2652409" y="2248896"/>
                      <a:ext cx="486382" cy="215444"/>
                    </a:xfrm>
                    <a:prstGeom prst="rect">
                      <a:avLst/>
                    </a:prstGeom>
                    <a:solidFill>
                      <a:schemeClr val="bg1"/>
                    </a:solidFill>
                    <a:ln w="12700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r>
                        <a:rPr lang="de-DE" sz="900" dirty="0">
                          <a:solidFill>
                            <a:schemeClr val="tx1"/>
                          </a:solidFill>
                        </a:rPr>
                        <a:t>Byte</a:t>
                      </a:r>
                    </a:p>
                  </p:txBody>
                </p:sp>
                <p:sp>
                  <p:nvSpPr>
                    <p:cNvPr id="86" name="Rechteck 85">
                      <a:extLst>
                        <a:ext uri="{FF2B5EF4-FFF2-40B4-BE49-F238E27FC236}">
                          <a16:creationId xmlns:a16="http://schemas.microsoft.com/office/drawing/2014/main" id="{37A39057-EE4B-F7E2-9C72-45E5D4375428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3139094" y="2248896"/>
                      <a:ext cx="486382" cy="215444"/>
                    </a:xfrm>
                    <a:prstGeom prst="rect">
                      <a:avLst/>
                    </a:prstGeom>
                    <a:solidFill>
                      <a:schemeClr val="bg1"/>
                    </a:solidFill>
                    <a:ln w="12700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r>
                        <a:rPr lang="de-DE" sz="900" dirty="0">
                          <a:solidFill>
                            <a:schemeClr val="tx1"/>
                          </a:solidFill>
                        </a:rPr>
                        <a:t>Value</a:t>
                      </a:r>
                    </a:p>
                  </p:txBody>
                </p:sp>
                <p:sp>
                  <p:nvSpPr>
                    <p:cNvPr id="88" name="Rechteck 87">
                      <a:extLst>
                        <a:ext uri="{FF2B5EF4-FFF2-40B4-BE49-F238E27FC236}">
                          <a16:creationId xmlns:a16="http://schemas.microsoft.com/office/drawing/2014/main" id="{80A1B1E5-37EA-2621-01A7-A086CCC921D5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2652409" y="2464340"/>
                      <a:ext cx="486382" cy="215444"/>
                    </a:xfrm>
                    <a:prstGeom prst="rect">
                      <a:avLst/>
                    </a:prstGeom>
                    <a:solidFill>
                      <a:schemeClr val="bg1"/>
                    </a:solidFill>
                    <a:ln w="12700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r>
                        <a:rPr lang="de-DE" sz="9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p:txBody>
                </p:sp>
                <p:sp>
                  <p:nvSpPr>
                    <p:cNvPr id="89" name="Rechteck 88">
                      <a:extLst>
                        <a:ext uri="{FF2B5EF4-FFF2-40B4-BE49-F238E27FC236}">
                          <a16:creationId xmlns:a16="http://schemas.microsoft.com/office/drawing/2014/main" id="{9182D0DB-69F1-9849-BC27-6FDB121A95C7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3139094" y="2464340"/>
                      <a:ext cx="486382" cy="215444"/>
                    </a:xfrm>
                    <a:prstGeom prst="rect">
                      <a:avLst/>
                    </a:prstGeom>
                    <a:solidFill>
                      <a:schemeClr val="bg1"/>
                    </a:solidFill>
                    <a:ln w="12700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r>
                        <a:rPr lang="de-DE" sz="900" dirty="0">
                          <a:solidFill>
                            <a:schemeClr val="tx1"/>
                          </a:solidFill>
                        </a:rPr>
                        <a:t>0x2A</a:t>
                      </a:r>
                    </a:p>
                  </p:txBody>
                </p:sp>
                <p:sp>
                  <p:nvSpPr>
                    <p:cNvPr id="91" name="Rechteck 90">
                      <a:extLst>
                        <a:ext uri="{FF2B5EF4-FFF2-40B4-BE49-F238E27FC236}">
                          <a16:creationId xmlns:a16="http://schemas.microsoft.com/office/drawing/2014/main" id="{DA2DCF3F-6A1B-A44D-0730-A69B850C1458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2652409" y="2679784"/>
                      <a:ext cx="486382" cy="215444"/>
                    </a:xfrm>
                    <a:prstGeom prst="rect">
                      <a:avLst/>
                    </a:prstGeom>
                    <a:solidFill>
                      <a:schemeClr val="bg1"/>
                    </a:solidFill>
                    <a:ln w="12700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r>
                        <a:rPr lang="de-DE" sz="900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</p:txBody>
                </p:sp>
                <p:sp>
                  <p:nvSpPr>
                    <p:cNvPr id="92" name="Rechteck 91">
                      <a:extLst>
                        <a:ext uri="{FF2B5EF4-FFF2-40B4-BE49-F238E27FC236}">
                          <a16:creationId xmlns:a16="http://schemas.microsoft.com/office/drawing/2014/main" id="{B0E3E15A-2609-FBC4-4F0D-E51C5E76BD97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3139094" y="2679784"/>
                      <a:ext cx="486382" cy="215444"/>
                    </a:xfrm>
                    <a:prstGeom prst="rect">
                      <a:avLst/>
                    </a:prstGeom>
                    <a:solidFill>
                      <a:schemeClr val="bg1"/>
                    </a:solidFill>
                    <a:ln w="12700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r>
                        <a:rPr lang="de-DE" sz="900" dirty="0">
                          <a:solidFill>
                            <a:schemeClr val="tx1"/>
                          </a:solidFill>
                        </a:rPr>
                        <a:t>0x00</a:t>
                      </a:r>
                    </a:p>
                  </p:txBody>
                </p:sp>
                <p:sp>
                  <p:nvSpPr>
                    <p:cNvPr id="93" name="Rechteck 92">
                      <a:extLst>
                        <a:ext uri="{FF2B5EF4-FFF2-40B4-BE49-F238E27FC236}">
                          <a16:creationId xmlns:a16="http://schemas.microsoft.com/office/drawing/2014/main" id="{D26E0EDD-E04C-9EA8-3DF6-60DB9A7DE77B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2652409" y="2895228"/>
                      <a:ext cx="486382" cy="215444"/>
                    </a:xfrm>
                    <a:prstGeom prst="rect">
                      <a:avLst/>
                    </a:prstGeom>
                    <a:solidFill>
                      <a:schemeClr val="bg1"/>
                    </a:solidFill>
                    <a:ln w="12700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r>
                        <a:rPr lang="de-DE" sz="900" dirty="0">
                          <a:solidFill>
                            <a:schemeClr val="tx1"/>
                          </a:solidFill>
                        </a:rPr>
                        <a:t>2</a:t>
                      </a:r>
                    </a:p>
                  </p:txBody>
                </p:sp>
                <p:sp>
                  <p:nvSpPr>
                    <p:cNvPr id="94" name="Rechteck 93">
                      <a:extLst>
                        <a:ext uri="{FF2B5EF4-FFF2-40B4-BE49-F238E27FC236}">
                          <a16:creationId xmlns:a16="http://schemas.microsoft.com/office/drawing/2014/main" id="{19098B0C-F1CE-372C-71CB-D57ACA30E95A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3139094" y="2895228"/>
                      <a:ext cx="486382" cy="215444"/>
                    </a:xfrm>
                    <a:prstGeom prst="rect">
                      <a:avLst/>
                    </a:prstGeom>
                    <a:solidFill>
                      <a:schemeClr val="bg1"/>
                    </a:solidFill>
                    <a:ln w="12700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r>
                        <a:rPr lang="de-DE" sz="900" dirty="0">
                          <a:solidFill>
                            <a:schemeClr val="tx1"/>
                          </a:solidFill>
                        </a:rPr>
                        <a:t>0x00</a:t>
                      </a:r>
                    </a:p>
                  </p:txBody>
                </p:sp>
                <p:sp>
                  <p:nvSpPr>
                    <p:cNvPr id="95" name="Rechteck 94">
                      <a:extLst>
                        <a:ext uri="{FF2B5EF4-FFF2-40B4-BE49-F238E27FC236}">
                          <a16:creationId xmlns:a16="http://schemas.microsoft.com/office/drawing/2014/main" id="{1CFE94D9-348D-C614-9D10-125B4C84B705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2652409" y="3110672"/>
                      <a:ext cx="486382" cy="215444"/>
                    </a:xfrm>
                    <a:prstGeom prst="rect">
                      <a:avLst/>
                    </a:prstGeom>
                    <a:solidFill>
                      <a:schemeClr val="bg1"/>
                    </a:solidFill>
                    <a:ln w="12700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r>
                        <a:rPr lang="de-DE" sz="900" dirty="0">
                          <a:solidFill>
                            <a:schemeClr val="tx1"/>
                          </a:solidFill>
                        </a:rPr>
                        <a:t>3</a:t>
                      </a:r>
                    </a:p>
                  </p:txBody>
                </p:sp>
                <p:sp>
                  <p:nvSpPr>
                    <p:cNvPr id="96" name="Rechteck 95">
                      <a:extLst>
                        <a:ext uri="{FF2B5EF4-FFF2-40B4-BE49-F238E27FC236}">
                          <a16:creationId xmlns:a16="http://schemas.microsoft.com/office/drawing/2014/main" id="{69D019CE-9880-EF7C-A82A-EB065CAE19C8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3139094" y="3110672"/>
                      <a:ext cx="486382" cy="215444"/>
                    </a:xfrm>
                    <a:prstGeom prst="rect">
                      <a:avLst/>
                    </a:prstGeom>
                    <a:solidFill>
                      <a:schemeClr val="bg1"/>
                    </a:solidFill>
                    <a:ln w="12700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r>
                        <a:rPr lang="de-DE" sz="900" dirty="0">
                          <a:solidFill>
                            <a:schemeClr val="tx1"/>
                          </a:solidFill>
                        </a:rPr>
                        <a:t>0x00</a:t>
                      </a:r>
                    </a:p>
                  </p:txBody>
                </p:sp>
              </p:grpSp>
              <p:sp>
                <p:nvSpPr>
                  <p:cNvPr id="69" name="Rechteck 68">
                    <a:extLst>
                      <a:ext uri="{FF2B5EF4-FFF2-40B4-BE49-F238E27FC236}">
                        <a16:creationId xmlns:a16="http://schemas.microsoft.com/office/drawing/2014/main" id="{086CD6AE-F31B-8656-DCFE-A63F3997FA59}"/>
                      </a:ext>
                    </a:extLst>
                  </p:cNvPr>
                  <p:cNvSpPr/>
                  <p:nvPr/>
                </p:nvSpPr>
                <p:spPr>
                  <a:xfrm>
                    <a:off x="1761821" y="1719128"/>
                    <a:ext cx="973067" cy="215444"/>
                  </a:xfrm>
                  <a:prstGeom prst="rect">
                    <a:avLst/>
                  </a:prstGeom>
                  <a:solidFill>
                    <a:schemeClr val="bg1"/>
                  </a:solidFill>
                  <a:ln w="1270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de-DE" sz="1200" dirty="0">
                        <a:solidFill>
                          <a:schemeClr val="tx1"/>
                        </a:solidFill>
                      </a:rPr>
                      <a:t>Heap</a:t>
                    </a:r>
                  </a:p>
                </p:txBody>
              </p:sp>
            </p:grpSp>
            <p:grpSp>
              <p:nvGrpSpPr>
                <p:cNvPr id="49" name="Gruppieren 48">
                  <a:extLst>
                    <a:ext uri="{FF2B5EF4-FFF2-40B4-BE49-F238E27FC236}">
                      <a16:creationId xmlns:a16="http://schemas.microsoft.com/office/drawing/2014/main" id="{370D1D4C-1654-CAED-721D-1D98D06B17CD}"/>
                    </a:ext>
                  </a:extLst>
                </p:cNvPr>
                <p:cNvGrpSpPr/>
                <p:nvPr/>
              </p:nvGrpSpPr>
              <p:grpSpPr>
                <a:xfrm>
                  <a:off x="2425245" y="3974438"/>
                  <a:ext cx="973067" cy="861776"/>
                  <a:chOff x="2652409" y="2464340"/>
                  <a:chExt cx="973067" cy="861776"/>
                </a:xfrm>
              </p:grpSpPr>
              <p:sp>
                <p:nvSpPr>
                  <p:cNvPr id="51" name="Rechteck 50">
                    <a:extLst>
                      <a:ext uri="{FF2B5EF4-FFF2-40B4-BE49-F238E27FC236}">
                        <a16:creationId xmlns:a16="http://schemas.microsoft.com/office/drawing/2014/main" id="{F252325B-3BA4-5380-6FBA-15A0DD065ED0}"/>
                      </a:ext>
                    </a:extLst>
                  </p:cNvPr>
                  <p:cNvSpPr/>
                  <p:nvPr/>
                </p:nvSpPr>
                <p:spPr>
                  <a:xfrm>
                    <a:off x="2652409" y="2464340"/>
                    <a:ext cx="486382" cy="215444"/>
                  </a:xfrm>
                  <a:prstGeom prst="rect">
                    <a:avLst/>
                  </a:prstGeom>
                  <a:solidFill>
                    <a:schemeClr val="bg1"/>
                  </a:solidFill>
                  <a:ln w="1270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de-DE" sz="900" dirty="0">
                        <a:solidFill>
                          <a:schemeClr val="tx1"/>
                        </a:solidFill>
                      </a:rPr>
                      <a:t>0</a:t>
                    </a:r>
                  </a:p>
                </p:txBody>
              </p:sp>
              <p:sp>
                <p:nvSpPr>
                  <p:cNvPr id="52" name="Rechteck 51">
                    <a:extLst>
                      <a:ext uri="{FF2B5EF4-FFF2-40B4-BE49-F238E27FC236}">
                        <a16:creationId xmlns:a16="http://schemas.microsoft.com/office/drawing/2014/main" id="{0C52CD69-F104-BEE4-C469-A2A106918330}"/>
                      </a:ext>
                    </a:extLst>
                  </p:cNvPr>
                  <p:cNvSpPr/>
                  <p:nvPr/>
                </p:nvSpPr>
                <p:spPr>
                  <a:xfrm>
                    <a:off x="3139094" y="2464340"/>
                    <a:ext cx="486382" cy="215444"/>
                  </a:xfrm>
                  <a:prstGeom prst="rect">
                    <a:avLst/>
                  </a:prstGeom>
                  <a:solidFill>
                    <a:schemeClr val="bg1"/>
                  </a:solidFill>
                  <a:ln w="1270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de-DE" sz="900" dirty="0">
                        <a:solidFill>
                          <a:schemeClr val="tx1"/>
                        </a:solidFill>
                      </a:rPr>
                      <a:t>0x2A</a:t>
                    </a:r>
                  </a:p>
                </p:txBody>
              </p:sp>
              <p:sp>
                <p:nvSpPr>
                  <p:cNvPr id="53" name="Rechteck 52">
                    <a:extLst>
                      <a:ext uri="{FF2B5EF4-FFF2-40B4-BE49-F238E27FC236}">
                        <a16:creationId xmlns:a16="http://schemas.microsoft.com/office/drawing/2014/main" id="{69408EE3-77B1-53C9-392E-E2DFD5872932}"/>
                      </a:ext>
                    </a:extLst>
                  </p:cNvPr>
                  <p:cNvSpPr/>
                  <p:nvPr/>
                </p:nvSpPr>
                <p:spPr>
                  <a:xfrm>
                    <a:off x="2652409" y="2679784"/>
                    <a:ext cx="486382" cy="215444"/>
                  </a:xfrm>
                  <a:prstGeom prst="rect">
                    <a:avLst/>
                  </a:prstGeom>
                  <a:solidFill>
                    <a:schemeClr val="bg1"/>
                  </a:solidFill>
                  <a:ln w="1270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de-DE" sz="900" dirty="0">
                        <a:solidFill>
                          <a:schemeClr val="tx1"/>
                        </a:solidFill>
                      </a:rPr>
                      <a:t>1</a:t>
                    </a:r>
                  </a:p>
                </p:txBody>
              </p:sp>
              <p:sp>
                <p:nvSpPr>
                  <p:cNvPr id="54" name="Rechteck 53">
                    <a:extLst>
                      <a:ext uri="{FF2B5EF4-FFF2-40B4-BE49-F238E27FC236}">
                        <a16:creationId xmlns:a16="http://schemas.microsoft.com/office/drawing/2014/main" id="{7AB66A4B-BA6E-A7B8-70B8-C8E7DA535F2E}"/>
                      </a:ext>
                    </a:extLst>
                  </p:cNvPr>
                  <p:cNvSpPr/>
                  <p:nvPr/>
                </p:nvSpPr>
                <p:spPr>
                  <a:xfrm>
                    <a:off x="3139094" y="2679784"/>
                    <a:ext cx="486382" cy="215444"/>
                  </a:xfrm>
                  <a:prstGeom prst="rect">
                    <a:avLst/>
                  </a:prstGeom>
                  <a:solidFill>
                    <a:schemeClr val="bg1"/>
                  </a:solidFill>
                  <a:ln w="1270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de-DE" sz="900" dirty="0">
                        <a:solidFill>
                          <a:schemeClr val="tx1"/>
                        </a:solidFill>
                      </a:rPr>
                      <a:t>0x00</a:t>
                    </a:r>
                  </a:p>
                </p:txBody>
              </p:sp>
              <p:sp>
                <p:nvSpPr>
                  <p:cNvPr id="55" name="Rechteck 54">
                    <a:extLst>
                      <a:ext uri="{FF2B5EF4-FFF2-40B4-BE49-F238E27FC236}">
                        <a16:creationId xmlns:a16="http://schemas.microsoft.com/office/drawing/2014/main" id="{A48E3224-B307-6873-6BB5-BC793CBFE7C3}"/>
                      </a:ext>
                    </a:extLst>
                  </p:cNvPr>
                  <p:cNvSpPr/>
                  <p:nvPr/>
                </p:nvSpPr>
                <p:spPr>
                  <a:xfrm>
                    <a:off x="2652409" y="2895228"/>
                    <a:ext cx="486382" cy="215444"/>
                  </a:xfrm>
                  <a:prstGeom prst="rect">
                    <a:avLst/>
                  </a:prstGeom>
                  <a:solidFill>
                    <a:schemeClr val="bg1"/>
                  </a:solidFill>
                  <a:ln w="1270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de-DE" sz="900" dirty="0">
                        <a:solidFill>
                          <a:schemeClr val="tx1"/>
                        </a:solidFill>
                      </a:rPr>
                      <a:t>2</a:t>
                    </a:r>
                  </a:p>
                </p:txBody>
              </p:sp>
              <p:sp>
                <p:nvSpPr>
                  <p:cNvPr id="56" name="Rechteck 55">
                    <a:extLst>
                      <a:ext uri="{FF2B5EF4-FFF2-40B4-BE49-F238E27FC236}">
                        <a16:creationId xmlns:a16="http://schemas.microsoft.com/office/drawing/2014/main" id="{293927F2-B20B-2C5A-8D1D-60D541647BA9}"/>
                      </a:ext>
                    </a:extLst>
                  </p:cNvPr>
                  <p:cNvSpPr/>
                  <p:nvPr/>
                </p:nvSpPr>
                <p:spPr>
                  <a:xfrm>
                    <a:off x="3139094" y="2895228"/>
                    <a:ext cx="486382" cy="215444"/>
                  </a:xfrm>
                  <a:prstGeom prst="rect">
                    <a:avLst/>
                  </a:prstGeom>
                  <a:solidFill>
                    <a:schemeClr val="bg1"/>
                  </a:solidFill>
                  <a:ln w="1270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de-DE" sz="900" dirty="0">
                        <a:solidFill>
                          <a:schemeClr val="tx1"/>
                        </a:solidFill>
                      </a:rPr>
                      <a:t>0x00</a:t>
                    </a:r>
                  </a:p>
                </p:txBody>
              </p:sp>
              <p:sp>
                <p:nvSpPr>
                  <p:cNvPr id="58" name="Rechteck 57">
                    <a:extLst>
                      <a:ext uri="{FF2B5EF4-FFF2-40B4-BE49-F238E27FC236}">
                        <a16:creationId xmlns:a16="http://schemas.microsoft.com/office/drawing/2014/main" id="{65E44D5E-EB20-0114-F507-53C6AEB6F762}"/>
                      </a:ext>
                    </a:extLst>
                  </p:cNvPr>
                  <p:cNvSpPr/>
                  <p:nvPr/>
                </p:nvSpPr>
                <p:spPr>
                  <a:xfrm>
                    <a:off x="2652409" y="3110672"/>
                    <a:ext cx="486382" cy="215444"/>
                  </a:xfrm>
                  <a:prstGeom prst="rect">
                    <a:avLst/>
                  </a:prstGeom>
                  <a:solidFill>
                    <a:schemeClr val="bg1"/>
                  </a:solidFill>
                  <a:ln w="1270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de-DE" sz="900" dirty="0">
                        <a:solidFill>
                          <a:schemeClr val="tx1"/>
                        </a:solidFill>
                      </a:rPr>
                      <a:t>3</a:t>
                    </a:r>
                  </a:p>
                </p:txBody>
              </p:sp>
              <p:sp>
                <p:nvSpPr>
                  <p:cNvPr id="59" name="Rechteck 58">
                    <a:extLst>
                      <a:ext uri="{FF2B5EF4-FFF2-40B4-BE49-F238E27FC236}">
                        <a16:creationId xmlns:a16="http://schemas.microsoft.com/office/drawing/2014/main" id="{4A9F1D5B-6AF9-756B-AAB0-1E6F9995F0ED}"/>
                      </a:ext>
                    </a:extLst>
                  </p:cNvPr>
                  <p:cNvSpPr/>
                  <p:nvPr/>
                </p:nvSpPr>
                <p:spPr>
                  <a:xfrm>
                    <a:off x="3139094" y="3110672"/>
                    <a:ext cx="486382" cy="215444"/>
                  </a:xfrm>
                  <a:prstGeom prst="rect">
                    <a:avLst/>
                  </a:prstGeom>
                  <a:solidFill>
                    <a:schemeClr val="bg1"/>
                  </a:solidFill>
                  <a:ln w="1270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de-DE" sz="900" dirty="0">
                        <a:solidFill>
                          <a:schemeClr val="tx1"/>
                        </a:solidFill>
                      </a:rPr>
                      <a:t>0x00</a:t>
                    </a:r>
                  </a:p>
                </p:txBody>
              </p:sp>
            </p:grpSp>
            <p:sp>
              <p:nvSpPr>
                <p:cNvPr id="50" name="Rechteck 49">
                  <a:extLst>
                    <a:ext uri="{FF2B5EF4-FFF2-40B4-BE49-F238E27FC236}">
                      <a16:creationId xmlns:a16="http://schemas.microsoft.com/office/drawing/2014/main" id="{CD40A918-6171-292A-404C-0EA6D5479010}"/>
                    </a:ext>
                  </a:extLst>
                </p:cNvPr>
                <p:cNvSpPr/>
                <p:nvPr/>
              </p:nvSpPr>
              <p:spPr>
                <a:xfrm>
                  <a:off x="2425396" y="3764113"/>
                  <a:ext cx="973067" cy="215444"/>
                </a:xfrm>
                <a:prstGeom prst="rect">
                  <a:avLst/>
                </a:prstGeom>
                <a:solidFill>
                  <a:schemeClr val="bg1"/>
                </a:solidFill>
                <a:ln w="12700"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de-DE" sz="1200" dirty="0">
                      <a:solidFill>
                        <a:schemeClr val="tx1"/>
                      </a:solidFill>
                    </a:rPr>
                    <a:t>…</a:t>
                  </a:r>
                </a:p>
              </p:txBody>
            </p:sp>
          </p:grpSp>
          <p:cxnSp>
            <p:nvCxnSpPr>
              <p:cNvPr id="43" name="Verbinder: gekrümmt 42">
                <a:extLst>
                  <a:ext uri="{FF2B5EF4-FFF2-40B4-BE49-F238E27FC236}">
                    <a16:creationId xmlns:a16="http://schemas.microsoft.com/office/drawing/2014/main" id="{CCA1B47A-D851-1754-6FC2-9207DDDE37A0}"/>
                  </a:ext>
                </a:extLst>
              </p:cNvPr>
              <p:cNvCxnSpPr>
                <a:cxnSpLocks/>
                <a:stCxn id="45" idx="3"/>
                <a:endCxn id="51" idx="1"/>
              </p:cNvCxnSpPr>
              <p:nvPr/>
            </p:nvCxnSpPr>
            <p:spPr>
              <a:xfrm>
                <a:off x="2382535" y="3754413"/>
                <a:ext cx="639609" cy="167461"/>
              </a:xfrm>
              <a:prstGeom prst="curvedConnector3">
                <a:avLst>
                  <a:gd name="adj1" fmla="val 50000"/>
                </a:avLst>
              </a:prstGeom>
              <a:ln w="12700">
                <a:solidFill>
                  <a:schemeClr val="tx1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4" name="Verbinder: gekrümmt 43">
                <a:extLst>
                  <a:ext uri="{FF2B5EF4-FFF2-40B4-BE49-F238E27FC236}">
                    <a16:creationId xmlns:a16="http://schemas.microsoft.com/office/drawing/2014/main" id="{66E5CD16-0999-DDC5-C96D-68998B5105C7}"/>
                  </a:ext>
                </a:extLst>
              </p:cNvPr>
              <p:cNvCxnSpPr>
                <a:cxnSpLocks/>
                <a:stCxn id="40" idx="3"/>
                <a:endCxn id="88" idx="1"/>
              </p:cNvCxnSpPr>
              <p:nvPr/>
            </p:nvCxnSpPr>
            <p:spPr>
              <a:xfrm flipV="1">
                <a:off x="2382535" y="2849773"/>
                <a:ext cx="639761" cy="183014"/>
              </a:xfrm>
              <a:prstGeom prst="curvedConnector3">
                <a:avLst>
                  <a:gd name="adj1" fmla="val 50000"/>
                </a:avLst>
              </a:prstGeom>
              <a:ln w="12700">
                <a:solidFill>
                  <a:schemeClr val="tx1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5" name="Rechteck: abgerundete Ecken 44">
                <a:extLst>
                  <a:ext uri="{FF2B5EF4-FFF2-40B4-BE49-F238E27FC236}">
                    <a16:creationId xmlns:a16="http://schemas.microsoft.com/office/drawing/2014/main" id="{59ACE8F1-BDF5-21B3-520F-51831165A4EA}"/>
                  </a:ext>
                </a:extLst>
              </p:cNvPr>
              <p:cNvSpPr/>
              <p:nvPr/>
            </p:nvSpPr>
            <p:spPr>
              <a:xfrm>
                <a:off x="1642760" y="3646690"/>
                <a:ext cx="739775" cy="215445"/>
              </a:xfrm>
              <a:prstGeom prst="roundRect">
                <a:avLst/>
              </a:prstGeom>
              <a:solidFill>
                <a:schemeClr val="bg1"/>
              </a:solidFill>
              <a:ln w="1270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de-DE" sz="1000" dirty="0">
                    <a:solidFill>
                      <a:schemeClr val="tx1"/>
                    </a:solidFill>
                  </a:rPr>
                  <a:t>pointer_2</a:t>
                </a:r>
              </a:p>
            </p:txBody>
          </p:sp>
          <p:sp>
            <p:nvSpPr>
              <p:cNvPr id="46" name="Pfeil: nach unten 45">
                <a:extLst>
                  <a:ext uri="{FF2B5EF4-FFF2-40B4-BE49-F238E27FC236}">
                    <a16:creationId xmlns:a16="http://schemas.microsoft.com/office/drawing/2014/main" id="{BB6E306C-BF14-08F0-9613-5393E6147FBA}"/>
                  </a:ext>
                </a:extLst>
              </p:cNvPr>
              <p:cNvSpPr/>
              <p:nvPr/>
            </p:nvSpPr>
            <p:spPr>
              <a:xfrm>
                <a:off x="1947145" y="3172940"/>
                <a:ext cx="131003" cy="430888"/>
              </a:xfrm>
              <a:prstGeom prst="downArrow">
                <a:avLst/>
              </a:prstGeom>
              <a:solidFill>
                <a:schemeClr val="bg1"/>
              </a:solidFill>
              <a:ln w="9525">
                <a:solidFill>
                  <a:schemeClr val="accent1">
                    <a:shade val="1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</p:grpSp>
        <p:sp>
          <p:nvSpPr>
            <p:cNvPr id="7" name="Rechteck: abgerundete Ecken 6">
              <a:extLst>
                <a:ext uri="{FF2B5EF4-FFF2-40B4-BE49-F238E27FC236}">
                  <a16:creationId xmlns:a16="http://schemas.microsoft.com/office/drawing/2014/main" id="{2396C632-7867-638A-AFD8-691000F47754}"/>
                </a:ext>
              </a:extLst>
            </p:cNvPr>
            <p:cNvSpPr/>
            <p:nvPr/>
          </p:nvSpPr>
          <p:spPr>
            <a:xfrm>
              <a:off x="1190734" y="3509103"/>
              <a:ext cx="620562" cy="167241"/>
            </a:xfrm>
            <a:prstGeom prst="roundRect">
              <a:avLst/>
            </a:prstGeom>
            <a:solidFill>
              <a:srgbClr val="64378C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700" dirty="0"/>
                <a:t>Ownership</a:t>
              </a:r>
              <a:endParaRPr lang="de-DE" sz="500" dirty="0"/>
            </a:p>
          </p:txBody>
        </p:sp>
      </p:grpSp>
    </p:spTree>
    <p:extLst>
      <p:ext uri="{BB962C8B-B14F-4D97-AF65-F5344CB8AC3E}">
        <p14:creationId xmlns:p14="http://schemas.microsoft.com/office/powerpoint/2010/main" val="3059773091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54725F-0618-0E7C-EB09-A60DBB1B67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ußzeilenplatzhalter 1">
            <a:extLst>
              <a:ext uri="{FF2B5EF4-FFF2-40B4-BE49-F238E27FC236}">
                <a16:creationId xmlns:a16="http://schemas.microsoft.com/office/drawing/2014/main" id="{84EBDB0D-544C-B814-F109-5578AC4347CA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dirty="0">
                <a:solidFill>
                  <a:srgbClr val="64378C"/>
                </a:solidFill>
              </a:rPr>
              <a:t>Rust's Approach to Memory Safety</a:t>
            </a:r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CE725BC1-3A61-842C-A167-B8427F26D5A6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 algn="ctr"/>
            <a:fld id="{5F85D455-7770-4F98-B944-71C158B4E906}" type="slidenum">
              <a:rPr lang="en-US" smtClean="0"/>
              <a:pPr algn="ctr"/>
              <a:t>23</a:t>
            </a:fld>
            <a:endParaRPr lang="en-US" dirty="0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641B0325-7AC5-C0C0-B015-7E049404F113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de-DE" dirty="0"/>
              <a:t>Rust</a:t>
            </a:r>
            <a:r>
              <a:rPr lang="en-US" dirty="0"/>
              <a:t>’s Approach</a:t>
            </a:r>
            <a:endParaRPr lang="de-DE" dirty="0"/>
          </a:p>
        </p:txBody>
      </p:sp>
      <p:sp>
        <p:nvSpPr>
          <p:cNvPr id="6" name="Inhaltsplatzhalter 4">
            <a:extLst>
              <a:ext uri="{FF2B5EF4-FFF2-40B4-BE49-F238E27FC236}">
                <a16:creationId xmlns:a16="http://schemas.microsoft.com/office/drawing/2014/main" id="{E8AB9955-93C7-3ABB-2E65-35A1C5CB6B93}"/>
              </a:ext>
            </a:extLst>
          </p:cNvPr>
          <p:cNvSpPr txBox="1">
            <a:spLocks/>
          </p:cNvSpPr>
          <p:nvPr/>
        </p:nvSpPr>
        <p:spPr>
          <a:xfrm>
            <a:off x="1203513" y="941294"/>
            <a:ext cx="9856694" cy="67349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3600" dirty="0"/>
              <a:t>Move Semantics</a:t>
            </a:r>
            <a:r>
              <a:rPr lang="en-US" sz="1200" baseline="-25000" dirty="0"/>
              <a:t>[7]</a:t>
            </a:r>
            <a:endParaRPr lang="en-US" dirty="0"/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68145A80-FD61-9796-FB23-E3BA5D2F8370}"/>
              </a:ext>
            </a:extLst>
          </p:cNvPr>
          <p:cNvSpPr txBox="1"/>
          <p:nvPr/>
        </p:nvSpPr>
        <p:spPr>
          <a:xfrm>
            <a:off x="1092200" y="5899150"/>
            <a:ext cx="9642287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800" dirty="0"/>
              <a:t>[7] </a:t>
            </a:r>
            <a:r>
              <a:rPr lang="de-DE" sz="800" dirty="0">
                <a:hlinkClick r:id="rId3"/>
              </a:rPr>
              <a:t>https://doc.rust-lang.org/book/ch04-01-what-is-ownership.html</a:t>
            </a:r>
            <a:r>
              <a:rPr lang="de-DE" sz="800" dirty="0"/>
              <a:t> </a:t>
            </a:r>
            <a:endParaRPr lang="en-US" sz="800" dirty="0"/>
          </a:p>
        </p:txBody>
      </p:sp>
      <p:grpSp>
        <p:nvGrpSpPr>
          <p:cNvPr id="119" name="Gruppieren 118">
            <a:extLst>
              <a:ext uri="{FF2B5EF4-FFF2-40B4-BE49-F238E27FC236}">
                <a16:creationId xmlns:a16="http://schemas.microsoft.com/office/drawing/2014/main" id="{6F166E70-96DC-9005-DB3D-609B97CBC9A8}"/>
              </a:ext>
            </a:extLst>
          </p:cNvPr>
          <p:cNvGrpSpPr/>
          <p:nvPr/>
        </p:nvGrpSpPr>
        <p:grpSpPr>
          <a:xfrm>
            <a:off x="3727071" y="1881298"/>
            <a:ext cx="4737855" cy="2708306"/>
            <a:chOff x="8582479" y="2547019"/>
            <a:chExt cx="2261360" cy="1292664"/>
          </a:xfrm>
        </p:grpSpPr>
        <p:grpSp>
          <p:nvGrpSpPr>
            <p:cNvPr id="128" name="Gruppieren 127">
              <a:extLst>
                <a:ext uri="{FF2B5EF4-FFF2-40B4-BE49-F238E27FC236}">
                  <a16:creationId xmlns:a16="http://schemas.microsoft.com/office/drawing/2014/main" id="{B102BDE9-B2BA-64DE-BAB4-87F0CA0B8C60}"/>
                </a:ext>
              </a:extLst>
            </p:cNvPr>
            <p:cNvGrpSpPr/>
            <p:nvPr/>
          </p:nvGrpSpPr>
          <p:grpSpPr>
            <a:xfrm>
              <a:off x="9870771" y="2547019"/>
              <a:ext cx="973068" cy="1292664"/>
              <a:chOff x="1761821" y="1719128"/>
              <a:chExt cx="973068" cy="1292664"/>
            </a:xfrm>
          </p:grpSpPr>
          <p:grpSp>
            <p:nvGrpSpPr>
              <p:cNvPr id="155" name="Gruppieren 154">
                <a:extLst>
                  <a:ext uri="{FF2B5EF4-FFF2-40B4-BE49-F238E27FC236}">
                    <a16:creationId xmlns:a16="http://schemas.microsoft.com/office/drawing/2014/main" id="{F4FEC164-15F3-E57C-0ABE-46ECA04E96B0}"/>
                  </a:ext>
                </a:extLst>
              </p:cNvPr>
              <p:cNvGrpSpPr/>
              <p:nvPr/>
            </p:nvGrpSpPr>
            <p:grpSpPr>
              <a:xfrm>
                <a:off x="1761822" y="1934572"/>
                <a:ext cx="973067" cy="1077220"/>
                <a:chOff x="2652409" y="2248896"/>
                <a:chExt cx="973067" cy="1077220"/>
              </a:xfrm>
            </p:grpSpPr>
            <p:sp>
              <p:nvSpPr>
                <p:cNvPr id="157" name="Rechteck 156">
                  <a:extLst>
                    <a:ext uri="{FF2B5EF4-FFF2-40B4-BE49-F238E27FC236}">
                      <a16:creationId xmlns:a16="http://schemas.microsoft.com/office/drawing/2014/main" id="{2C35A403-BE12-0F35-A3E2-8977378A5C95}"/>
                    </a:ext>
                  </a:extLst>
                </p:cNvPr>
                <p:cNvSpPr/>
                <p:nvPr/>
              </p:nvSpPr>
              <p:spPr>
                <a:xfrm>
                  <a:off x="2652409" y="2248896"/>
                  <a:ext cx="486382" cy="215444"/>
                </a:xfrm>
                <a:prstGeom prst="rect">
                  <a:avLst/>
                </a:prstGeom>
                <a:solidFill>
                  <a:schemeClr val="bg1"/>
                </a:solidFill>
                <a:ln w="19050"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de-DE" sz="2000" dirty="0">
                      <a:solidFill>
                        <a:schemeClr val="tx1"/>
                      </a:solidFill>
                    </a:rPr>
                    <a:t>Byte</a:t>
                  </a:r>
                </a:p>
              </p:txBody>
            </p:sp>
            <p:sp>
              <p:nvSpPr>
                <p:cNvPr id="158" name="Rechteck 157">
                  <a:extLst>
                    <a:ext uri="{FF2B5EF4-FFF2-40B4-BE49-F238E27FC236}">
                      <a16:creationId xmlns:a16="http://schemas.microsoft.com/office/drawing/2014/main" id="{B0E9176F-B061-0536-4102-AA141E7EF6CF}"/>
                    </a:ext>
                  </a:extLst>
                </p:cNvPr>
                <p:cNvSpPr/>
                <p:nvPr/>
              </p:nvSpPr>
              <p:spPr>
                <a:xfrm>
                  <a:off x="3139094" y="2248896"/>
                  <a:ext cx="486382" cy="215444"/>
                </a:xfrm>
                <a:prstGeom prst="rect">
                  <a:avLst/>
                </a:prstGeom>
                <a:solidFill>
                  <a:schemeClr val="bg1"/>
                </a:solidFill>
                <a:ln w="19050"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de-DE" sz="2000" dirty="0">
                      <a:solidFill>
                        <a:schemeClr val="tx1"/>
                      </a:solidFill>
                    </a:rPr>
                    <a:t>Value</a:t>
                  </a:r>
                  <a:endParaRPr lang="de-DE" sz="900" dirty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159" name="Rechteck 158">
                  <a:extLst>
                    <a:ext uri="{FF2B5EF4-FFF2-40B4-BE49-F238E27FC236}">
                      <a16:creationId xmlns:a16="http://schemas.microsoft.com/office/drawing/2014/main" id="{F43C3C36-3625-5105-B617-9C726506A281}"/>
                    </a:ext>
                  </a:extLst>
                </p:cNvPr>
                <p:cNvSpPr/>
                <p:nvPr/>
              </p:nvSpPr>
              <p:spPr>
                <a:xfrm>
                  <a:off x="2652409" y="2464340"/>
                  <a:ext cx="486382" cy="215444"/>
                </a:xfrm>
                <a:prstGeom prst="rect">
                  <a:avLst/>
                </a:prstGeom>
                <a:solidFill>
                  <a:schemeClr val="bg1"/>
                </a:solidFill>
                <a:ln w="19050"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de-DE" sz="2000" dirty="0">
                      <a:solidFill>
                        <a:schemeClr val="tx1"/>
                      </a:solidFill>
                    </a:rPr>
                    <a:t>0</a:t>
                  </a:r>
                </a:p>
              </p:txBody>
            </p:sp>
            <p:sp>
              <p:nvSpPr>
                <p:cNvPr id="160" name="Rechteck 159">
                  <a:extLst>
                    <a:ext uri="{FF2B5EF4-FFF2-40B4-BE49-F238E27FC236}">
                      <a16:creationId xmlns:a16="http://schemas.microsoft.com/office/drawing/2014/main" id="{EED0A9B2-5967-C924-03E8-EB2ACB52F43F}"/>
                    </a:ext>
                  </a:extLst>
                </p:cNvPr>
                <p:cNvSpPr/>
                <p:nvPr/>
              </p:nvSpPr>
              <p:spPr>
                <a:xfrm>
                  <a:off x="3139094" y="2464340"/>
                  <a:ext cx="486382" cy="215444"/>
                </a:xfrm>
                <a:prstGeom prst="rect">
                  <a:avLst/>
                </a:prstGeom>
                <a:solidFill>
                  <a:schemeClr val="bg1"/>
                </a:solidFill>
                <a:ln w="19050"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de-DE" sz="2000" dirty="0">
                      <a:solidFill>
                        <a:schemeClr val="tx1"/>
                      </a:solidFill>
                    </a:rPr>
                    <a:t>0x2A</a:t>
                  </a:r>
                  <a:endParaRPr lang="de-DE" sz="900" dirty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161" name="Rechteck 160">
                  <a:extLst>
                    <a:ext uri="{FF2B5EF4-FFF2-40B4-BE49-F238E27FC236}">
                      <a16:creationId xmlns:a16="http://schemas.microsoft.com/office/drawing/2014/main" id="{FC7FA648-BD9C-3976-8B67-DB7AE06FBA52}"/>
                    </a:ext>
                  </a:extLst>
                </p:cNvPr>
                <p:cNvSpPr/>
                <p:nvPr/>
              </p:nvSpPr>
              <p:spPr>
                <a:xfrm>
                  <a:off x="2652409" y="2679784"/>
                  <a:ext cx="486382" cy="215444"/>
                </a:xfrm>
                <a:prstGeom prst="rect">
                  <a:avLst/>
                </a:prstGeom>
                <a:solidFill>
                  <a:schemeClr val="bg1"/>
                </a:solidFill>
                <a:ln w="19050"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de-DE" sz="2000" dirty="0">
                      <a:solidFill>
                        <a:schemeClr val="tx1"/>
                      </a:solidFill>
                    </a:rPr>
                    <a:t>1</a:t>
                  </a:r>
                  <a:endParaRPr lang="de-DE" sz="2400" dirty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162" name="Rechteck 161">
                  <a:extLst>
                    <a:ext uri="{FF2B5EF4-FFF2-40B4-BE49-F238E27FC236}">
                      <a16:creationId xmlns:a16="http://schemas.microsoft.com/office/drawing/2014/main" id="{D95EC97D-3762-CC5A-09F8-649A2758EB75}"/>
                    </a:ext>
                  </a:extLst>
                </p:cNvPr>
                <p:cNvSpPr/>
                <p:nvPr/>
              </p:nvSpPr>
              <p:spPr>
                <a:xfrm>
                  <a:off x="3139094" y="2679784"/>
                  <a:ext cx="486382" cy="215444"/>
                </a:xfrm>
                <a:prstGeom prst="rect">
                  <a:avLst/>
                </a:prstGeom>
                <a:solidFill>
                  <a:schemeClr val="bg1"/>
                </a:solidFill>
                <a:ln w="19050"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de-DE" sz="2000" dirty="0">
                      <a:solidFill>
                        <a:schemeClr val="tx1"/>
                      </a:solidFill>
                    </a:rPr>
                    <a:t>0x00</a:t>
                  </a:r>
                  <a:endParaRPr lang="de-DE" sz="900" dirty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163" name="Rechteck 162">
                  <a:extLst>
                    <a:ext uri="{FF2B5EF4-FFF2-40B4-BE49-F238E27FC236}">
                      <a16:creationId xmlns:a16="http://schemas.microsoft.com/office/drawing/2014/main" id="{1A13B4CA-A51D-2352-D737-14A188430AE3}"/>
                    </a:ext>
                  </a:extLst>
                </p:cNvPr>
                <p:cNvSpPr/>
                <p:nvPr/>
              </p:nvSpPr>
              <p:spPr>
                <a:xfrm>
                  <a:off x="2652409" y="2895228"/>
                  <a:ext cx="486382" cy="215444"/>
                </a:xfrm>
                <a:prstGeom prst="rect">
                  <a:avLst/>
                </a:prstGeom>
                <a:solidFill>
                  <a:schemeClr val="bg1"/>
                </a:solidFill>
                <a:ln w="19050"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de-DE" sz="2000" dirty="0">
                      <a:solidFill>
                        <a:schemeClr val="tx1"/>
                      </a:solidFill>
                    </a:rPr>
                    <a:t>2</a:t>
                  </a:r>
                </a:p>
              </p:txBody>
            </p:sp>
            <p:sp>
              <p:nvSpPr>
                <p:cNvPr id="164" name="Rechteck 163">
                  <a:extLst>
                    <a:ext uri="{FF2B5EF4-FFF2-40B4-BE49-F238E27FC236}">
                      <a16:creationId xmlns:a16="http://schemas.microsoft.com/office/drawing/2014/main" id="{DCF3896D-38A8-1A88-A17D-82D290F3EDD4}"/>
                    </a:ext>
                  </a:extLst>
                </p:cNvPr>
                <p:cNvSpPr/>
                <p:nvPr/>
              </p:nvSpPr>
              <p:spPr>
                <a:xfrm>
                  <a:off x="3139094" y="2895228"/>
                  <a:ext cx="486382" cy="215444"/>
                </a:xfrm>
                <a:prstGeom prst="rect">
                  <a:avLst/>
                </a:prstGeom>
                <a:solidFill>
                  <a:schemeClr val="bg1"/>
                </a:solidFill>
                <a:ln w="19050"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de-DE" sz="2000" dirty="0">
                      <a:solidFill>
                        <a:schemeClr val="tx1"/>
                      </a:solidFill>
                    </a:rPr>
                    <a:t>0x00</a:t>
                  </a:r>
                  <a:endParaRPr lang="de-DE" sz="900" dirty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165" name="Rechteck 164">
                  <a:extLst>
                    <a:ext uri="{FF2B5EF4-FFF2-40B4-BE49-F238E27FC236}">
                      <a16:creationId xmlns:a16="http://schemas.microsoft.com/office/drawing/2014/main" id="{F72D5F68-203B-8B56-8480-14BDBB92CFFD}"/>
                    </a:ext>
                  </a:extLst>
                </p:cNvPr>
                <p:cNvSpPr/>
                <p:nvPr/>
              </p:nvSpPr>
              <p:spPr>
                <a:xfrm>
                  <a:off x="2652409" y="3110672"/>
                  <a:ext cx="486382" cy="215444"/>
                </a:xfrm>
                <a:prstGeom prst="rect">
                  <a:avLst/>
                </a:prstGeom>
                <a:solidFill>
                  <a:schemeClr val="bg1"/>
                </a:solidFill>
                <a:ln w="19050"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de-DE" sz="2000" dirty="0">
                      <a:solidFill>
                        <a:schemeClr val="tx1"/>
                      </a:solidFill>
                    </a:rPr>
                    <a:t>3</a:t>
                  </a:r>
                </a:p>
              </p:txBody>
            </p:sp>
            <p:sp>
              <p:nvSpPr>
                <p:cNvPr id="166" name="Rechteck 165">
                  <a:extLst>
                    <a:ext uri="{FF2B5EF4-FFF2-40B4-BE49-F238E27FC236}">
                      <a16:creationId xmlns:a16="http://schemas.microsoft.com/office/drawing/2014/main" id="{55F4C38C-00B6-8E4B-A458-C782B8520643}"/>
                    </a:ext>
                  </a:extLst>
                </p:cNvPr>
                <p:cNvSpPr/>
                <p:nvPr/>
              </p:nvSpPr>
              <p:spPr>
                <a:xfrm>
                  <a:off x="3139094" y="3110672"/>
                  <a:ext cx="486382" cy="215444"/>
                </a:xfrm>
                <a:prstGeom prst="rect">
                  <a:avLst/>
                </a:prstGeom>
                <a:solidFill>
                  <a:schemeClr val="bg1"/>
                </a:solidFill>
                <a:ln w="19050"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de-DE" sz="2000" dirty="0">
                      <a:solidFill>
                        <a:schemeClr val="tx1"/>
                      </a:solidFill>
                    </a:rPr>
                    <a:t>0x00</a:t>
                  </a:r>
                  <a:endParaRPr lang="de-DE" sz="900" dirty="0">
                    <a:solidFill>
                      <a:schemeClr val="tx1"/>
                    </a:solidFill>
                  </a:endParaRPr>
                </a:p>
              </p:txBody>
            </p:sp>
          </p:grpSp>
          <p:sp>
            <p:nvSpPr>
              <p:cNvPr id="156" name="Rechteck 155">
                <a:extLst>
                  <a:ext uri="{FF2B5EF4-FFF2-40B4-BE49-F238E27FC236}">
                    <a16:creationId xmlns:a16="http://schemas.microsoft.com/office/drawing/2014/main" id="{62580CC8-1B70-C401-7B7C-22D91B766965}"/>
                  </a:ext>
                </a:extLst>
              </p:cNvPr>
              <p:cNvSpPr/>
              <p:nvPr/>
            </p:nvSpPr>
            <p:spPr>
              <a:xfrm>
                <a:off x="1761821" y="1719128"/>
                <a:ext cx="973067" cy="215444"/>
              </a:xfrm>
              <a:prstGeom prst="rect">
                <a:avLst/>
              </a:prstGeom>
              <a:solidFill>
                <a:schemeClr val="bg1"/>
              </a:solidFill>
              <a:ln w="190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de-DE" sz="2000" dirty="0">
                    <a:solidFill>
                      <a:schemeClr val="tx1"/>
                    </a:solidFill>
                  </a:rPr>
                  <a:t>Heap</a:t>
                </a:r>
              </a:p>
            </p:txBody>
          </p:sp>
        </p:grpSp>
        <p:sp>
          <p:nvSpPr>
            <p:cNvPr id="129" name="Rechteck: abgerundete Ecken 128">
              <a:extLst>
                <a:ext uri="{FF2B5EF4-FFF2-40B4-BE49-F238E27FC236}">
                  <a16:creationId xmlns:a16="http://schemas.microsoft.com/office/drawing/2014/main" id="{6A22734D-3ABE-BCB5-5755-83C18E11D866}"/>
                </a:ext>
              </a:extLst>
            </p:cNvPr>
            <p:cNvSpPr/>
            <p:nvPr/>
          </p:nvSpPr>
          <p:spPr>
            <a:xfrm>
              <a:off x="8582479" y="2632546"/>
              <a:ext cx="739775" cy="215445"/>
            </a:xfrm>
            <a:prstGeom prst="roundRect">
              <a:avLst/>
            </a:prstGeom>
            <a:pattFill prst="ltUpDiag">
              <a:fgClr>
                <a:schemeClr val="accent1"/>
              </a:fgClr>
              <a:bgClr>
                <a:schemeClr val="bg1"/>
              </a:bgClr>
            </a:pattFill>
            <a:ln w="190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2000" dirty="0">
                  <a:solidFill>
                    <a:schemeClr val="tx1"/>
                  </a:solidFill>
                </a:rPr>
                <a:t>pointer_1</a:t>
              </a:r>
            </a:p>
          </p:txBody>
        </p:sp>
        <p:sp>
          <p:nvSpPr>
            <p:cNvPr id="131" name="Rechteck: abgerundete Ecken 130">
              <a:extLst>
                <a:ext uri="{FF2B5EF4-FFF2-40B4-BE49-F238E27FC236}">
                  <a16:creationId xmlns:a16="http://schemas.microsoft.com/office/drawing/2014/main" id="{CFBAF757-6EBB-9AA3-56D1-95D7557E12AB}"/>
                </a:ext>
              </a:extLst>
            </p:cNvPr>
            <p:cNvSpPr/>
            <p:nvPr/>
          </p:nvSpPr>
          <p:spPr>
            <a:xfrm>
              <a:off x="8582479" y="3354172"/>
              <a:ext cx="739775" cy="215445"/>
            </a:xfrm>
            <a:prstGeom prst="roundRect">
              <a:avLst/>
            </a:prstGeom>
            <a:solidFill>
              <a:schemeClr val="bg1"/>
            </a:solidFill>
            <a:ln w="190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2000" dirty="0">
                  <a:solidFill>
                    <a:schemeClr val="tx1"/>
                  </a:solidFill>
                </a:rPr>
                <a:t>pointer_2</a:t>
              </a:r>
            </a:p>
          </p:txBody>
        </p:sp>
        <p:sp>
          <p:nvSpPr>
            <p:cNvPr id="132" name="Pfeil: nach unten 131">
              <a:extLst>
                <a:ext uri="{FF2B5EF4-FFF2-40B4-BE49-F238E27FC236}">
                  <a16:creationId xmlns:a16="http://schemas.microsoft.com/office/drawing/2014/main" id="{BD5880E3-3B14-2984-069C-20F8A0531BBC}"/>
                </a:ext>
              </a:extLst>
            </p:cNvPr>
            <p:cNvSpPr/>
            <p:nvPr/>
          </p:nvSpPr>
          <p:spPr>
            <a:xfrm>
              <a:off x="8886864" y="2880422"/>
              <a:ext cx="131003" cy="430888"/>
            </a:xfrm>
            <a:prstGeom prst="downArrow">
              <a:avLst/>
            </a:prstGeom>
            <a:solidFill>
              <a:schemeClr val="bg1"/>
            </a:solidFill>
            <a:ln w="15875">
              <a:solidFill>
                <a:schemeClr val="accent1">
                  <a:shade val="1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33" name="Rechteck: abgerundete Ecken 132">
              <a:extLst>
                <a:ext uri="{FF2B5EF4-FFF2-40B4-BE49-F238E27FC236}">
                  <a16:creationId xmlns:a16="http://schemas.microsoft.com/office/drawing/2014/main" id="{09B07BE4-4E64-BB06-E500-3F21E4E08F0B}"/>
                </a:ext>
              </a:extLst>
            </p:cNvPr>
            <p:cNvSpPr/>
            <p:nvPr/>
          </p:nvSpPr>
          <p:spPr>
            <a:xfrm>
              <a:off x="8701692" y="3105583"/>
              <a:ext cx="501346" cy="98004"/>
            </a:xfrm>
            <a:prstGeom prst="roundRect">
              <a:avLst/>
            </a:prstGeom>
            <a:solidFill>
              <a:srgbClr val="64378C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1000" dirty="0"/>
                <a:t>Ownership</a:t>
              </a:r>
            </a:p>
          </p:txBody>
        </p:sp>
        <p:cxnSp>
          <p:nvCxnSpPr>
            <p:cNvPr id="152" name="Verbinder: gekrümmt 151">
              <a:extLst>
                <a:ext uri="{FF2B5EF4-FFF2-40B4-BE49-F238E27FC236}">
                  <a16:creationId xmlns:a16="http://schemas.microsoft.com/office/drawing/2014/main" id="{61093678-91D3-8002-5D39-8A821DF60D2B}"/>
                </a:ext>
              </a:extLst>
            </p:cNvPr>
            <p:cNvCxnSpPr>
              <a:cxnSpLocks/>
              <a:stCxn id="131" idx="3"/>
              <a:endCxn id="159" idx="1"/>
            </p:cNvCxnSpPr>
            <p:nvPr/>
          </p:nvCxnSpPr>
          <p:spPr>
            <a:xfrm flipV="1">
              <a:off x="9322254" y="3085629"/>
              <a:ext cx="548518" cy="376266"/>
            </a:xfrm>
            <a:prstGeom prst="curvedConnector3">
              <a:avLst>
                <a:gd name="adj1" fmla="val 50000"/>
              </a:avLst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7" name="Rechteck 6">
            <a:extLst>
              <a:ext uri="{FF2B5EF4-FFF2-40B4-BE49-F238E27FC236}">
                <a16:creationId xmlns:a16="http://schemas.microsoft.com/office/drawing/2014/main" id="{C255361A-822C-245C-BC45-B8539589E9F0}"/>
              </a:ext>
            </a:extLst>
          </p:cNvPr>
          <p:cNvSpPr/>
          <p:nvPr/>
        </p:nvSpPr>
        <p:spPr>
          <a:xfrm>
            <a:off x="-1" y="5284403"/>
            <a:ext cx="10643347" cy="538476"/>
          </a:xfrm>
          <a:prstGeom prst="rect">
            <a:avLst/>
          </a:prstGeom>
          <a:solidFill>
            <a:srgbClr val="64378C">
              <a:alpha val="5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/>
              <a:t>Ownership ensures developers can’t accidentally free memory twice.</a:t>
            </a:r>
          </a:p>
        </p:txBody>
      </p:sp>
      <p:sp>
        <p:nvSpPr>
          <p:cNvPr id="16" name="Pfeil: nach rechts 15">
            <a:extLst>
              <a:ext uri="{FF2B5EF4-FFF2-40B4-BE49-F238E27FC236}">
                <a16:creationId xmlns:a16="http://schemas.microsoft.com/office/drawing/2014/main" id="{21D89781-5677-1200-2243-83DC0E56E5A7}"/>
              </a:ext>
            </a:extLst>
          </p:cNvPr>
          <p:cNvSpPr/>
          <p:nvPr/>
        </p:nvSpPr>
        <p:spPr>
          <a:xfrm>
            <a:off x="79567" y="5419903"/>
            <a:ext cx="438145" cy="267476"/>
          </a:xfrm>
          <a:prstGeom prst="rightArrow">
            <a:avLst/>
          </a:prstGeom>
          <a:solidFill>
            <a:srgbClr val="64378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54008546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ußzeilenplatzhalter 1">
            <a:extLst>
              <a:ext uri="{FF2B5EF4-FFF2-40B4-BE49-F238E27FC236}">
                <a16:creationId xmlns:a16="http://schemas.microsoft.com/office/drawing/2014/main" id="{9402C8ED-B0A4-A192-D814-D0F6FB7CCF74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>
                <a:solidFill>
                  <a:srgbClr val="64378C"/>
                </a:solidFill>
              </a:rPr>
              <a:t>Rust's Approach to Memory Safety</a:t>
            </a:r>
            <a:endParaRPr lang="en-US" dirty="0">
              <a:solidFill>
                <a:srgbClr val="64378C"/>
              </a:solidFill>
            </a:endParaRPr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C7E24866-CD83-84EE-3716-70AC29C22B78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 algn="ctr"/>
            <a:fld id="{5F85D455-7770-4F98-B944-71C158B4E906}" type="slidenum">
              <a:rPr lang="en-US" smtClean="0"/>
              <a:pPr algn="ctr"/>
              <a:t>24</a:t>
            </a:fld>
            <a:endParaRPr lang="en-US" dirty="0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7B925818-E14F-59B4-746C-D982672FC35C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de-DE" dirty="0"/>
              <a:t>Rust</a:t>
            </a:r>
            <a:r>
              <a:rPr lang="en-US" dirty="0"/>
              <a:t>’s Approach</a:t>
            </a:r>
            <a:endParaRPr lang="de-DE" dirty="0"/>
          </a:p>
        </p:txBody>
      </p:sp>
      <p:sp>
        <p:nvSpPr>
          <p:cNvPr id="5" name="Inhaltsplatzhalter 4">
            <a:extLst>
              <a:ext uri="{FF2B5EF4-FFF2-40B4-BE49-F238E27FC236}">
                <a16:creationId xmlns:a16="http://schemas.microsoft.com/office/drawing/2014/main" id="{68D540D2-06BF-BB2C-AE34-4DF3300895D0}"/>
              </a:ext>
            </a:extLst>
          </p:cNvPr>
          <p:cNvSpPr txBox="1">
            <a:spLocks/>
          </p:cNvSpPr>
          <p:nvPr/>
        </p:nvSpPr>
        <p:spPr>
          <a:xfrm>
            <a:off x="1203513" y="941294"/>
            <a:ext cx="9856694" cy="67349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3600" dirty="0"/>
              <a:t>Borrowing</a:t>
            </a:r>
            <a:r>
              <a:rPr lang="en-US" sz="1200" baseline="-25000" dirty="0"/>
              <a:t>[8]</a:t>
            </a:r>
            <a:endParaRPr lang="en-US" dirty="0"/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71E4BFF6-05B4-6573-5043-9E5E42639485}"/>
              </a:ext>
            </a:extLst>
          </p:cNvPr>
          <p:cNvSpPr/>
          <p:nvPr/>
        </p:nvSpPr>
        <p:spPr>
          <a:xfrm>
            <a:off x="0" y="5284403"/>
            <a:ext cx="8296836" cy="538476"/>
          </a:xfrm>
          <a:prstGeom prst="rect">
            <a:avLst/>
          </a:prstGeom>
          <a:solidFill>
            <a:srgbClr val="64378C">
              <a:alpha val="5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/>
              <a:t>Safe access to data without transferring ownership.</a:t>
            </a:r>
          </a:p>
        </p:txBody>
      </p:sp>
      <p:sp>
        <p:nvSpPr>
          <p:cNvPr id="7" name="Pfeil: nach rechts 6">
            <a:extLst>
              <a:ext uri="{FF2B5EF4-FFF2-40B4-BE49-F238E27FC236}">
                <a16:creationId xmlns:a16="http://schemas.microsoft.com/office/drawing/2014/main" id="{B55D28D7-4F71-BEDD-00F5-A2081BED52B1}"/>
              </a:ext>
            </a:extLst>
          </p:cNvPr>
          <p:cNvSpPr/>
          <p:nvPr/>
        </p:nvSpPr>
        <p:spPr>
          <a:xfrm>
            <a:off x="79567" y="5419903"/>
            <a:ext cx="438145" cy="267476"/>
          </a:xfrm>
          <a:prstGeom prst="rightArrow">
            <a:avLst/>
          </a:prstGeom>
          <a:solidFill>
            <a:srgbClr val="64378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32" name="Grafik 31">
            <a:extLst>
              <a:ext uri="{FF2B5EF4-FFF2-40B4-BE49-F238E27FC236}">
                <a16:creationId xmlns:a16="http://schemas.microsoft.com/office/drawing/2014/main" id="{D55E3C7B-092C-E28B-F524-31D6A2C9EF5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730887" y="1407479"/>
            <a:ext cx="5622355" cy="3633495"/>
          </a:xfrm>
          <a:prstGeom prst="rect">
            <a:avLst/>
          </a:prstGeom>
        </p:spPr>
      </p:pic>
      <p:grpSp>
        <p:nvGrpSpPr>
          <p:cNvPr id="64" name="Gruppieren 63">
            <a:extLst>
              <a:ext uri="{FF2B5EF4-FFF2-40B4-BE49-F238E27FC236}">
                <a16:creationId xmlns:a16="http://schemas.microsoft.com/office/drawing/2014/main" id="{6D45792F-7212-3F51-EA85-74B701DE56E2}"/>
              </a:ext>
            </a:extLst>
          </p:cNvPr>
          <p:cNvGrpSpPr/>
          <p:nvPr/>
        </p:nvGrpSpPr>
        <p:grpSpPr>
          <a:xfrm>
            <a:off x="10380731" y="2986196"/>
            <a:ext cx="973068" cy="1292664"/>
            <a:chOff x="10526410" y="2267877"/>
            <a:chExt cx="973068" cy="1292664"/>
          </a:xfrm>
        </p:grpSpPr>
        <p:sp>
          <p:nvSpPr>
            <p:cNvPr id="19" name="Rechteck 18">
              <a:extLst>
                <a:ext uri="{FF2B5EF4-FFF2-40B4-BE49-F238E27FC236}">
                  <a16:creationId xmlns:a16="http://schemas.microsoft.com/office/drawing/2014/main" id="{FCEE678C-1D6A-7B05-72C5-8ED40314BAC2}"/>
                </a:ext>
              </a:extLst>
            </p:cNvPr>
            <p:cNvSpPr/>
            <p:nvPr/>
          </p:nvSpPr>
          <p:spPr>
            <a:xfrm>
              <a:off x="10526411" y="2483321"/>
              <a:ext cx="486382" cy="215444"/>
            </a:xfrm>
            <a:prstGeom prst="rect">
              <a:avLst/>
            </a:prstGeom>
            <a:solidFill>
              <a:schemeClr val="bg1"/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900" dirty="0">
                  <a:solidFill>
                    <a:schemeClr val="tx1"/>
                  </a:solidFill>
                </a:rPr>
                <a:t>Byte</a:t>
              </a:r>
            </a:p>
          </p:txBody>
        </p:sp>
        <p:sp>
          <p:nvSpPr>
            <p:cNvPr id="20" name="Rechteck 19">
              <a:extLst>
                <a:ext uri="{FF2B5EF4-FFF2-40B4-BE49-F238E27FC236}">
                  <a16:creationId xmlns:a16="http://schemas.microsoft.com/office/drawing/2014/main" id="{40B600C1-F510-879D-C36C-F6A9687DFDD6}"/>
                </a:ext>
              </a:extLst>
            </p:cNvPr>
            <p:cNvSpPr/>
            <p:nvPr/>
          </p:nvSpPr>
          <p:spPr>
            <a:xfrm>
              <a:off x="11013096" y="2483321"/>
              <a:ext cx="486382" cy="215444"/>
            </a:xfrm>
            <a:prstGeom prst="rect">
              <a:avLst/>
            </a:prstGeom>
            <a:solidFill>
              <a:schemeClr val="bg1"/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900" dirty="0">
                  <a:solidFill>
                    <a:schemeClr val="tx1"/>
                  </a:solidFill>
                </a:rPr>
                <a:t>Value</a:t>
              </a:r>
            </a:p>
          </p:txBody>
        </p:sp>
        <p:sp>
          <p:nvSpPr>
            <p:cNvPr id="21" name="Rechteck 20">
              <a:extLst>
                <a:ext uri="{FF2B5EF4-FFF2-40B4-BE49-F238E27FC236}">
                  <a16:creationId xmlns:a16="http://schemas.microsoft.com/office/drawing/2014/main" id="{3502811F-D299-BCCA-4A23-C11DDA783250}"/>
                </a:ext>
              </a:extLst>
            </p:cNvPr>
            <p:cNvSpPr/>
            <p:nvPr/>
          </p:nvSpPr>
          <p:spPr>
            <a:xfrm>
              <a:off x="10526411" y="2698765"/>
              <a:ext cx="486382" cy="215444"/>
            </a:xfrm>
            <a:prstGeom prst="rect">
              <a:avLst/>
            </a:prstGeom>
            <a:solidFill>
              <a:schemeClr val="bg1"/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900" dirty="0">
                  <a:solidFill>
                    <a:schemeClr val="tx1"/>
                  </a:solidFill>
                </a:rPr>
                <a:t>0</a:t>
              </a:r>
            </a:p>
          </p:txBody>
        </p:sp>
        <p:sp>
          <p:nvSpPr>
            <p:cNvPr id="22" name="Rechteck 21">
              <a:extLst>
                <a:ext uri="{FF2B5EF4-FFF2-40B4-BE49-F238E27FC236}">
                  <a16:creationId xmlns:a16="http://schemas.microsoft.com/office/drawing/2014/main" id="{3420ABFA-9C76-CD0E-6076-4AE6328ACC9E}"/>
                </a:ext>
              </a:extLst>
            </p:cNvPr>
            <p:cNvSpPr/>
            <p:nvPr/>
          </p:nvSpPr>
          <p:spPr>
            <a:xfrm>
              <a:off x="11013096" y="2698765"/>
              <a:ext cx="486382" cy="215444"/>
            </a:xfrm>
            <a:prstGeom prst="rect">
              <a:avLst/>
            </a:prstGeom>
            <a:solidFill>
              <a:schemeClr val="bg1"/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900" dirty="0">
                  <a:solidFill>
                    <a:schemeClr val="tx1"/>
                  </a:solidFill>
                </a:rPr>
                <a:t>0x2A</a:t>
              </a:r>
            </a:p>
          </p:txBody>
        </p:sp>
        <p:sp>
          <p:nvSpPr>
            <p:cNvPr id="23" name="Rechteck 22">
              <a:extLst>
                <a:ext uri="{FF2B5EF4-FFF2-40B4-BE49-F238E27FC236}">
                  <a16:creationId xmlns:a16="http://schemas.microsoft.com/office/drawing/2014/main" id="{EAFDC747-7E40-050D-7EA7-621E3D5E2C4E}"/>
                </a:ext>
              </a:extLst>
            </p:cNvPr>
            <p:cNvSpPr/>
            <p:nvPr/>
          </p:nvSpPr>
          <p:spPr>
            <a:xfrm>
              <a:off x="10526411" y="2914209"/>
              <a:ext cx="486382" cy="215444"/>
            </a:xfrm>
            <a:prstGeom prst="rect">
              <a:avLst/>
            </a:prstGeom>
            <a:solidFill>
              <a:schemeClr val="bg1"/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900" dirty="0">
                  <a:solidFill>
                    <a:schemeClr val="tx1"/>
                  </a:solidFill>
                </a:rPr>
                <a:t>1</a:t>
              </a:r>
            </a:p>
          </p:txBody>
        </p:sp>
        <p:sp>
          <p:nvSpPr>
            <p:cNvPr id="24" name="Rechteck 23">
              <a:extLst>
                <a:ext uri="{FF2B5EF4-FFF2-40B4-BE49-F238E27FC236}">
                  <a16:creationId xmlns:a16="http://schemas.microsoft.com/office/drawing/2014/main" id="{805FDB53-3B3B-430E-9C7B-C341C92A5C86}"/>
                </a:ext>
              </a:extLst>
            </p:cNvPr>
            <p:cNvSpPr/>
            <p:nvPr/>
          </p:nvSpPr>
          <p:spPr>
            <a:xfrm>
              <a:off x="11013096" y="2914209"/>
              <a:ext cx="486382" cy="215444"/>
            </a:xfrm>
            <a:prstGeom prst="rect">
              <a:avLst/>
            </a:prstGeom>
            <a:solidFill>
              <a:schemeClr val="bg1"/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900" dirty="0">
                  <a:solidFill>
                    <a:schemeClr val="tx1"/>
                  </a:solidFill>
                </a:rPr>
                <a:t>0x00</a:t>
              </a:r>
            </a:p>
          </p:txBody>
        </p:sp>
        <p:sp>
          <p:nvSpPr>
            <p:cNvPr id="25" name="Rechteck 24">
              <a:extLst>
                <a:ext uri="{FF2B5EF4-FFF2-40B4-BE49-F238E27FC236}">
                  <a16:creationId xmlns:a16="http://schemas.microsoft.com/office/drawing/2014/main" id="{3E651E72-E56C-3F57-545F-2C3368879BF2}"/>
                </a:ext>
              </a:extLst>
            </p:cNvPr>
            <p:cNvSpPr/>
            <p:nvPr/>
          </p:nvSpPr>
          <p:spPr>
            <a:xfrm>
              <a:off x="10526411" y="3129653"/>
              <a:ext cx="486382" cy="215444"/>
            </a:xfrm>
            <a:prstGeom prst="rect">
              <a:avLst/>
            </a:prstGeom>
            <a:solidFill>
              <a:schemeClr val="bg1"/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900" dirty="0">
                  <a:solidFill>
                    <a:schemeClr val="tx1"/>
                  </a:solidFill>
                </a:rPr>
                <a:t>2</a:t>
              </a:r>
            </a:p>
          </p:txBody>
        </p:sp>
        <p:sp>
          <p:nvSpPr>
            <p:cNvPr id="26" name="Rechteck 25">
              <a:extLst>
                <a:ext uri="{FF2B5EF4-FFF2-40B4-BE49-F238E27FC236}">
                  <a16:creationId xmlns:a16="http://schemas.microsoft.com/office/drawing/2014/main" id="{33BD5434-DEFA-3864-F408-4EEE0172AF0A}"/>
                </a:ext>
              </a:extLst>
            </p:cNvPr>
            <p:cNvSpPr/>
            <p:nvPr/>
          </p:nvSpPr>
          <p:spPr>
            <a:xfrm>
              <a:off x="11013096" y="3129653"/>
              <a:ext cx="486382" cy="215444"/>
            </a:xfrm>
            <a:prstGeom prst="rect">
              <a:avLst/>
            </a:prstGeom>
            <a:solidFill>
              <a:schemeClr val="bg1"/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900" dirty="0">
                  <a:solidFill>
                    <a:schemeClr val="tx1"/>
                  </a:solidFill>
                </a:rPr>
                <a:t>0x00</a:t>
              </a:r>
            </a:p>
          </p:txBody>
        </p:sp>
        <p:sp>
          <p:nvSpPr>
            <p:cNvPr id="27" name="Rechteck 26">
              <a:extLst>
                <a:ext uri="{FF2B5EF4-FFF2-40B4-BE49-F238E27FC236}">
                  <a16:creationId xmlns:a16="http://schemas.microsoft.com/office/drawing/2014/main" id="{FF938114-D9F2-E97C-90A7-5136AF87445C}"/>
                </a:ext>
              </a:extLst>
            </p:cNvPr>
            <p:cNvSpPr/>
            <p:nvPr/>
          </p:nvSpPr>
          <p:spPr>
            <a:xfrm>
              <a:off x="10526411" y="3345097"/>
              <a:ext cx="486382" cy="215444"/>
            </a:xfrm>
            <a:prstGeom prst="rect">
              <a:avLst/>
            </a:prstGeom>
            <a:solidFill>
              <a:schemeClr val="bg1"/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900" dirty="0">
                  <a:solidFill>
                    <a:schemeClr val="tx1"/>
                  </a:solidFill>
                </a:rPr>
                <a:t>3</a:t>
              </a:r>
            </a:p>
          </p:txBody>
        </p:sp>
        <p:sp>
          <p:nvSpPr>
            <p:cNvPr id="28" name="Rechteck 27">
              <a:extLst>
                <a:ext uri="{FF2B5EF4-FFF2-40B4-BE49-F238E27FC236}">
                  <a16:creationId xmlns:a16="http://schemas.microsoft.com/office/drawing/2014/main" id="{F815F1D2-64DE-9048-5346-5D4CE6BEBC5C}"/>
                </a:ext>
              </a:extLst>
            </p:cNvPr>
            <p:cNvSpPr/>
            <p:nvPr/>
          </p:nvSpPr>
          <p:spPr>
            <a:xfrm>
              <a:off x="11013096" y="3345097"/>
              <a:ext cx="486382" cy="215444"/>
            </a:xfrm>
            <a:prstGeom prst="rect">
              <a:avLst/>
            </a:prstGeom>
            <a:solidFill>
              <a:schemeClr val="bg1"/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900" dirty="0">
                  <a:solidFill>
                    <a:schemeClr val="tx1"/>
                  </a:solidFill>
                </a:rPr>
                <a:t>0x00</a:t>
              </a:r>
            </a:p>
          </p:txBody>
        </p:sp>
        <p:sp>
          <p:nvSpPr>
            <p:cNvPr id="29" name="Rechteck 28">
              <a:extLst>
                <a:ext uri="{FF2B5EF4-FFF2-40B4-BE49-F238E27FC236}">
                  <a16:creationId xmlns:a16="http://schemas.microsoft.com/office/drawing/2014/main" id="{9241F7E1-24E1-AEA7-1B93-E058DA020F0A}"/>
                </a:ext>
              </a:extLst>
            </p:cNvPr>
            <p:cNvSpPr/>
            <p:nvPr/>
          </p:nvSpPr>
          <p:spPr>
            <a:xfrm>
              <a:off x="10526410" y="2267877"/>
              <a:ext cx="973067" cy="215444"/>
            </a:xfrm>
            <a:prstGeom prst="rect">
              <a:avLst/>
            </a:prstGeom>
            <a:solidFill>
              <a:schemeClr val="bg1"/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1200" dirty="0">
                  <a:solidFill>
                    <a:schemeClr val="tx1"/>
                  </a:solidFill>
                </a:rPr>
                <a:t>Heap</a:t>
              </a:r>
            </a:p>
          </p:txBody>
        </p:sp>
      </p:grpSp>
      <p:sp>
        <p:nvSpPr>
          <p:cNvPr id="30" name="Rechteck: abgerundete Ecken 29">
            <a:extLst>
              <a:ext uri="{FF2B5EF4-FFF2-40B4-BE49-F238E27FC236}">
                <a16:creationId xmlns:a16="http://schemas.microsoft.com/office/drawing/2014/main" id="{A584B84E-6E6E-3521-9EAC-A56AA4DC5B47}"/>
              </a:ext>
            </a:extLst>
          </p:cNvPr>
          <p:cNvSpPr/>
          <p:nvPr/>
        </p:nvSpPr>
        <p:spPr>
          <a:xfrm>
            <a:off x="8671101" y="3418772"/>
            <a:ext cx="973067" cy="215445"/>
          </a:xfrm>
          <a:prstGeom prst="roundRect">
            <a:avLst/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000" dirty="0" err="1">
                <a:solidFill>
                  <a:schemeClr val="tx1"/>
                </a:solidFill>
              </a:rPr>
              <a:t>var_pointer</a:t>
            </a:r>
            <a:endParaRPr lang="de-DE" sz="1000" dirty="0">
              <a:solidFill>
                <a:schemeClr val="tx1"/>
              </a:solidFill>
            </a:endParaRPr>
          </a:p>
        </p:txBody>
      </p:sp>
      <p:sp>
        <p:nvSpPr>
          <p:cNvPr id="33" name="Rechteck: abgerundete Ecken 32">
            <a:extLst>
              <a:ext uri="{FF2B5EF4-FFF2-40B4-BE49-F238E27FC236}">
                <a16:creationId xmlns:a16="http://schemas.microsoft.com/office/drawing/2014/main" id="{A20F46C1-F8C2-5E04-67A2-3C61000085E9}"/>
              </a:ext>
            </a:extLst>
          </p:cNvPr>
          <p:cNvSpPr/>
          <p:nvPr/>
        </p:nvSpPr>
        <p:spPr>
          <a:xfrm>
            <a:off x="6502435" y="2445897"/>
            <a:ext cx="973067" cy="215445"/>
          </a:xfrm>
          <a:prstGeom prst="roundRect">
            <a:avLst/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000" dirty="0" err="1">
                <a:solidFill>
                  <a:schemeClr val="tx1"/>
                </a:solidFill>
              </a:rPr>
              <a:t>value</a:t>
            </a:r>
            <a:endParaRPr lang="de-DE" sz="1000" dirty="0">
              <a:solidFill>
                <a:schemeClr val="tx1"/>
              </a:solidFill>
            </a:endParaRPr>
          </a:p>
        </p:txBody>
      </p:sp>
      <p:sp>
        <p:nvSpPr>
          <p:cNvPr id="44" name="Textfeld 43">
            <a:extLst>
              <a:ext uri="{FF2B5EF4-FFF2-40B4-BE49-F238E27FC236}">
                <a16:creationId xmlns:a16="http://schemas.microsoft.com/office/drawing/2014/main" id="{3C9B91C4-DB88-0A1A-9B99-FA68D1F7FF09}"/>
              </a:ext>
            </a:extLst>
          </p:cNvPr>
          <p:cNvSpPr txBox="1"/>
          <p:nvPr/>
        </p:nvSpPr>
        <p:spPr>
          <a:xfrm>
            <a:off x="720974" y="3333315"/>
            <a:ext cx="37446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Create mutable variable </a:t>
            </a:r>
            <a:r>
              <a:rPr lang="de-DE" dirty="0" err="1"/>
              <a:t>var_pointer</a:t>
            </a:r>
            <a:endParaRPr lang="de-DE" dirty="0"/>
          </a:p>
        </p:txBody>
      </p:sp>
      <p:sp>
        <p:nvSpPr>
          <p:cNvPr id="51" name="Textfeld 50">
            <a:extLst>
              <a:ext uri="{FF2B5EF4-FFF2-40B4-BE49-F238E27FC236}">
                <a16:creationId xmlns:a16="http://schemas.microsoft.com/office/drawing/2014/main" id="{92B804A8-4B47-E56A-3688-CDB9DB2D2E00}"/>
              </a:ext>
            </a:extLst>
          </p:cNvPr>
          <p:cNvSpPr txBox="1"/>
          <p:nvPr/>
        </p:nvSpPr>
        <p:spPr>
          <a:xfrm>
            <a:off x="625050" y="2230455"/>
            <a:ext cx="384053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dirty="0"/>
              <a:t>Borrowing allows to mutate the value</a:t>
            </a:r>
          </a:p>
          <a:p>
            <a:pPr algn="r"/>
            <a:r>
              <a:rPr lang="en-US" dirty="0"/>
              <a:t>without transferring ownership</a:t>
            </a:r>
          </a:p>
        </p:txBody>
      </p:sp>
      <p:sp>
        <p:nvSpPr>
          <p:cNvPr id="55" name="Textfeld 54">
            <a:extLst>
              <a:ext uri="{FF2B5EF4-FFF2-40B4-BE49-F238E27FC236}">
                <a16:creationId xmlns:a16="http://schemas.microsoft.com/office/drawing/2014/main" id="{76056F08-F002-545D-A57B-7C53ECB274FD}"/>
              </a:ext>
            </a:extLst>
          </p:cNvPr>
          <p:cNvSpPr txBox="1"/>
          <p:nvPr/>
        </p:nvSpPr>
        <p:spPr>
          <a:xfrm>
            <a:off x="317017" y="3817812"/>
            <a:ext cx="414857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Create mutable </a:t>
            </a:r>
            <a:r>
              <a:rPr lang="de-DE" dirty="0" err="1"/>
              <a:t>reference</a:t>
            </a:r>
            <a:r>
              <a:rPr lang="de-DE" dirty="0"/>
              <a:t> </a:t>
            </a:r>
            <a:r>
              <a:rPr lang="de-DE" dirty="0" err="1"/>
              <a:t>to</a:t>
            </a:r>
            <a:r>
              <a:rPr lang="de-DE" dirty="0"/>
              <a:t> </a:t>
            </a:r>
            <a:r>
              <a:rPr lang="de-DE" dirty="0" err="1"/>
              <a:t>var_pointer</a:t>
            </a:r>
            <a:endParaRPr lang="de-DE" dirty="0"/>
          </a:p>
        </p:txBody>
      </p:sp>
      <p:cxnSp>
        <p:nvCxnSpPr>
          <p:cNvPr id="60" name="Verbinder: gekrümmt 59">
            <a:extLst>
              <a:ext uri="{FF2B5EF4-FFF2-40B4-BE49-F238E27FC236}">
                <a16:creationId xmlns:a16="http://schemas.microsoft.com/office/drawing/2014/main" id="{3B5024C4-5A62-27F9-0F08-30C9B4D8D369}"/>
              </a:ext>
            </a:extLst>
          </p:cNvPr>
          <p:cNvCxnSpPr>
            <a:cxnSpLocks/>
            <a:stCxn id="33" idx="3"/>
            <a:endCxn id="30" idx="0"/>
          </p:cNvCxnSpPr>
          <p:nvPr/>
        </p:nvCxnSpPr>
        <p:spPr>
          <a:xfrm>
            <a:off x="7475502" y="2553620"/>
            <a:ext cx="1682133" cy="865152"/>
          </a:xfrm>
          <a:prstGeom prst="curvedConnector2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Gerade Verbindung mit Pfeil 65">
            <a:extLst>
              <a:ext uri="{FF2B5EF4-FFF2-40B4-BE49-F238E27FC236}">
                <a16:creationId xmlns:a16="http://schemas.microsoft.com/office/drawing/2014/main" id="{609DE07B-31C5-73DE-200C-86B3014BB7DA}"/>
              </a:ext>
            </a:extLst>
          </p:cNvPr>
          <p:cNvCxnSpPr>
            <a:cxnSpLocks/>
            <a:stCxn id="30" idx="3"/>
            <a:endCxn id="21" idx="1"/>
          </p:cNvCxnSpPr>
          <p:nvPr/>
        </p:nvCxnSpPr>
        <p:spPr>
          <a:xfrm flipV="1">
            <a:off x="9644168" y="3524806"/>
            <a:ext cx="736564" cy="1689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9" name="Textfeld 68">
            <a:extLst>
              <a:ext uri="{FF2B5EF4-FFF2-40B4-BE49-F238E27FC236}">
                <a16:creationId xmlns:a16="http://schemas.microsoft.com/office/drawing/2014/main" id="{BD445D87-8B97-FB91-0CCD-32B51F03B62A}"/>
              </a:ext>
            </a:extLst>
          </p:cNvPr>
          <p:cNvSpPr txBox="1"/>
          <p:nvPr/>
        </p:nvSpPr>
        <p:spPr>
          <a:xfrm>
            <a:off x="1092200" y="5899150"/>
            <a:ext cx="9642287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800" dirty="0"/>
              <a:t>[8] </a:t>
            </a:r>
            <a:r>
              <a:rPr lang="de-DE" sz="800" dirty="0">
                <a:hlinkClick r:id="rId4"/>
              </a:rPr>
              <a:t>https://doc.rust-lang.org/book/ch04-02-references-and-borrowing.html</a:t>
            </a:r>
            <a:r>
              <a:rPr lang="de-DE" sz="800" dirty="0"/>
              <a:t> </a:t>
            </a:r>
            <a:endParaRPr lang="en-US" sz="800" dirty="0"/>
          </a:p>
        </p:txBody>
      </p:sp>
    </p:spTree>
    <p:extLst>
      <p:ext uri="{BB962C8B-B14F-4D97-AF65-F5344CB8AC3E}">
        <p14:creationId xmlns:p14="http://schemas.microsoft.com/office/powerpoint/2010/main" val="1375097185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ußzeilenplatzhalter 1">
            <a:extLst>
              <a:ext uri="{FF2B5EF4-FFF2-40B4-BE49-F238E27FC236}">
                <a16:creationId xmlns:a16="http://schemas.microsoft.com/office/drawing/2014/main" id="{7685A692-F77F-DCF2-5423-D0B2F45D7940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>
                <a:solidFill>
                  <a:srgbClr val="64378C"/>
                </a:solidFill>
              </a:rPr>
              <a:t>Rust's Approach to Memory Safety</a:t>
            </a:r>
            <a:endParaRPr lang="en-US" dirty="0">
              <a:solidFill>
                <a:srgbClr val="64378C"/>
              </a:solidFill>
            </a:endParaRPr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637FD16C-CC8E-F6E0-171A-CF850638A419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 algn="ctr"/>
            <a:fld id="{5F85D455-7770-4F98-B944-71C158B4E906}" type="slidenum">
              <a:rPr lang="en-US" smtClean="0"/>
              <a:pPr algn="ctr"/>
              <a:t>25</a:t>
            </a:fld>
            <a:endParaRPr lang="en-US" dirty="0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701F7D1B-6E30-7343-0651-B5E315342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de-DE" dirty="0"/>
              <a:t>Rust</a:t>
            </a:r>
            <a:r>
              <a:rPr lang="en-US" dirty="0"/>
              <a:t>’s Approach</a:t>
            </a:r>
            <a:endParaRPr lang="de-DE" dirty="0"/>
          </a:p>
        </p:txBody>
      </p:sp>
      <p:pic>
        <p:nvPicPr>
          <p:cNvPr id="8" name="Grafik 7">
            <a:extLst>
              <a:ext uri="{FF2B5EF4-FFF2-40B4-BE49-F238E27FC236}">
                <a16:creationId xmlns:a16="http://schemas.microsoft.com/office/drawing/2014/main" id="{4A72618D-FD4B-2DE1-0BDC-CBA3FDFED5E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856222" y="1035121"/>
            <a:ext cx="5523101" cy="4338560"/>
          </a:xfrm>
          <a:prstGeom prst="rect">
            <a:avLst/>
          </a:prstGeom>
        </p:spPr>
      </p:pic>
      <p:sp>
        <p:nvSpPr>
          <p:cNvPr id="9" name="Inhaltsplatzhalter 4">
            <a:extLst>
              <a:ext uri="{FF2B5EF4-FFF2-40B4-BE49-F238E27FC236}">
                <a16:creationId xmlns:a16="http://schemas.microsoft.com/office/drawing/2014/main" id="{427C6F39-4260-5F42-CD63-74F515093A0B}"/>
              </a:ext>
            </a:extLst>
          </p:cNvPr>
          <p:cNvSpPr txBox="1">
            <a:spLocks/>
          </p:cNvSpPr>
          <p:nvPr/>
        </p:nvSpPr>
        <p:spPr>
          <a:xfrm>
            <a:off x="1203513" y="941294"/>
            <a:ext cx="9856694" cy="67349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3600" dirty="0"/>
              <a:t>Lifetimes and Borrow Checker</a:t>
            </a:r>
            <a:r>
              <a:rPr lang="en-US" sz="1200" baseline="-25000" dirty="0"/>
              <a:t>[9]</a:t>
            </a:r>
            <a:endParaRPr lang="en-US" dirty="0"/>
          </a:p>
        </p:txBody>
      </p:sp>
      <p:sp>
        <p:nvSpPr>
          <p:cNvPr id="10" name="Textfeld 9">
            <a:extLst>
              <a:ext uri="{FF2B5EF4-FFF2-40B4-BE49-F238E27FC236}">
                <a16:creationId xmlns:a16="http://schemas.microsoft.com/office/drawing/2014/main" id="{6264690F-D55E-8063-3731-E3F5D36B318A}"/>
              </a:ext>
            </a:extLst>
          </p:cNvPr>
          <p:cNvSpPr txBox="1"/>
          <p:nvPr/>
        </p:nvSpPr>
        <p:spPr>
          <a:xfrm>
            <a:off x="1092200" y="5899150"/>
            <a:ext cx="9642287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800" dirty="0"/>
              <a:t>[9] </a:t>
            </a:r>
            <a:r>
              <a:rPr lang="de-DE" sz="800" dirty="0">
                <a:hlinkClick r:id="rId4"/>
              </a:rPr>
              <a:t>https://doc.rust-lang.org/book/ch10-03-lifetime-syntax.html</a:t>
            </a:r>
            <a:r>
              <a:rPr lang="de-DE" sz="800" dirty="0"/>
              <a:t> </a:t>
            </a:r>
            <a:endParaRPr lang="en-US" sz="800" dirty="0"/>
          </a:p>
        </p:txBody>
      </p:sp>
      <p:sp>
        <p:nvSpPr>
          <p:cNvPr id="11" name="Rechteck 10">
            <a:extLst>
              <a:ext uri="{FF2B5EF4-FFF2-40B4-BE49-F238E27FC236}">
                <a16:creationId xmlns:a16="http://schemas.microsoft.com/office/drawing/2014/main" id="{11E04042-B4D2-E3F0-D90C-E1AE8FD44E01}"/>
              </a:ext>
            </a:extLst>
          </p:cNvPr>
          <p:cNvSpPr/>
          <p:nvPr/>
        </p:nvSpPr>
        <p:spPr>
          <a:xfrm>
            <a:off x="-1" y="5284403"/>
            <a:ext cx="8760759" cy="538476"/>
          </a:xfrm>
          <a:prstGeom prst="rect">
            <a:avLst/>
          </a:prstGeom>
          <a:solidFill>
            <a:srgbClr val="64378C">
              <a:alpha val="5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/>
              <a:t>Reliable dangling references detection at compile time.</a:t>
            </a:r>
          </a:p>
        </p:txBody>
      </p:sp>
      <p:sp>
        <p:nvSpPr>
          <p:cNvPr id="12" name="Pfeil: nach rechts 11">
            <a:extLst>
              <a:ext uri="{FF2B5EF4-FFF2-40B4-BE49-F238E27FC236}">
                <a16:creationId xmlns:a16="http://schemas.microsoft.com/office/drawing/2014/main" id="{9BEACD2A-C4DB-D1F7-497B-D9F1DF40311B}"/>
              </a:ext>
            </a:extLst>
          </p:cNvPr>
          <p:cNvSpPr/>
          <p:nvPr/>
        </p:nvSpPr>
        <p:spPr>
          <a:xfrm>
            <a:off x="79567" y="5419903"/>
            <a:ext cx="438145" cy="267476"/>
          </a:xfrm>
          <a:prstGeom prst="rightArrow">
            <a:avLst/>
          </a:prstGeom>
          <a:solidFill>
            <a:srgbClr val="64378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2" name="Textfeld 21">
            <a:extLst>
              <a:ext uri="{FF2B5EF4-FFF2-40B4-BE49-F238E27FC236}">
                <a16:creationId xmlns:a16="http://schemas.microsoft.com/office/drawing/2014/main" id="{63EB36D9-7B3D-DD54-BE9E-D9C78E282B38}"/>
              </a:ext>
            </a:extLst>
          </p:cNvPr>
          <p:cNvSpPr txBox="1"/>
          <p:nvPr/>
        </p:nvSpPr>
        <p:spPr>
          <a:xfrm>
            <a:off x="3604155" y="3191441"/>
            <a:ext cx="90018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400" dirty="0" err="1"/>
              <a:t>value</a:t>
            </a:r>
            <a:endParaRPr lang="de-DE" sz="2400" dirty="0"/>
          </a:p>
        </p:txBody>
      </p:sp>
      <p:sp>
        <p:nvSpPr>
          <p:cNvPr id="23" name="Textfeld 22">
            <a:extLst>
              <a:ext uri="{FF2B5EF4-FFF2-40B4-BE49-F238E27FC236}">
                <a16:creationId xmlns:a16="http://schemas.microsoft.com/office/drawing/2014/main" id="{93A18AF7-2CC4-C24E-B2B0-6EC07517BA43}"/>
              </a:ext>
            </a:extLst>
          </p:cNvPr>
          <p:cNvSpPr txBox="1"/>
          <p:nvPr/>
        </p:nvSpPr>
        <p:spPr>
          <a:xfrm>
            <a:off x="1720526" y="3120574"/>
            <a:ext cx="144988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400" dirty="0" err="1"/>
              <a:t>reference</a:t>
            </a:r>
            <a:endParaRPr lang="de-DE" sz="2400" dirty="0"/>
          </a:p>
        </p:txBody>
      </p:sp>
      <p:sp>
        <p:nvSpPr>
          <p:cNvPr id="35" name="Geschweifte Klammer links 34">
            <a:extLst>
              <a:ext uri="{FF2B5EF4-FFF2-40B4-BE49-F238E27FC236}">
                <a16:creationId xmlns:a16="http://schemas.microsoft.com/office/drawing/2014/main" id="{245788A4-0494-B7B0-5275-E05EA1F6E07C}"/>
              </a:ext>
            </a:extLst>
          </p:cNvPr>
          <p:cNvSpPr/>
          <p:nvPr/>
        </p:nvSpPr>
        <p:spPr>
          <a:xfrm>
            <a:off x="4454336" y="3065928"/>
            <a:ext cx="252133" cy="712693"/>
          </a:xfrm>
          <a:prstGeom prst="leftBrace">
            <a:avLst/>
          </a:prstGeom>
          <a:ln w="25400" cmpd="sng">
            <a:solidFill>
              <a:schemeClr val="tx1"/>
            </a:solidFill>
            <a:prstDash val="soli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6" name="Geschweifte Klammer links 35">
            <a:extLst>
              <a:ext uri="{FF2B5EF4-FFF2-40B4-BE49-F238E27FC236}">
                <a16:creationId xmlns:a16="http://schemas.microsoft.com/office/drawing/2014/main" id="{A982BFFE-1623-6A39-F4F1-FFAAA601323F}"/>
              </a:ext>
            </a:extLst>
          </p:cNvPr>
          <p:cNvSpPr/>
          <p:nvPr/>
        </p:nvSpPr>
        <p:spPr>
          <a:xfrm>
            <a:off x="3119670" y="2172387"/>
            <a:ext cx="538658" cy="2399324"/>
          </a:xfrm>
          <a:prstGeom prst="leftBrace">
            <a:avLst/>
          </a:prstGeom>
          <a:ln w="25400" cmpd="sng">
            <a:solidFill>
              <a:schemeClr val="tx1"/>
            </a:solidFill>
            <a:prstDash val="soli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72130112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FAE6A8-6B53-5DC7-B3E7-B350C27E69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" name="Grafik 29">
            <a:extLst>
              <a:ext uri="{FF2B5EF4-FFF2-40B4-BE49-F238E27FC236}">
                <a16:creationId xmlns:a16="http://schemas.microsoft.com/office/drawing/2014/main" id="{534D8F90-A0E1-5335-A335-00B1B1317B4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90818" y="1614792"/>
            <a:ext cx="6314038" cy="4362426"/>
          </a:xfrm>
          <a:prstGeom prst="rect">
            <a:avLst/>
          </a:prstGeom>
        </p:spPr>
      </p:pic>
      <p:sp>
        <p:nvSpPr>
          <p:cNvPr id="2" name="Fußzeilenplatzhalter 1">
            <a:extLst>
              <a:ext uri="{FF2B5EF4-FFF2-40B4-BE49-F238E27FC236}">
                <a16:creationId xmlns:a16="http://schemas.microsoft.com/office/drawing/2014/main" id="{E2C63AC6-AB1C-727F-A1EA-33D2FF80CDC9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>
                <a:solidFill>
                  <a:srgbClr val="64378C"/>
                </a:solidFill>
              </a:rPr>
              <a:t>Rust's Approach to Memory Safety</a:t>
            </a:r>
            <a:endParaRPr lang="en-US" dirty="0">
              <a:solidFill>
                <a:srgbClr val="64378C"/>
              </a:solidFill>
            </a:endParaRPr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294D2985-F275-669B-D00E-B49BB979E781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 algn="ctr"/>
            <a:fld id="{5F85D455-7770-4F98-B944-71C158B4E906}" type="slidenum">
              <a:rPr lang="en-US" smtClean="0"/>
              <a:pPr algn="ctr"/>
              <a:t>26</a:t>
            </a:fld>
            <a:endParaRPr lang="en-US" dirty="0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C21C9530-C67E-3532-42C5-CA7898FA4345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de-DE" dirty="0"/>
              <a:t>Rust</a:t>
            </a:r>
            <a:r>
              <a:rPr lang="en-US" dirty="0"/>
              <a:t>’s Approach</a:t>
            </a:r>
            <a:endParaRPr lang="de-DE" dirty="0"/>
          </a:p>
        </p:txBody>
      </p:sp>
      <p:sp>
        <p:nvSpPr>
          <p:cNvPr id="9" name="Inhaltsplatzhalter 4">
            <a:extLst>
              <a:ext uri="{FF2B5EF4-FFF2-40B4-BE49-F238E27FC236}">
                <a16:creationId xmlns:a16="http://schemas.microsoft.com/office/drawing/2014/main" id="{B6E20576-7183-E342-C49B-32BBCCE64D8F}"/>
              </a:ext>
            </a:extLst>
          </p:cNvPr>
          <p:cNvSpPr txBox="1">
            <a:spLocks/>
          </p:cNvSpPr>
          <p:nvPr/>
        </p:nvSpPr>
        <p:spPr>
          <a:xfrm>
            <a:off x="1203513" y="941294"/>
            <a:ext cx="9856694" cy="67349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3600" dirty="0"/>
              <a:t>Prevention of User after Free</a:t>
            </a:r>
            <a:endParaRPr lang="en-US" dirty="0"/>
          </a:p>
        </p:txBody>
      </p:sp>
      <p:sp>
        <p:nvSpPr>
          <p:cNvPr id="7" name="Textfeld 6">
            <a:extLst>
              <a:ext uri="{FF2B5EF4-FFF2-40B4-BE49-F238E27FC236}">
                <a16:creationId xmlns:a16="http://schemas.microsoft.com/office/drawing/2014/main" id="{922542D1-CF83-62E5-B8FA-CA7E7128351E}"/>
              </a:ext>
            </a:extLst>
          </p:cNvPr>
          <p:cNvSpPr txBox="1"/>
          <p:nvPr/>
        </p:nvSpPr>
        <p:spPr>
          <a:xfrm>
            <a:off x="6131860" y="2673950"/>
            <a:ext cx="478267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Bind Ownership to </a:t>
            </a:r>
            <a:r>
              <a:rPr lang="en-US" sz="2400" dirty="0" err="1"/>
              <a:t>buffer_owner</a:t>
            </a:r>
            <a:endParaRPr lang="en-US" sz="2400" dirty="0"/>
          </a:p>
        </p:txBody>
      </p:sp>
      <p:sp>
        <p:nvSpPr>
          <p:cNvPr id="13" name="Textfeld 12">
            <a:extLst>
              <a:ext uri="{FF2B5EF4-FFF2-40B4-BE49-F238E27FC236}">
                <a16:creationId xmlns:a16="http://schemas.microsoft.com/office/drawing/2014/main" id="{0BC3DCF9-2107-B3FA-25AE-5FD36B929670}"/>
              </a:ext>
            </a:extLst>
          </p:cNvPr>
          <p:cNvSpPr txBox="1"/>
          <p:nvPr/>
        </p:nvSpPr>
        <p:spPr>
          <a:xfrm>
            <a:off x="6366508" y="3201297"/>
            <a:ext cx="294689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400" dirty="0"/>
              <a:t>Borrow </a:t>
            </a:r>
            <a:r>
              <a:rPr lang="de-DE" sz="2400" dirty="0" err="1"/>
              <a:t>buffer_owner</a:t>
            </a:r>
            <a:endParaRPr lang="de-DE" sz="2400" dirty="0"/>
          </a:p>
        </p:txBody>
      </p:sp>
      <p:sp>
        <p:nvSpPr>
          <p:cNvPr id="14" name="Textfeld 13">
            <a:extLst>
              <a:ext uri="{FF2B5EF4-FFF2-40B4-BE49-F238E27FC236}">
                <a16:creationId xmlns:a16="http://schemas.microsoft.com/office/drawing/2014/main" id="{7A2F1082-7C63-4598-AA10-43AABB84AA97}"/>
              </a:ext>
            </a:extLst>
          </p:cNvPr>
          <p:cNvSpPr txBox="1"/>
          <p:nvPr/>
        </p:nvSpPr>
        <p:spPr>
          <a:xfrm>
            <a:off x="4731223" y="3753777"/>
            <a:ext cx="528907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The </a:t>
            </a:r>
            <a:r>
              <a:rPr lang="en-US" sz="2400" dirty="0" err="1"/>
              <a:t>buffer_owner's</a:t>
            </a:r>
            <a:r>
              <a:rPr lang="en-US" sz="2400" dirty="0"/>
              <a:t> lifetime is now over</a:t>
            </a:r>
          </a:p>
        </p:txBody>
      </p:sp>
      <p:sp>
        <p:nvSpPr>
          <p:cNvPr id="15" name="Textfeld 14">
            <a:extLst>
              <a:ext uri="{FF2B5EF4-FFF2-40B4-BE49-F238E27FC236}">
                <a16:creationId xmlns:a16="http://schemas.microsoft.com/office/drawing/2014/main" id="{2CBE297D-CF16-0DA3-94D8-90EBC0F8061C}"/>
              </a:ext>
            </a:extLst>
          </p:cNvPr>
          <p:cNvSpPr txBox="1"/>
          <p:nvPr/>
        </p:nvSpPr>
        <p:spPr>
          <a:xfrm>
            <a:off x="5949778" y="4308418"/>
            <a:ext cx="362381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Attempt to use the borrow</a:t>
            </a:r>
          </a:p>
        </p:txBody>
      </p:sp>
      <p:sp>
        <p:nvSpPr>
          <p:cNvPr id="16" name="Rechteck: abgerundete Ecken 15">
            <a:extLst>
              <a:ext uri="{FF2B5EF4-FFF2-40B4-BE49-F238E27FC236}">
                <a16:creationId xmlns:a16="http://schemas.microsoft.com/office/drawing/2014/main" id="{D6FD7048-A4E2-394B-33CB-E7C5D55E255E}"/>
              </a:ext>
            </a:extLst>
          </p:cNvPr>
          <p:cNvSpPr/>
          <p:nvPr/>
        </p:nvSpPr>
        <p:spPr>
          <a:xfrm>
            <a:off x="2171699" y="2773222"/>
            <a:ext cx="3677771" cy="263122"/>
          </a:xfrm>
          <a:prstGeom prst="roundRect">
            <a:avLst/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7" name="Rechteck: abgerundete Ecken 16">
            <a:extLst>
              <a:ext uri="{FF2B5EF4-FFF2-40B4-BE49-F238E27FC236}">
                <a16:creationId xmlns:a16="http://schemas.microsoft.com/office/drawing/2014/main" id="{417DB784-9DC1-5445-E9CA-9A01F5FA3992}"/>
              </a:ext>
            </a:extLst>
          </p:cNvPr>
          <p:cNvSpPr/>
          <p:nvPr/>
        </p:nvSpPr>
        <p:spPr>
          <a:xfrm>
            <a:off x="2171699" y="3308869"/>
            <a:ext cx="3924301" cy="263122"/>
          </a:xfrm>
          <a:prstGeom prst="roundRect">
            <a:avLst/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8" name="Rechteck: abgerundete Ecken 17">
            <a:extLst>
              <a:ext uri="{FF2B5EF4-FFF2-40B4-BE49-F238E27FC236}">
                <a16:creationId xmlns:a16="http://schemas.microsoft.com/office/drawing/2014/main" id="{44E21590-1DD5-7CFC-1F32-368929ABE705}"/>
              </a:ext>
            </a:extLst>
          </p:cNvPr>
          <p:cNvSpPr/>
          <p:nvPr/>
        </p:nvSpPr>
        <p:spPr>
          <a:xfrm>
            <a:off x="2171700" y="3857961"/>
            <a:ext cx="2238936" cy="263122"/>
          </a:xfrm>
          <a:prstGeom prst="roundRect">
            <a:avLst/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9" name="Rechteck: abgerundete Ecken 18">
            <a:extLst>
              <a:ext uri="{FF2B5EF4-FFF2-40B4-BE49-F238E27FC236}">
                <a16:creationId xmlns:a16="http://schemas.microsoft.com/office/drawing/2014/main" id="{21D091AB-F3F6-9592-04EA-C09BCADE0DC3}"/>
              </a:ext>
            </a:extLst>
          </p:cNvPr>
          <p:cNvSpPr/>
          <p:nvPr/>
        </p:nvSpPr>
        <p:spPr>
          <a:xfrm>
            <a:off x="2171699" y="4406817"/>
            <a:ext cx="3449172" cy="263122"/>
          </a:xfrm>
          <a:prstGeom prst="roundRect">
            <a:avLst/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21" name="Grafik 20" descr="Marke 1 Silhouette">
            <a:extLst>
              <a:ext uri="{FF2B5EF4-FFF2-40B4-BE49-F238E27FC236}">
                <a16:creationId xmlns:a16="http://schemas.microsoft.com/office/drawing/2014/main" id="{BFF75386-925F-CCF6-4FF3-4D46D0DFE7B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849470" y="2721279"/>
            <a:ext cx="367008" cy="367008"/>
          </a:xfrm>
          <a:prstGeom prst="rect">
            <a:avLst/>
          </a:prstGeom>
        </p:spPr>
      </p:pic>
      <p:pic>
        <p:nvPicPr>
          <p:cNvPr id="25" name="Grafik 24" descr="Marke 4 Silhouette">
            <a:extLst>
              <a:ext uri="{FF2B5EF4-FFF2-40B4-BE49-F238E27FC236}">
                <a16:creationId xmlns:a16="http://schemas.microsoft.com/office/drawing/2014/main" id="{CD0F49F7-2C4F-74C9-6C04-4B26B1AB56B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5620871" y="4354874"/>
            <a:ext cx="367008" cy="367008"/>
          </a:xfrm>
          <a:prstGeom prst="rect">
            <a:avLst/>
          </a:prstGeom>
        </p:spPr>
      </p:pic>
      <p:pic>
        <p:nvPicPr>
          <p:cNvPr id="27" name="Grafik 26" descr="Marke 3 Silhouette">
            <a:extLst>
              <a:ext uri="{FF2B5EF4-FFF2-40B4-BE49-F238E27FC236}">
                <a16:creationId xmlns:a16="http://schemas.microsoft.com/office/drawing/2014/main" id="{3821C0C1-8CA2-EA5D-10D8-88E6CC1561B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4433591" y="3806252"/>
            <a:ext cx="367008" cy="367008"/>
          </a:xfrm>
          <a:prstGeom prst="rect">
            <a:avLst/>
          </a:prstGeom>
        </p:spPr>
      </p:pic>
      <p:pic>
        <p:nvPicPr>
          <p:cNvPr id="29" name="Grafik 28" descr="Abzeichen Silhouette">
            <a:extLst>
              <a:ext uri="{FF2B5EF4-FFF2-40B4-BE49-F238E27FC236}">
                <a16:creationId xmlns:a16="http://schemas.microsoft.com/office/drawing/2014/main" id="{554EEADF-7E18-0A51-85B5-6CE57C6A4CC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6095999" y="3261192"/>
            <a:ext cx="367008" cy="3670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5149283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13" grpId="0"/>
      <p:bldP spid="14" grpId="0"/>
      <p:bldP spid="15" grpId="0"/>
      <p:bldP spid="16" grpId="0" animBg="1"/>
      <p:bldP spid="17" grpId="0" animBg="1"/>
      <p:bldP spid="18" grpId="0" animBg="1"/>
      <p:bldP spid="19" grpId="0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A4152C-C224-F62C-8C6D-D6C1D5F258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" name="Grafik 29">
            <a:extLst>
              <a:ext uri="{FF2B5EF4-FFF2-40B4-BE49-F238E27FC236}">
                <a16:creationId xmlns:a16="http://schemas.microsoft.com/office/drawing/2014/main" id="{DE1176B6-DAEB-D686-B641-4F10A8BB739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16086" y="2279650"/>
            <a:ext cx="4184513" cy="2891118"/>
          </a:xfrm>
          <a:prstGeom prst="rect">
            <a:avLst/>
          </a:prstGeom>
        </p:spPr>
      </p:pic>
      <p:sp>
        <p:nvSpPr>
          <p:cNvPr id="2" name="Fußzeilenplatzhalter 1">
            <a:extLst>
              <a:ext uri="{FF2B5EF4-FFF2-40B4-BE49-F238E27FC236}">
                <a16:creationId xmlns:a16="http://schemas.microsoft.com/office/drawing/2014/main" id="{CDFFABCC-6A45-6020-7F6F-519948DD392F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>
                <a:solidFill>
                  <a:srgbClr val="64378C"/>
                </a:solidFill>
              </a:rPr>
              <a:t>Rust's Approach to Memory Safety</a:t>
            </a:r>
            <a:endParaRPr lang="en-US" dirty="0">
              <a:solidFill>
                <a:srgbClr val="64378C"/>
              </a:solidFill>
            </a:endParaRPr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CD6ECF19-4FCF-8665-E8F8-4F6EDB4DCEB1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 algn="ctr"/>
            <a:fld id="{5F85D455-7770-4F98-B944-71C158B4E906}" type="slidenum">
              <a:rPr lang="en-US" smtClean="0"/>
              <a:pPr algn="ctr"/>
              <a:t>27</a:t>
            </a:fld>
            <a:endParaRPr lang="en-US" dirty="0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02AE408F-4E3A-BC65-89D4-41E6FAD29994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de-DE" dirty="0"/>
              <a:t>Rust</a:t>
            </a:r>
            <a:r>
              <a:rPr lang="en-US" dirty="0"/>
              <a:t>’s Approach</a:t>
            </a:r>
            <a:endParaRPr lang="de-DE" dirty="0"/>
          </a:p>
        </p:txBody>
      </p:sp>
      <p:sp>
        <p:nvSpPr>
          <p:cNvPr id="9" name="Inhaltsplatzhalter 4">
            <a:extLst>
              <a:ext uri="{FF2B5EF4-FFF2-40B4-BE49-F238E27FC236}">
                <a16:creationId xmlns:a16="http://schemas.microsoft.com/office/drawing/2014/main" id="{753E48AE-88B3-EC04-C0AA-A2956291B0AD}"/>
              </a:ext>
            </a:extLst>
          </p:cNvPr>
          <p:cNvSpPr txBox="1">
            <a:spLocks/>
          </p:cNvSpPr>
          <p:nvPr/>
        </p:nvSpPr>
        <p:spPr>
          <a:xfrm>
            <a:off x="1203513" y="941294"/>
            <a:ext cx="9856694" cy="67349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3600" dirty="0"/>
              <a:t>Prevention of User after Free</a:t>
            </a:r>
            <a:endParaRPr lang="en-US" dirty="0"/>
          </a:p>
        </p:txBody>
      </p:sp>
      <p:grpSp>
        <p:nvGrpSpPr>
          <p:cNvPr id="5" name="Gruppieren 4">
            <a:extLst>
              <a:ext uri="{FF2B5EF4-FFF2-40B4-BE49-F238E27FC236}">
                <a16:creationId xmlns:a16="http://schemas.microsoft.com/office/drawing/2014/main" id="{6B46AFDE-3E2F-65A7-119E-2E4F66FBAA00}"/>
              </a:ext>
            </a:extLst>
          </p:cNvPr>
          <p:cNvGrpSpPr/>
          <p:nvPr/>
        </p:nvGrpSpPr>
        <p:grpSpPr>
          <a:xfrm>
            <a:off x="3155950" y="1527612"/>
            <a:ext cx="8113807" cy="4755747"/>
            <a:chOff x="2946400" y="1445062"/>
            <a:chExt cx="8113807" cy="4755747"/>
          </a:xfrm>
        </p:grpSpPr>
        <p:pic>
          <p:nvPicPr>
            <p:cNvPr id="6" name="Grafik 5">
              <a:extLst>
                <a:ext uri="{FF2B5EF4-FFF2-40B4-BE49-F238E27FC236}">
                  <a16:creationId xmlns:a16="http://schemas.microsoft.com/office/drawing/2014/main" id="{77586372-2E0D-C0DB-3979-14334F56FBAA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4264960" y="1445062"/>
              <a:ext cx="6795247" cy="4755747"/>
            </a:xfrm>
            <a:prstGeom prst="rect">
              <a:avLst/>
            </a:prstGeom>
          </p:spPr>
        </p:pic>
        <p:sp>
          <p:nvSpPr>
            <p:cNvPr id="8" name="Rechteck: abgerundete Ecken 7">
              <a:extLst>
                <a:ext uri="{FF2B5EF4-FFF2-40B4-BE49-F238E27FC236}">
                  <a16:creationId xmlns:a16="http://schemas.microsoft.com/office/drawing/2014/main" id="{2219161C-76EB-CE29-F0B9-4FD2AFFA1D09}"/>
                </a:ext>
              </a:extLst>
            </p:cNvPr>
            <p:cNvSpPr/>
            <p:nvPr/>
          </p:nvSpPr>
          <p:spPr>
            <a:xfrm>
              <a:off x="4800599" y="1880259"/>
              <a:ext cx="5876366" cy="3942317"/>
            </a:xfrm>
            <a:prstGeom prst="roundRect">
              <a:avLst>
                <a:gd name="adj" fmla="val 4684"/>
              </a:avLst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 dirty="0"/>
            </a:p>
          </p:txBody>
        </p:sp>
        <p:cxnSp>
          <p:nvCxnSpPr>
            <p:cNvPr id="10" name="Gerader Verbinder 9">
              <a:extLst>
                <a:ext uri="{FF2B5EF4-FFF2-40B4-BE49-F238E27FC236}">
                  <a16:creationId xmlns:a16="http://schemas.microsoft.com/office/drawing/2014/main" id="{08CB371C-3FF4-A112-B043-2C86601F7F5E}"/>
                </a:ext>
              </a:extLst>
            </p:cNvPr>
            <p:cNvCxnSpPr>
              <a:cxnSpLocks/>
            </p:cNvCxnSpPr>
            <p:nvPr/>
          </p:nvCxnSpPr>
          <p:spPr>
            <a:xfrm>
              <a:off x="2946400" y="3905250"/>
              <a:ext cx="1899444" cy="1854994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Gerader Verbinder 10">
              <a:extLst>
                <a:ext uri="{FF2B5EF4-FFF2-40B4-BE49-F238E27FC236}">
                  <a16:creationId xmlns:a16="http://schemas.microsoft.com/office/drawing/2014/main" id="{65E297F5-ADCA-8B96-9BBB-B20208A0FE79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946400" y="1964531"/>
              <a:ext cx="1882775" cy="1737519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20" name="Grafik 19">
            <a:extLst>
              <a:ext uri="{FF2B5EF4-FFF2-40B4-BE49-F238E27FC236}">
                <a16:creationId xmlns:a16="http://schemas.microsoft.com/office/drawing/2014/main" id="{9FC68B84-E932-4C20-10E5-D86B866FBB7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2500307" y="4475032"/>
            <a:ext cx="1519680" cy="1022374"/>
          </a:xfrm>
          <a:prstGeom prst="rect">
            <a:avLst/>
          </a:prstGeom>
        </p:spPr>
      </p:pic>
      <p:sp>
        <p:nvSpPr>
          <p:cNvPr id="24" name="Textfeld 23">
            <a:extLst>
              <a:ext uri="{FF2B5EF4-FFF2-40B4-BE49-F238E27FC236}">
                <a16:creationId xmlns:a16="http://schemas.microsoft.com/office/drawing/2014/main" id="{BF34CE09-9A60-953E-54FB-AFDFFBC4D0D4}"/>
              </a:ext>
            </a:extLst>
          </p:cNvPr>
          <p:cNvSpPr txBox="1"/>
          <p:nvPr/>
        </p:nvSpPr>
        <p:spPr>
          <a:xfrm>
            <a:off x="1092200" y="5899150"/>
            <a:ext cx="9642287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800" dirty="0"/>
              <a:t>[10] </a:t>
            </a:r>
            <a:r>
              <a:rPr lang="de-DE" sz="800" dirty="0">
                <a:hlinkClick r:id="rId6"/>
              </a:rPr>
              <a:t>https://doc.rust-lang.org/book/img/ferris/does_not_compile.svg</a:t>
            </a:r>
            <a:r>
              <a:rPr lang="de-DE" sz="800" dirty="0"/>
              <a:t> </a:t>
            </a:r>
            <a:endParaRPr lang="en-US" sz="800" dirty="0"/>
          </a:p>
        </p:txBody>
      </p:sp>
      <p:sp>
        <p:nvSpPr>
          <p:cNvPr id="26" name="Textfeld 25">
            <a:extLst>
              <a:ext uri="{FF2B5EF4-FFF2-40B4-BE49-F238E27FC236}">
                <a16:creationId xmlns:a16="http://schemas.microsoft.com/office/drawing/2014/main" id="{4E1AD0FE-94B9-BC3D-99CA-3BC9D7614E6F}"/>
              </a:ext>
            </a:extLst>
          </p:cNvPr>
          <p:cNvSpPr txBox="1"/>
          <p:nvPr/>
        </p:nvSpPr>
        <p:spPr>
          <a:xfrm>
            <a:off x="3843216" y="5264837"/>
            <a:ext cx="45531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200" dirty="0"/>
              <a:t>[10]</a:t>
            </a:r>
            <a:endParaRPr lang="en-US" sz="1200" dirty="0"/>
          </a:p>
        </p:txBody>
      </p:sp>
    </p:spTree>
    <p:extLst>
      <p:ext uri="{BB962C8B-B14F-4D97-AF65-F5344CB8AC3E}">
        <p14:creationId xmlns:p14="http://schemas.microsoft.com/office/powerpoint/2010/main" val="383408175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8CAFD5-5BF8-3485-78A3-85C6BD92F0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ußzeilenplatzhalter 1">
            <a:extLst>
              <a:ext uri="{FF2B5EF4-FFF2-40B4-BE49-F238E27FC236}">
                <a16:creationId xmlns:a16="http://schemas.microsoft.com/office/drawing/2014/main" id="{F711C7A6-26F1-1A15-8183-307DB8A7F8E6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>
                <a:solidFill>
                  <a:srgbClr val="64378C"/>
                </a:solidFill>
              </a:rPr>
              <a:t>Rust's Approach to Memory Safety</a:t>
            </a:r>
            <a:endParaRPr lang="en-US" dirty="0">
              <a:solidFill>
                <a:srgbClr val="64378C"/>
              </a:solidFill>
            </a:endParaRPr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F7D7563F-C210-FEA3-E728-29365D8784F3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 algn="ctr"/>
            <a:fld id="{5F85D455-7770-4F98-B944-71C158B4E906}" type="slidenum">
              <a:rPr lang="en-US" smtClean="0"/>
              <a:pPr algn="ctr"/>
              <a:t>28</a:t>
            </a:fld>
            <a:endParaRPr lang="en-US" dirty="0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39FF5200-10D6-7837-3C03-8FFB90784205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de-DE" dirty="0"/>
              <a:t>Rust</a:t>
            </a:r>
            <a:r>
              <a:rPr lang="en-US" dirty="0"/>
              <a:t>’s Approach</a:t>
            </a:r>
            <a:endParaRPr lang="de-DE" dirty="0"/>
          </a:p>
        </p:txBody>
      </p:sp>
      <p:sp>
        <p:nvSpPr>
          <p:cNvPr id="9" name="Inhaltsplatzhalter 4">
            <a:extLst>
              <a:ext uri="{FF2B5EF4-FFF2-40B4-BE49-F238E27FC236}">
                <a16:creationId xmlns:a16="http://schemas.microsoft.com/office/drawing/2014/main" id="{B6689E23-184A-9C4D-C450-46E91EDCE897}"/>
              </a:ext>
            </a:extLst>
          </p:cNvPr>
          <p:cNvSpPr txBox="1">
            <a:spLocks/>
          </p:cNvSpPr>
          <p:nvPr/>
        </p:nvSpPr>
        <p:spPr>
          <a:xfrm>
            <a:off x="1203513" y="941294"/>
            <a:ext cx="9856694" cy="67349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3600" dirty="0" err="1"/>
              <a:t>Compiletime</a:t>
            </a:r>
            <a:r>
              <a:rPr lang="en-US" sz="3600" dirty="0"/>
              <a:t> Bounds Checking</a:t>
            </a:r>
            <a:endParaRPr lang="en-US" dirty="0"/>
          </a:p>
        </p:txBody>
      </p:sp>
      <p:pic>
        <p:nvPicPr>
          <p:cNvPr id="12" name="Grafik 11">
            <a:extLst>
              <a:ext uri="{FF2B5EF4-FFF2-40B4-BE49-F238E27FC236}">
                <a16:creationId xmlns:a16="http://schemas.microsoft.com/office/drawing/2014/main" id="{CBB3C63A-7355-C3E9-C009-1093FD185C3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98639" y="1237850"/>
            <a:ext cx="5073184" cy="3866667"/>
          </a:xfrm>
          <a:prstGeom prst="rect">
            <a:avLst/>
          </a:prstGeom>
        </p:spPr>
      </p:pic>
      <p:pic>
        <p:nvPicPr>
          <p:cNvPr id="13" name="Grafik 12">
            <a:extLst>
              <a:ext uri="{FF2B5EF4-FFF2-40B4-BE49-F238E27FC236}">
                <a16:creationId xmlns:a16="http://schemas.microsoft.com/office/drawing/2014/main" id="{D758C6A6-EBCE-E8FA-93DC-FF86EF3381B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03189" y="2974517"/>
            <a:ext cx="1200648" cy="807743"/>
          </a:xfrm>
          <a:prstGeom prst="rect">
            <a:avLst/>
          </a:prstGeom>
        </p:spPr>
      </p:pic>
      <p:sp>
        <p:nvSpPr>
          <p:cNvPr id="14" name="Textfeld 13">
            <a:extLst>
              <a:ext uri="{FF2B5EF4-FFF2-40B4-BE49-F238E27FC236}">
                <a16:creationId xmlns:a16="http://schemas.microsoft.com/office/drawing/2014/main" id="{E4DD69CF-8EF3-5ED5-E5E0-9B98F6B6F5B1}"/>
              </a:ext>
            </a:extLst>
          </p:cNvPr>
          <p:cNvSpPr txBox="1"/>
          <p:nvPr/>
        </p:nvSpPr>
        <p:spPr>
          <a:xfrm>
            <a:off x="453060" y="3573011"/>
            <a:ext cx="45531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200" dirty="0"/>
              <a:t>[10]</a:t>
            </a:r>
            <a:endParaRPr lang="en-US" sz="1200" dirty="0"/>
          </a:p>
        </p:txBody>
      </p:sp>
      <p:sp>
        <p:nvSpPr>
          <p:cNvPr id="15" name="Textfeld 14">
            <a:extLst>
              <a:ext uri="{FF2B5EF4-FFF2-40B4-BE49-F238E27FC236}">
                <a16:creationId xmlns:a16="http://schemas.microsoft.com/office/drawing/2014/main" id="{C07618D9-1CB2-D179-6BDE-95BE13D175D7}"/>
              </a:ext>
            </a:extLst>
          </p:cNvPr>
          <p:cNvSpPr txBox="1"/>
          <p:nvPr/>
        </p:nvSpPr>
        <p:spPr>
          <a:xfrm>
            <a:off x="1092200" y="5899150"/>
            <a:ext cx="9642287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800" dirty="0"/>
              <a:t>[10] </a:t>
            </a:r>
            <a:r>
              <a:rPr lang="de-DE" sz="800" dirty="0">
                <a:hlinkClick r:id="rId5"/>
              </a:rPr>
              <a:t>https://doc.rust-lang.org/book/img/ferris/does_not_compile.svg</a:t>
            </a:r>
            <a:r>
              <a:rPr lang="de-DE" sz="800" dirty="0"/>
              <a:t> </a:t>
            </a:r>
            <a:endParaRPr lang="en-US" sz="800" dirty="0"/>
          </a:p>
        </p:txBody>
      </p:sp>
      <p:sp>
        <p:nvSpPr>
          <p:cNvPr id="16" name="Rechteck 15">
            <a:extLst>
              <a:ext uri="{FF2B5EF4-FFF2-40B4-BE49-F238E27FC236}">
                <a16:creationId xmlns:a16="http://schemas.microsoft.com/office/drawing/2014/main" id="{79968917-4431-3F89-DB77-F90932539675}"/>
              </a:ext>
            </a:extLst>
          </p:cNvPr>
          <p:cNvSpPr/>
          <p:nvPr/>
        </p:nvSpPr>
        <p:spPr>
          <a:xfrm>
            <a:off x="-1" y="5284403"/>
            <a:ext cx="10012681" cy="538476"/>
          </a:xfrm>
          <a:prstGeom prst="rect">
            <a:avLst/>
          </a:prstGeom>
          <a:solidFill>
            <a:srgbClr val="64378C">
              <a:alpha val="5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b="1" dirty="0"/>
              <a:t>If the index is constant, Rust can detect out-of-bounds errors at compile time</a:t>
            </a:r>
          </a:p>
        </p:txBody>
      </p:sp>
      <p:sp>
        <p:nvSpPr>
          <p:cNvPr id="17" name="Pfeil: nach rechts 16">
            <a:extLst>
              <a:ext uri="{FF2B5EF4-FFF2-40B4-BE49-F238E27FC236}">
                <a16:creationId xmlns:a16="http://schemas.microsoft.com/office/drawing/2014/main" id="{BF04F6F9-5EFB-5B66-C514-06622FB529F0}"/>
              </a:ext>
            </a:extLst>
          </p:cNvPr>
          <p:cNvSpPr/>
          <p:nvPr/>
        </p:nvSpPr>
        <p:spPr>
          <a:xfrm>
            <a:off x="79567" y="5419903"/>
            <a:ext cx="438145" cy="267476"/>
          </a:xfrm>
          <a:prstGeom prst="rightArrow">
            <a:avLst/>
          </a:prstGeom>
          <a:solidFill>
            <a:srgbClr val="64378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19" name="Grafik 18">
            <a:extLst>
              <a:ext uri="{FF2B5EF4-FFF2-40B4-BE49-F238E27FC236}">
                <a16:creationId xmlns:a16="http://schemas.microsoft.com/office/drawing/2014/main" id="{8FEC3C9E-C203-AEF9-0C01-57ADFB80144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4595965" y="1999934"/>
            <a:ext cx="7866092" cy="2828129"/>
          </a:xfrm>
          <a:prstGeom prst="rect">
            <a:avLst/>
          </a:prstGeom>
        </p:spPr>
      </p:pic>
      <p:cxnSp>
        <p:nvCxnSpPr>
          <p:cNvPr id="21" name="Gerader Verbinder 20">
            <a:extLst>
              <a:ext uri="{FF2B5EF4-FFF2-40B4-BE49-F238E27FC236}">
                <a16:creationId xmlns:a16="http://schemas.microsoft.com/office/drawing/2014/main" id="{51CAF538-51F4-0BD4-9F96-68C9439CC0DF}"/>
              </a:ext>
            </a:extLst>
          </p:cNvPr>
          <p:cNvCxnSpPr>
            <a:cxnSpLocks/>
          </p:cNvCxnSpPr>
          <p:nvPr/>
        </p:nvCxnSpPr>
        <p:spPr>
          <a:xfrm flipH="1">
            <a:off x="3531604" y="2622550"/>
            <a:ext cx="1811921" cy="631369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echteck: abgerundete Ecken 23">
            <a:extLst>
              <a:ext uri="{FF2B5EF4-FFF2-40B4-BE49-F238E27FC236}">
                <a16:creationId xmlns:a16="http://schemas.microsoft.com/office/drawing/2014/main" id="{FF6528F3-6AB8-F788-2113-5C0999B3DB4E}"/>
              </a:ext>
            </a:extLst>
          </p:cNvPr>
          <p:cNvSpPr/>
          <p:nvPr/>
        </p:nvSpPr>
        <p:spPr>
          <a:xfrm>
            <a:off x="5316125" y="2599629"/>
            <a:ext cx="6577236" cy="1777126"/>
          </a:xfrm>
          <a:prstGeom prst="roundRect">
            <a:avLst>
              <a:gd name="adj" fmla="val 4684"/>
            </a:avLst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cxnSp>
        <p:nvCxnSpPr>
          <p:cNvPr id="28" name="Gerader Verbinder 27">
            <a:extLst>
              <a:ext uri="{FF2B5EF4-FFF2-40B4-BE49-F238E27FC236}">
                <a16:creationId xmlns:a16="http://schemas.microsoft.com/office/drawing/2014/main" id="{6F1ADA7F-BB80-2D51-C27D-9FB1D435B5B3}"/>
              </a:ext>
            </a:extLst>
          </p:cNvPr>
          <p:cNvCxnSpPr>
            <a:cxnSpLocks/>
          </p:cNvCxnSpPr>
          <p:nvPr/>
        </p:nvCxnSpPr>
        <p:spPr>
          <a:xfrm flipH="1" flipV="1">
            <a:off x="3520303" y="3505200"/>
            <a:ext cx="1823222" cy="854075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583514018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E1B77F-1493-B420-31E1-6F6694198D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ußzeilenplatzhalter 1">
            <a:extLst>
              <a:ext uri="{FF2B5EF4-FFF2-40B4-BE49-F238E27FC236}">
                <a16:creationId xmlns:a16="http://schemas.microsoft.com/office/drawing/2014/main" id="{A9B953BC-1ACB-05C2-EFEB-78DEA9943AFA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dirty="0">
                <a:solidFill>
                  <a:srgbClr val="64378C"/>
                </a:solidFill>
              </a:rPr>
              <a:t>Rust's Approach to Memory Safety</a:t>
            </a:r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0FF458EB-6444-9435-FCFE-A5F4DDCA80CB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 algn="ctr"/>
            <a:fld id="{5F85D455-7770-4F98-B944-71C158B4E906}" type="slidenum">
              <a:rPr lang="en-US" smtClean="0"/>
              <a:pPr algn="ctr"/>
              <a:t>29</a:t>
            </a:fld>
            <a:endParaRPr lang="en-US" dirty="0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E3928500-BCEE-1FAD-F0F9-F22309C50CB4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de-DE" dirty="0"/>
              <a:t>Rust</a:t>
            </a:r>
            <a:r>
              <a:rPr lang="en-US" dirty="0"/>
              <a:t>’s Approach</a:t>
            </a:r>
            <a:endParaRPr lang="de-DE" dirty="0"/>
          </a:p>
        </p:txBody>
      </p:sp>
      <p:sp>
        <p:nvSpPr>
          <p:cNvPr id="9" name="Inhaltsplatzhalter 4">
            <a:extLst>
              <a:ext uri="{FF2B5EF4-FFF2-40B4-BE49-F238E27FC236}">
                <a16:creationId xmlns:a16="http://schemas.microsoft.com/office/drawing/2014/main" id="{B9A6D249-7753-321C-2C11-11DE7B68B4CA}"/>
              </a:ext>
            </a:extLst>
          </p:cNvPr>
          <p:cNvSpPr txBox="1">
            <a:spLocks/>
          </p:cNvSpPr>
          <p:nvPr/>
        </p:nvSpPr>
        <p:spPr>
          <a:xfrm>
            <a:off x="1203513" y="941294"/>
            <a:ext cx="9856694" cy="67349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3600" dirty="0"/>
              <a:t>Runtime Bounds Checking</a:t>
            </a:r>
            <a:r>
              <a:rPr lang="en-US" sz="1200" baseline="-25000" dirty="0"/>
              <a:t>[11]</a:t>
            </a:r>
            <a:endParaRPr lang="en-US" baseline="-25000" dirty="0"/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0E33C518-C47D-A258-A744-224B0DD4EF99}"/>
              </a:ext>
            </a:extLst>
          </p:cNvPr>
          <p:cNvSpPr txBox="1"/>
          <p:nvPr/>
        </p:nvSpPr>
        <p:spPr>
          <a:xfrm>
            <a:off x="1092200" y="5899150"/>
            <a:ext cx="964228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800" dirty="0"/>
              <a:t>[11] </a:t>
            </a:r>
            <a:r>
              <a:rPr lang="de-DE" sz="800" dirty="0">
                <a:hlinkClick r:id="rId3"/>
              </a:rPr>
              <a:t>https://doc.rust-lang.org/reference/panic.html</a:t>
            </a:r>
            <a:endParaRPr lang="de-DE" sz="800" dirty="0"/>
          </a:p>
          <a:p>
            <a:r>
              <a:rPr lang="de-DE" sz="800" dirty="0"/>
              <a:t>[12] </a:t>
            </a:r>
            <a:r>
              <a:rPr lang="de-DE" sz="800" dirty="0">
                <a:hlinkClick r:id="rId4"/>
              </a:rPr>
              <a:t>https://doc.rust-lang.org/book/img/ferris/panics.svg</a:t>
            </a:r>
            <a:r>
              <a:rPr lang="de-DE" sz="800" dirty="0"/>
              <a:t> </a:t>
            </a:r>
            <a:endParaRPr lang="en-US" sz="800" dirty="0"/>
          </a:p>
        </p:txBody>
      </p:sp>
      <p:sp>
        <p:nvSpPr>
          <p:cNvPr id="8" name="Rechteck 7">
            <a:extLst>
              <a:ext uri="{FF2B5EF4-FFF2-40B4-BE49-F238E27FC236}">
                <a16:creationId xmlns:a16="http://schemas.microsoft.com/office/drawing/2014/main" id="{BA8143AE-0B09-581C-76E7-91A0A2AC196E}"/>
              </a:ext>
            </a:extLst>
          </p:cNvPr>
          <p:cNvSpPr/>
          <p:nvPr/>
        </p:nvSpPr>
        <p:spPr>
          <a:xfrm>
            <a:off x="-1" y="5227320"/>
            <a:ext cx="8823961" cy="689386"/>
          </a:xfrm>
          <a:prstGeom prst="rect">
            <a:avLst/>
          </a:prstGeom>
          <a:solidFill>
            <a:srgbClr val="64378C">
              <a:alpha val="5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b="1" dirty="0"/>
              <a:t>Rust checks array bounds during runtime when accessing indices.</a:t>
            </a:r>
          </a:p>
          <a:p>
            <a:pPr algn="ctr"/>
            <a:r>
              <a:rPr lang="en-US" sz="2000" b="1" dirty="0"/>
              <a:t>If a bound is violated, a predefined panic handler is called.</a:t>
            </a:r>
          </a:p>
        </p:txBody>
      </p:sp>
      <p:sp>
        <p:nvSpPr>
          <p:cNvPr id="10" name="Pfeil: nach rechts 9">
            <a:extLst>
              <a:ext uri="{FF2B5EF4-FFF2-40B4-BE49-F238E27FC236}">
                <a16:creationId xmlns:a16="http://schemas.microsoft.com/office/drawing/2014/main" id="{85AD2AD2-7453-F0B2-5666-5EBD3D278C77}"/>
              </a:ext>
            </a:extLst>
          </p:cNvPr>
          <p:cNvSpPr/>
          <p:nvPr/>
        </p:nvSpPr>
        <p:spPr>
          <a:xfrm>
            <a:off x="79567" y="5419903"/>
            <a:ext cx="438145" cy="267476"/>
          </a:xfrm>
          <a:prstGeom prst="rightArrow">
            <a:avLst/>
          </a:prstGeom>
          <a:solidFill>
            <a:srgbClr val="64378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13" name="Grafik 12">
            <a:extLst>
              <a:ext uri="{FF2B5EF4-FFF2-40B4-BE49-F238E27FC236}">
                <a16:creationId xmlns:a16="http://schemas.microsoft.com/office/drawing/2014/main" id="{059BAA90-5A24-22CF-9BA2-0FEFD6F2396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2262075" y="1320232"/>
            <a:ext cx="5812155" cy="3897563"/>
          </a:xfrm>
          <a:prstGeom prst="rect">
            <a:avLst/>
          </a:prstGeom>
        </p:spPr>
      </p:pic>
      <p:pic>
        <p:nvPicPr>
          <p:cNvPr id="15" name="Grafik 14">
            <a:extLst>
              <a:ext uri="{FF2B5EF4-FFF2-40B4-BE49-F238E27FC236}">
                <a16:creationId xmlns:a16="http://schemas.microsoft.com/office/drawing/2014/main" id="{98B752FC-4C68-94EA-6444-2177433DE3E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6567487" y="2400366"/>
            <a:ext cx="5076825" cy="1447800"/>
          </a:xfrm>
          <a:prstGeom prst="rect">
            <a:avLst/>
          </a:prstGeom>
        </p:spPr>
      </p:pic>
      <p:sp>
        <p:nvSpPr>
          <p:cNvPr id="16" name="Rechteck: abgerundete Ecken 15">
            <a:extLst>
              <a:ext uri="{FF2B5EF4-FFF2-40B4-BE49-F238E27FC236}">
                <a16:creationId xmlns:a16="http://schemas.microsoft.com/office/drawing/2014/main" id="{3C402BEF-2240-B81F-119F-3E2EA29D4D50}"/>
              </a:ext>
            </a:extLst>
          </p:cNvPr>
          <p:cNvSpPr/>
          <p:nvPr/>
        </p:nvSpPr>
        <p:spPr>
          <a:xfrm>
            <a:off x="7094219" y="2834194"/>
            <a:ext cx="4152901" cy="673498"/>
          </a:xfrm>
          <a:prstGeom prst="roundRect">
            <a:avLst>
              <a:gd name="adj" fmla="val 4684"/>
            </a:avLst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pic>
        <p:nvPicPr>
          <p:cNvPr id="7" name="Grafik 6">
            <a:extLst>
              <a:ext uri="{FF2B5EF4-FFF2-40B4-BE49-F238E27FC236}">
                <a16:creationId xmlns:a16="http://schemas.microsoft.com/office/drawing/2014/main" id="{5184F39C-5A0A-F1C5-9E88-9EA666C9008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1443389" y="1790137"/>
            <a:ext cx="1647567" cy="1087279"/>
          </a:xfrm>
          <a:prstGeom prst="rect">
            <a:avLst/>
          </a:prstGeom>
        </p:spPr>
      </p:pic>
      <p:sp>
        <p:nvSpPr>
          <p:cNvPr id="17" name="Textfeld 16">
            <a:extLst>
              <a:ext uri="{FF2B5EF4-FFF2-40B4-BE49-F238E27FC236}">
                <a16:creationId xmlns:a16="http://schemas.microsoft.com/office/drawing/2014/main" id="{24681EF4-5C26-7F67-A777-B9A86777CF63}"/>
              </a:ext>
            </a:extLst>
          </p:cNvPr>
          <p:cNvSpPr txBox="1"/>
          <p:nvPr/>
        </p:nvSpPr>
        <p:spPr>
          <a:xfrm>
            <a:off x="1280024" y="2557195"/>
            <a:ext cx="45531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200" dirty="0"/>
              <a:t>[12]</a:t>
            </a:r>
            <a:endParaRPr lang="en-US" sz="1200" dirty="0"/>
          </a:p>
        </p:txBody>
      </p:sp>
      <p:cxnSp>
        <p:nvCxnSpPr>
          <p:cNvPr id="18" name="Gerader Verbinder 17">
            <a:extLst>
              <a:ext uri="{FF2B5EF4-FFF2-40B4-BE49-F238E27FC236}">
                <a16:creationId xmlns:a16="http://schemas.microsoft.com/office/drawing/2014/main" id="{0EE4FC89-E594-155F-97A3-0CB91B8A01E6}"/>
              </a:ext>
            </a:extLst>
          </p:cNvPr>
          <p:cNvCxnSpPr>
            <a:cxnSpLocks/>
          </p:cNvCxnSpPr>
          <p:nvPr/>
        </p:nvCxnSpPr>
        <p:spPr>
          <a:xfrm flipH="1" flipV="1">
            <a:off x="5055234" y="2428875"/>
            <a:ext cx="2042160" cy="1064295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Gerader Verbinder 20">
            <a:extLst>
              <a:ext uri="{FF2B5EF4-FFF2-40B4-BE49-F238E27FC236}">
                <a16:creationId xmlns:a16="http://schemas.microsoft.com/office/drawing/2014/main" id="{BDA008C8-38E1-5997-BE67-F5631922E1C2}"/>
              </a:ext>
            </a:extLst>
          </p:cNvPr>
          <p:cNvCxnSpPr>
            <a:cxnSpLocks/>
          </p:cNvCxnSpPr>
          <p:nvPr/>
        </p:nvCxnSpPr>
        <p:spPr>
          <a:xfrm flipH="1" flipV="1">
            <a:off x="5052059" y="2228837"/>
            <a:ext cx="2042160" cy="622717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68060313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ußzeilenplatzhalter 1">
            <a:extLst>
              <a:ext uri="{FF2B5EF4-FFF2-40B4-BE49-F238E27FC236}">
                <a16:creationId xmlns:a16="http://schemas.microsoft.com/office/drawing/2014/main" id="{056FAE34-0797-2F7D-B0FA-A9C6350A8C4A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>
                <a:solidFill>
                  <a:srgbClr val="64378C"/>
                </a:solidFill>
              </a:rPr>
              <a:t>Rust's Approach to Memory Safety</a:t>
            </a:r>
            <a:endParaRPr lang="en-US" dirty="0">
              <a:solidFill>
                <a:srgbClr val="64378C"/>
              </a:solidFill>
            </a:endParaRPr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D14BC643-0034-E3EE-1A30-76F145C59A2E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 algn="ctr"/>
            <a:fld id="{5F85D455-7770-4F98-B944-71C158B4E906}" type="slidenum">
              <a:rPr lang="en-US" smtClean="0"/>
              <a:pPr algn="ctr"/>
              <a:t>30</a:t>
            </a:fld>
            <a:endParaRPr lang="en-US" dirty="0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83E749CE-5230-159E-DB93-CAC1063CECD0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de-DE" dirty="0" err="1"/>
              <a:t>Conclusion</a:t>
            </a:r>
            <a:endParaRPr lang="de-DE" dirty="0"/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CC745DA5-8883-5CEA-5754-257EF94A415F}"/>
              </a:ext>
            </a:extLst>
          </p:cNvPr>
          <p:cNvSpPr txBox="1"/>
          <p:nvPr/>
        </p:nvSpPr>
        <p:spPr>
          <a:xfrm>
            <a:off x="1092200" y="5899150"/>
            <a:ext cx="964228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800" dirty="0"/>
              <a:t>[13] </a:t>
            </a:r>
            <a:r>
              <a:rPr lang="de-DE" sz="800" dirty="0">
                <a:hlinkClick r:id="rId3"/>
              </a:rPr>
              <a:t>https://doc.rust-lang.org/reference/unsafety.html</a:t>
            </a:r>
            <a:r>
              <a:rPr lang="de-DE" sz="800" dirty="0"/>
              <a:t> </a:t>
            </a:r>
          </a:p>
          <a:p>
            <a:r>
              <a:rPr lang="de-DE" sz="800" dirty="0"/>
              <a:t>[14] </a:t>
            </a:r>
            <a:r>
              <a:rPr lang="de-DE" sz="800" dirty="0">
                <a:hlinkClick r:id="rId4"/>
              </a:rPr>
              <a:t>https://plv.mpi-sws.org/rustbelt/popl18/paper.pdf</a:t>
            </a:r>
            <a:r>
              <a:rPr lang="de-DE" sz="800" dirty="0"/>
              <a:t> </a:t>
            </a:r>
          </a:p>
          <a:p>
            <a:r>
              <a:rPr lang="de-DE" sz="800" dirty="0"/>
              <a:t>[15] </a:t>
            </a:r>
            <a:r>
              <a:rPr lang="de-DE" sz="800" dirty="0">
                <a:hlinkClick r:id="rId5"/>
              </a:rPr>
              <a:t>https://security.googleblog.com/2024/09/eliminating-memory-safety-vulnerabilities-Android.html</a:t>
            </a:r>
            <a:r>
              <a:rPr lang="de-DE" sz="800" dirty="0"/>
              <a:t> </a:t>
            </a:r>
            <a:endParaRPr lang="en-US" sz="800" dirty="0"/>
          </a:p>
        </p:txBody>
      </p:sp>
      <p:grpSp>
        <p:nvGrpSpPr>
          <p:cNvPr id="8" name="Gruppieren 7">
            <a:extLst>
              <a:ext uri="{FF2B5EF4-FFF2-40B4-BE49-F238E27FC236}">
                <a16:creationId xmlns:a16="http://schemas.microsoft.com/office/drawing/2014/main" id="{10CD3710-E39A-F529-A783-9D12E6167E82}"/>
              </a:ext>
            </a:extLst>
          </p:cNvPr>
          <p:cNvGrpSpPr/>
          <p:nvPr/>
        </p:nvGrpSpPr>
        <p:grpSpPr>
          <a:xfrm>
            <a:off x="5673779" y="1691715"/>
            <a:ext cx="5238512" cy="3681087"/>
            <a:chOff x="5828420" y="958850"/>
            <a:chExt cx="5238512" cy="3681087"/>
          </a:xfrm>
        </p:grpSpPr>
        <p:pic>
          <p:nvPicPr>
            <p:cNvPr id="5" name="Grafik 4">
              <a:extLst>
                <a:ext uri="{FF2B5EF4-FFF2-40B4-BE49-F238E27FC236}">
                  <a16:creationId xmlns:a16="http://schemas.microsoft.com/office/drawing/2014/main" id="{D794A068-C096-039C-202B-7DEC5815C86C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828420" y="958850"/>
              <a:ext cx="5238512" cy="3239147"/>
            </a:xfrm>
            <a:prstGeom prst="rect">
              <a:avLst/>
            </a:prstGeom>
          </p:spPr>
        </p:pic>
        <p:sp>
          <p:nvSpPr>
            <p:cNvPr id="7" name="Textfeld 6">
              <a:extLst>
                <a:ext uri="{FF2B5EF4-FFF2-40B4-BE49-F238E27FC236}">
                  <a16:creationId xmlns:a16="http://schemas.microsoft.com/office/drawing/2014/main" id="{4AC09AAB-05CB-18C5-FFE1-5927ED9A76B7}"/>
                </a:ext>
              </a:extLst>
            </p:cNvPr>
            <p:cNvSpPr txBox="1"/>
            <p:nvPr/>
          </p:nvSpPr>
          <p:spPr>
            <a:xfrm>
              <a:off x="6215244" y="4116717"/>
              <a:ext cx="4464863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400" dirty="0"/>
                <a:t>Google safety statistics showing the number of memory safety vulnerabilities over a six-year period</a:t>
              </a:r>
              <a:r>
                <a:rPr lang="en-US" sz="1200" baseline="-25000" dirty="0"/>
                <a:t>[15]</a:t>
              </a:r>
              <a:endParaRPr lang="en-US" sz="1400" baseline="-25000" dirty="0"/>
            </a:p>
          </p:txBody>
        </p:sp>
      </p:grpSp>
      <p:sp>
        <p:nvSpPr>
          <p:cNvPr id="9" name="Textfeld 8">
            <a:extLst>
              <a:ext uri="{FF2B5EF4-FFF2-40B4-BE49-F238E27FC236}">
                <a16:creationId xmlns:a16="http://schemas.microsoft.com/office/drawing/2014/main" id="{65537352-2D67-C762-E377-3CEE6208F5CC}"/>
              </a:ext>
            </a:extLst>
          </p:cNvPr>
          <p:cNvSpPr txBox="1"/>
          <p:nvPr/>
        </p:nvSpPr>
        <p:spPr>
          <a:xfrm>
            <a:off x="632011" y="1745507"/>
            <a:ext cx="5041768" cy="129266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dirty="0"/>
              <a:t>Reality Check:</a:t>
            </a:r>
          </a:p>
          <a:p>
            <a:pPr marL="285750" indent="-285750">
              <a:buClr>
                <a:srgbClr val="FF0000"/>
              </a:buClr>
              <a:buFont typeface="Symbol" panose="05050102010706020507" pitchFamily="18" charset="2"/>
              <a:buChar char="-"/>
            </a:pPr>
            <a:r>
              <a:rPr lang="en-US" dirty="0"/>
              <a:t>It is still possible to write unsafe code in Rust</a:t>
            </a:r>
            <a:r>
              <a:rPr lang="en-US" sz="1200" baseline="-25000" dirty="0"/>
              <a:t>[13]</a:t>
            </a:r>
            <a:endParaRPr lang="en-US" baseline="-25000" dirty="0"/>
          </a:p>
          <a:p>
            <a:pPr marL="285750" indent="-285750">
              <a:buClr>
                <a:srgbClr val="FF0000"/>
              </a:buClr>
              <a:buFont typeface="Symbol" panose="05050102010706020507" pitchFamily="18" charset="2"/>
              <a:buChar char="-"/>
            </a:pPr>
            <a:r>
              <a:rPr lang="en-US" dirty="0"/>
              <a:t>Rust's programming concepts take longer for developers to learn</a:t>
            </a:r>
          </a:p>
        </p:txBody>
      </p:sp>
      <p:sp>
        <p:nvSpPr>
          <p:cNvPr id="10" name="Inhaltsplatzhalter 4">
            <a:extLst>
              <a:ext uri="{FF2B5EF4-FFF2-40B4-BE49-F238E27FC236}">
                <a16:creationId xmlns:a16="http://schemas.microsoft.com/office/drawing/2014/main" id="{DBC118BD-C71A-A907-EABE-4EE0319AF21D}"/>
              </a:ext>
            </a:extLst>
          </p:cNvPr>
          <p:cNvSpPr txBox="1">
            <a:spLocks/>
          </p:cNvSpPr>
          <p:nvPr/>
        </p:nvSpPr>
        <p:spPr>
          <a:xfrm>
            <a:off x="1203513" y="941294"/>
            <a:ext cx="9856694" cy="67349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3600" dirty="0"/>
              <a:t>Conclusion</a:t>
            </a:r>
            <a:endParaRPr lang="en-US" baseline="-25000" dirty="0"/>
          </a:p>
        </p:txBody>
      </p:sp>
      <p:sp>
        <p:nvSpPr>
          <p:cNvPr id="11" name="Textfeld 10">
            <a:extLst>
              <a:ext uri="{FF2B5EF4-FFF2-40B4-BE49-F238E27FC236}">
                <a16:creationId xmlns:a16="http://schemas.microsoft.com/office/drawing/2014/main" id="{597F0AE2-6E85-77D7-AED9-7C3515CF5899}"/>
              </a:ext>
            </a:extLst>
          </p:cNvPr>
          <p:cNvSpPr txBox="1"/>
          <p:nvPr/>
        </p:nvSpPr>
        <p:spPr>
          <a:xfrm>
            <a:off x="632010" y="3317196"/>
            <a:ext cx="4914901" cy="184665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dirty="0"/>
              <a:t>…but </a:t>
            </a:r>
            <a:r>
              <a:rPr lang="de-DE" sz="2400" dirty="0" err="1"/>
              <a:t>there</a:t>
            </a:r>
            <a:r>
              <a:rPr lang="de-DE" sz="2400" dirty="0"/>
              <a:t> </a:t>
            </a:r>
            <a:r>
              <a:rPr lang="de-DE" sz="2400" dirty="0" err="1"/>
              <a:t>are</a:t>
            </a:r>
            <a:r>
              <a:rPr lang="de-DE" sz="2400" dirty="0"/>
              <a:t> </a:t>
            </a:r>
            <a:r>
              <a:rPr lang="de-DE" sz="2400" dirty="0" err="1"/>
              <a:t>enormous</a:t>
            </a:r>
            <a:r>
              <a:rPr lang="de-DE" sz="2400" dirty="0"/>
              <a:t> Benefits:</a:t>
            </a:r>
          </a:p>
          <a:p>
            <a:pPr marL="285750" indent="-285750">
              <a:buClr>
                <a:srgbClr val="00B050"/>
              </a:buClr>
              <a:buFont typeface="Aptos" panose="020B0004020202020204" pitchFamily="34" charset="0"/>
              <a:buChar char="+"/>
            </a:pPr>
            <a:r>
              <a:rPr lang="en-US" dirty="0"/>
              <a:t>There is theoretical evidence that some major memory safety issues can be completely avoided thanks to Rust's design</a:t>
            </a:r>
            <a:r>
              <a:rPr lang="en-US" sz="1200" baseline="-25000" dirty="0"/>
              <a:t>[14]</a:t>
            </a:r>
          </a:p>
          <a:p>
            <a:pPr marL="285750" indent="-285750">
              <a:buClr>
                <a:srgbClr val="00B050"/>
              </a:buClr>
              <a:buFont typeface="Aptos" panose="020B0004020202020204" pitchFamily="34" charset="0"/>
              <a:buChar char="+"/>
            </a:pPr>
            <a:r>
              <a:rPr lang="en-US" dirty="0"/>
              <a:t>In practice, using Rust significantly reduces memory safety vulnerabilities</a:t>
            </a:r>
          </a:p>
        </p:txBody>
      </p:sp>
    </p:spTree>
    <p:extLst>
      <p:ext uri="{BB962C8B-B14F-4D97-AF65-F5344CB8AC3E}">
        <p14:creationId xmlns:p14="http://schemas.microsoft.com/office/powerpoint/2010/main" val="3137577414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ußzeilenplatzhalter 1">
            <a:extLst>
              <a:ext uri="{FF2B5EF4-FFF2-40B4-BE49-F238E27FC236}">
                <a16:creationId xmlns:a16="http://schemas.microsoft.com/office/drawing/2014/main" id="{CFDD8B3B-6315-9C6D-7A4F-6D0BF313C0E9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>
                <a:solidFill>
                  <a:srgbClr val="64378C"/>
                </a:solidFill>
              </a:rPr>
              <a:t>Rust's Approach to Memory Safety</a:t>
            </a:r>
            <a:endParaRPr lang="en-US" dirty="0">
              <a:solidFill>
                <a:srgbClr val="64378C"/>
              </a:solidFill>
            </a:endParaRPr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8CF5934A-B2F9-B274-7329-0A0BCD4C370A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 algn="ctr"/>
            <a:fld id="{5F85D455-7770-4F98-B944-71C158B4E906}" type="slidenum">
              <a:rPr lang="en-US" smtClean="0"/>
              <a:pPr algn="ctr"/>
              <a:t>31</a:t>
            </a:fld>
            <a:endParaRPr lang="en-US" dirty="0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E1A6C0E8-77D6-E2FB-FF7C-2428D6DA17F5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dirty="0"/>
              <a:t>Sources</a:t>
            </a:r>
          </a:p>
        </p:txBody>
      </p:sp>
      <p:sp>
        <p:nvSpPr>
          <p:cNvPr id="5" name="Inhaltsplatzhalter 4">
            <a:extLst>
              <a:ext uri="{FF2B5EF4-FFF2-40B4-BE49-F238E27FC236}">
                <a16:creationId xmlns:a16="http://schemas.microsoft.com/office/drawing/2014/main" id="{A2CA57A1-7E5F-E716-287E-6B6C4DA26166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>
            <a:normAutofit/>
          </a:bodyPr>
          <a:lstStyle/>
          <a:p>
            <a:pPr>
              <a:buFont typeface="+mj-lt"/>
              <a:buAutoNum type="arabicPeriod"/>
            </a:pPr>
            <a:r>
              <a:rPr lang="en-US" sz="1200" dirty="0">
                <a:hlinkClick r:id="rId2"/>
              </a:rPr>
              <a:t>https://cwe.mitre.org/top25/archive/2025/2025_kev_list.html</a:t>
            </a:r>
            <a:r>
              <a:rPr lang="en-US" sz="1200" dirty="0"/>
              <a:t> [Last Access: 14. May 2026]</a:t>
            </a:r>
          </a:p>
          <a:p>
            <a:pPr>
              <a:buFont typeface="+mj-lt"/>
              <a:buAutoNum type="arabicPeriod"/>
            </a:pPr>
            <a:r>
              <a:rPr lang="en-US" sz="1200" dirty="0">
                <a:hlinkClick r:id="rId3"/>
              </a:rPr>
              <a:t>https://cwe.mitre.org/data/definitions/416.html</a:t>
            </a:r>
            <a:r>
              <a:rPr lang="en-US" sz="1200" dirty="0"/>
              <a:t> [Last Access: 14. May 2026]</a:t>
            </a:r>
          </a:p>
          <a:p>
            <a:pPr>
              <a:buFont typeface="+mj-lt"/>
              <a:buAutoNum type="arabicPeriod"/>
            </a:pPr>
            <a:r>
              <a:rPr lang="en-US" sz="1200" dirty="0">
                <a:hlinkClick r:id="rId4"/>
              </a:rPr>
              <a:t>http://cwe.mitre.org/data/definitions/787.html</a:t>
            </a:r>
            <a:r>
              <a:rPr lang="en-US" sz="1200" dirty="0"/>
              <a:t> [Last Access: 14. May 2026]</a:t>
            </a:r>
          </a:p>
          <a:p>
            <a:pPr>
              <a:buFont typeface="+mj-lt"/>
              <a:buAutoNum type="arabicPeriod"/>
            </a:pPr>
            <a:r>
              <a:rPr lang="de-DE" sz="1200" dirty="0">
                <a:hlinkClick r:id="rId5"/>
              </a:rPr>
              <a:t>https://cwe.mitre.org/top25/archive/2025/2025_kev_insights.html#2025_kev_pie</a:t>
            </a:r>
            <a:r>
              <a:rPr lang="de-DE" sz="1200" dirty="0"/>
              <a:t> </a:t>
            </a:r>
            <a:r>
              <a:rPr lang="en-US" sz="1200" dirty="0"/>
              <a:t>[Last Access: 17. May 2026]</a:t>
            </a:r>
          </a:p>
          <a:p>
            <a:pPr>
              <a:buFont typeface="+mj-lt"/>
              <a:buAutoNum type="arabicPeriod"/>
            </a:pPr>
            <a:r>
              <a:rPr lang="de-DE" sz="1200" dirty="0">
                <a:hlinkClick r:id="rId6"/>
              </a:rPr>
              <a:t>https://ieeexplore.ieee.org/document/6547101</a:t>
            </a:r>
            <a:r>
              <a:rPr lang="de-DE" sz="1200" dirty="0"/>
              <a:t> </a:t>
            </a:r>
            <a:r>
              <a:rPr lang="en-US" sz="1200" dirty="0"/>
              <a:t>[Last Access: 17. May 2026]</a:t>
            </a:r>
          </a:p>
          <a:p>
            <a:pPr>
              <a:buFont typeface="+mj-lt"/>
              <a:buAutoNum type="arabicPeriod"/>
            </a:pPr>
            <a:r>
              <a:rPr lang="en-US" sz="1200" dirty="0">
                <a:hlinkClick r:id="rId7"/>
              </a:rPr>
              <a:t>https://survey.stackoverflow.co/2025/technology/#2-programming-scripting-and-markup-languages</a:t>
            </a:r>
            <a:r>
              <a:rPr lang="en-US" sz="1200" dirty="0"/>
              <a:t> [Last Access: 18. May 2026]</a:t>
            </a:r>
          </a:p>
          <a:p>
            <a:pPr>
              <a:buFont typeface="+mj-lt"/>
              <a:buAutoNum type="arabicPeriod"/>
            </a:pPr>
            <a:r>
              <a:rPr lang="de-DE" sz="1200" dirty="0">
                <a:hlinkClick r:id="rId8"/>
              </a:rPr>
              <a:t>https://doc.rust-lang.org/book/ch04-01-what-is-ownership.html</a:t>
            </a:r>
            <a:r>
              <a:rPr lang="de-DE" sz="1200" dirty="0"/>
              <a:t> [</a:t>
            </a:r>
            <a:r>
              <a:rPr lang="en-US" sz="1200" dirty="0"/>
              <a:t>Last Access: 21. May 2026]</a:t>
            </a:r>
          </a:p>
          <a:p>
            <a:pPr>
              <a:buFont typeface="+mj-lt"/>
              <a:buAutoNum type="arabicPeriod"/>
            </a:pPr>
            <a:r>
              <a:rPr lang="de-DE" sz="1200" dirty="0">
                <a:hlinkClick r:id="rId9"/>
              </a:rPr>
              <a:t>https://doc.rust-lang.org/book/ch04-02-references-and-borrowing.html</a:t>
            </a:r>
            <a:r>
              <a:rPr lang="de-DE" sz="1200" dirty="0"/>
              <a:t> [Last Access: 22.May 2026]</a:t>
            </a:r>
          </a:p>
          <a:p>
            <a:pPr>
              <a:buFont typeface="+mj-lt"/>
              <a:buAutoNum type="arabicPeriod"/>
            </a:pPr>
            <a:r>
              <a:rPr lang="de-DE" sz="1200" dirty="0">
                <a:hlinkClick r:id="rId10"/>
              </a:rPr>
              <a:t>https://doc.rust-lang.org/book/ch10-03-lifetime-syntax.html</a:t>
            </a:r>
            <a:r>
              <a:rPr lang="de-DE" sz="1200" dirty="0"/>
              <a:t> [Last Access: 22.May 2026]</a:t>
            </a:r>
          </a:p>
          <a:p>
            <a:pPr>
              <a:buFont typeface="+mj-lt"/>
              <a:buAutoNum type="arabicPeriod"/>
            </a:pPr>
            <a:r>
              <a:rPr lang="de-DE" sz="1200" dirty="0">
                <a:hlinkClick r:id="rId11"/>
              </a:rPr>
              <a:t>https://doc.rust-lang.org/book/img/ferris/does_not_compile.svg</a:t>
            </a:r>
            <a:r>
              <a:rPr lang="de-DE" sz="1200" dirty="0"/>
              <a:t> [Last Access: 22.May 2026]</a:t>
            </a:r>
          </a:p>
          <a:p>
            <a:pPr>
              <a:buFont typeface="+mj-lt"/>
              <a:buAutoNum type="arabicPeriod"/>
            </a:pPr>
            <a:r>
              <a:rPr lang="de-DE" sz="1200" dirty="0">
                <a:hlinkClick r:id="rId12"/>
              </a:rPr>
              <a:t>https://doc.rust-lang.org/reference/panic.html</a:t>
            </a:r>
            <a:r>
              <a:rPr lang="de-DE" sz="1200" dirty="0"/>
              <a:t> [Last Access: 22.May 2026]</a:t>
            </a:r>
          </a:p>
          <a:p>
            <a:pPr>
              <a:buFont typeface="+mj-lt"/>
              <a:buAutoNum type="arabicPeriod"/>
            </a:pPr>
            <a:r>
              <a:rPr lang="de-DE" sz="1200" dirty="0">
                <a:hlinkClick r:id="rId13"/>
              </a:rPr>
              <a:t>https://doc.rust-lang.org/book/img/ferris/panics.svg</a:t>
            </a:r>
            <a:r>
              <a:rPr lang="de-DE" sz="1200" dirty="0"/>
              <a:t> [Last Access: 22.May 2026]</a:t>
            </a:r>
          </a:p>
          <a:p>
            <a:pPr>
              <a:buFont typeface="+mj-lt"/>
              <a:buAutoNum type="arabicPeriod"/>
            </a:pPr>
            <a:r>
              <a:rPr lang="de-DE" sz="1200" dirty="0">
                <a:hlinkClick r:id="rId14"/>
              </a:rPr>
              <a:t>https://doc.rust-lang.org/reference/unsafety.html</a:t>
            </a:r>
            <a:r>
              <a:rPr lang="de-DE" sz="1200" dirty="0"/>
              <a:t> [Last Access: 22.May 2026]</a:t>
            </a:r>
          </a:p>
          <a:p>
            <a:pPr>
              <a:buFont typeface="+mj-lt"/>
              <a:buAutoNum type="arabicPeriod"/>
            </a:pPr>
            <a:r>
              <a:rPr lang="de-DE" sz="1200" dirty="0">
                <a:hlinkClick r:id="rId15"/>
              </a:rPr>
              <a:t>https://plv.mpi-sws.org/rustbelt/popl18/paper.pdf</a:t>
            </a:r>
            <a:r>
              <a:rPr lang="de-DE" sz="1200" dirty="0"/>
              <a:t> [Last Access: 22.May 2026]</a:t>
            </a:r>
          </a:p>
          <a:p>
            <a:pPr>
              <a:buFont typeface="+mj-lt"/>
              <a:buAutoNum type="arabicPeriod"/>
            </a:pPr>
            <a:r>
              <a:rPr lang="de-DE" sz="1200" dirty="0">
                <a:hlinkClick r:id="rId16"/>
              </a:rPr>
              <a:t>https://security.googleblog.com/2024/09/eliminating-memory-safety-vulnerabilities-Android.html</a:t>
            </a:r>
            <a:r>
              <a:rPr lang="de-DE" sz="1200" dirty="0"/>
              <a:t> [Last Access: 22.May 2026]</a:t>
            </a:r>
          </a:p>
          <a:p>
            <a:pPr>
              <a:buFont typeface="+mj-lt"/>
              <a:buAutoNum type="arabicPeriod"/>
            </a:pPr>
            <a:endParaRPr lang="en-US" sz="1200" dirty="0"/>
          </a:p>
          <a:p>
            <a:pPr>
              <a:buFont typeface="+mj-lt"/>
              <a:buAutoNum type="arabicPeriod"/>
            </a:pPr>
            <a:endParaRPr lang="en-US" sz="1200" dirty="0"/>
          </a:p>
          <a:p>
            <a:pPr>
              <a:buFont typeface="+mj-lt"/>
              <a:buAutoNum type="arabicPeriod"/>
            </a:pPr>
            <a:endParaRPr lang="en-US" sz="1200" dirty="0"/>
          </a:p>
          <a:p>
            <a:pPr>
              <a:buFont typeface="+mj-lt"/>
              <a:buAutoNum type="arabicPeriod"/>
            </a:pPr>
            <a:endParaRPr lang="en-US" sz="1200" dirty="0"/>
          </a:p>
          <a:p>
            <a:pPr>
              <a:buFont typeface="+mj-lt"/>
              <a:buAutoNum type="arabicPeriod"/>
            </a:pPr>
            <a:endParaRPr lang="en-US" sz="1200" dirty="0"/>
          </a:p>
          <a:p>
            <a:pPr>
              <a:buFont typeface="+mj-lt"/>
              <a:buAutoNum type="arabicPeriod"/>
            </a:pPr>
            <a:endParaRPr lang="en-US" sz="1200" dirty="0"/>
          </a:p>
          <a:p>
            <a:pPr>
              <a:buFont typeface="+mj-lt"/>
              <a:buAutoNum type="arabicPeriod"/>
            </a:pPr>
            <a:endParaRPr lang="en-US" sz="1200" dirty="0"/>
          </a:p>
          <a:p>
            <a:pPr>
              <a:buFont typeface="+mj-lt"/>
              <a:buAutoNum type="arabicPeriod"/>
            </a:pPr>
            <a:endParaRPr lang="en-US" sz="1200" dirty="0"/>
          </a:p>
          <a:p>
            <a:pPr>
              <a:buFont typeface="+mj-lt"/>
              <a:buAutoNum type="arabicPeriod"/>
            </a:pPr>
            <a:endParaRPr lang="en-US" sz="1200" dirty="0"/>
          </a:p>
        </p:txBody>
      </p:sp>
    </p:spTree>
    <p:extLst>
      <p:ext uri="{BB962C8B-B14F-4D97-AF65-F5344CB8AC3E}">
        <p14:creationId xmlns:p14="http://schemas.microsoft.com/office/powerpoint/2010/main" val="2402372695"/>
      </p:ext>
    </p:extLst>
  </p:cSld>
  <p:clrMapOvr>
    <a:masterClrMapping/>
  </p:clrMapOvr>
</p:sld>
</file>

<file path=ppt/theme/theme1.xml><?xml version="1.0" encoding="utf-8"?>
<a:theme xmlns:a="http://schemas.openxmlformats.org/drawingml/2006/main" name="Memory_Safety_Rust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5839</Words>
  <Application>Microsoft Office PowerPoint</Application>
  <PresentationFormat>Breitbild</PresentationFormat>
  <Paragraphs>661</Paragraphs>
  <Slides>31</Slides>
  <Notes>30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6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31</vt:i4>
      </vt:variant>
    </vt:vector>
  </HeadingPairs>
  <TitlesOfParts>
    <vt:vector size="38" baseType="lpstr">
      <vt:lpstr>Aptos</vt:lpstr>
      <vt:lpstr>Aptos Display</vt:lpstr>
      <vt:lpstr>Arial</vt:lpstr>
      <vt:lpstr>Symbol</vt:lpstr>
      <vt:lpstr>Verdana</vt:lpstr>
      <vt:lpstr>Wingdings</vt:lpstr>
      <vt:lpstr>Memory_Safety_Rust</vt:lpstr>
      <vt:lpstr>Rust’s Approach to Memory Safety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David Grandel1</dc:creator>
  <cp:lastModifiedBy>Grandel, David</cp:lastModifiedBy>
  <cp:revision>54</cp:revision>
  <dcterms:created xsi:type="dcterms:W3CDTF">2025-12-08T16:38:36Z</dcterms:created>
  <dcterms:modified xsi:type="dcterms:W3CDTF">2026-06-09T10:08:21Z</dcterms:modified>
</cp:coreProperties>
</file>