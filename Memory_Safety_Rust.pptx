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58" r:id="rId4"/>
    <p:sldId id="260" r:id="rId5"/>
    <p:sldId id="261" r:id="rId6"/>
    <p:sldId id="277" r:id="rId7"/>
    <p:sldId id="279" r:id="rId8"/>
    <p:sldId id="280" r:id="rId9"/>
    <p:sldId id="281" r:id="rId10"/>
    <p:sldId id="282" r:id="rId11"/>
    <p:sldId id="285" r:id="rId12"/>
    <p:sldId id="286" r:id="rId13"/>
    <p:sldId id="270" r:id="rId14"/>
    <p:sldId id="288" r:id="rId15"/>
    <p:sldId id="289" r:id="rId16"/>
    <p:sldId id="290" r:id="rId17"/>
    <p:sldId id="275" r:id="rId18"/>
    <p:sldId id="274" r:id="rId19"/>
    <p:sldId id="291" r:id="rId20"/>
    <p:sldId id="292" r:id="rId21"/>
    <p:sldId id="295" r:id="rId22"/>
    <p:sldId id="296" r:id="rId23"/>
    <p:sldId id="298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77"/>
            <p14:sldId id="279"/>
            <p14:sldId id="280"/>
            <p14:sldId id="281"/>
            <p14:sldId id="282"/>
            <p14:sldId id="285"/>
            <p14:sldId id="286"/>
            <p14:sldId id="270"/>
            <p14:sldId id="288"/>
            <p14:sldId id="289"/>
            <p14:sldId id="290"/>
            <p14:sldId id="275"/>
            <p14:sldId id="274"/>
          </p14:sldIdLst>
        </p14:section>
        <p14:section name="Rust's Approach" id="{CC0F149F-AD4B-4ECD-91BA-497C65BA172A}">
          <p14:sldIdLst>
            <p14:sldId id="291"/>
            <p14:sldId id="292"/>
            <p14:sldId id="295"/>
            <p14:sldId id="296"/>
            <p14:sldId id="298"/>
            <p14:sldId id="300"/>
            <p14:sldId id="301"/>
            <p14:sldId id="302"/>
            <p14:sldId id="304"/>
            <p14:sldId id="305"/>
            <p14:sldId id="306"/>
          </p14:sldIdLst>
        </p14:section>
        <p14:section name="Conclusion" id="{F88A5424-FC40-434F-9B6E-01A02AB2D8F6}">
          <p14:sldIdLst>
            <p14:sldId id="308"/>
          </p14:sldIdLst>
        </p14:section>
        <p14:section name="Sources" id="{3213A62E-4387-4F50-8DCC-554714B343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7DBAF-C7EC-7C46-E244-4E2F92C2FB56}" name="Grandel, David" initials="DG" userId="S::David.Grandel@vector.com::40bf7d28-782f-45a3-844e-42adf36c9a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5FA3"/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1315" autoAdjust="0"/>
  </p:normalViewPr>
  <p:slideViewPr>
    <p:cSldViewPr snapToGrid="0">
      <p:cViewPr varScale="1">
        <p:scale>
          <a:sx n="34" d="100"/>
          <a:sy n="34" d="100"/>
        </p:scale>
        <p:origin x="1915" y="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2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Begrüßung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Titlefolie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beschäftigen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vorwegnehmen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an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einsteigen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42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in moderner Software?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Systeme,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jemand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Idee, um was für Bugs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Antworten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abwarten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Recherche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gedacht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ausfallen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verursachen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releativ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"Common Weakness Enumeration"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aufgelistet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Konzerne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Microsoft und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rausgegeben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Masse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Beteiligungen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vermutlich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repräsentativste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zugänglich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CWE 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Injection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Command Injection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gut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bösartigen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Argumente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abgesichert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73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Seminararbeit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 Ein Use-After-Free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2 des Rankings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3: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3,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Jahr 2024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Platz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wahrscheinlich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anfangen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Details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45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einschlägigen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gemeinsam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Common Weakness Enumeration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vorlesen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Scores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aufsummiert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Auftretens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Auswirkungen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ziemlich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darzustellen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Exploits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anbietet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39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Definition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offensichtlich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erst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erscheinen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bezeichnet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Out of bounds write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Out of bounds read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Use After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Use of uninitialized Memory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5. Double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abkürzend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zugreift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genannten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Plätzen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616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Use-After-Free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Zusammenhang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um Speicher,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sein,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C++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verbreitet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speicher-unsicheren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angeht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prägnantes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das Use After Free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94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21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407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7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4341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immer der Fall und je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Allokator-Algorithmus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Heap Verwaltung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277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neu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42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9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buffer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allerdings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mittlerweile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hinterlegt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neu an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fatal,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beispielsweise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derartige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schnell, ins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gefreed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98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User-After-Free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riesiges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zugewießen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24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Wert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53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also das Array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annimmt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Wert 99 in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angegebenem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ab in dem die Variable und das Array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Compilerabhängig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GNU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Stack auf den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absteigender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fälshlicherweiße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343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Konsole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99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Funktionespointer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enthält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geschickt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schnell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den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532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hinsichtlicht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Integrätet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verloren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sensible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genauso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Speicher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 Crash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eingeschränkt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Chunk-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Consolidierung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benachbarte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Speicherblöcke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Blöcken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zusammengeführt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Falls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crashen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die Chunk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return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163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geworden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wesentlichen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populärste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Ansatz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Garbage Collector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Python, Java und JavaScript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zuverlässig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ungültige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bemerken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illegal auf den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potentielle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und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 -&gt;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9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Kombination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bislang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kombinierbarer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Herausforderungen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Volle Hardware und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Sicherheit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Entwicklererlebnis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verzichten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herzstück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Entwicklungswerkzeuge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Formatter, Language Server und Paket Manager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Versprechen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Zumindest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stackoverflow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Dort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beliebteste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aufstrebende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72%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vorgestellten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Stück für Stück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715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Menge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 Zeit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in Rust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ab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another_buffer_owner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Wenn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out-of-scope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out of scope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Konstrukte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geschweiften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Klammern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Box::new(...)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Parameter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Scope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Somit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489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Regel 2, also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um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Stack,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Sachverhalt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Heap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Datenmenge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Overhead und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Einbuse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die Frage?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Idee?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096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prinizipiell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pointer_1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pointer_2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Deep Copy: Dabei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Einheit, die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Shallow Copy: Hier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müssen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Move: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der Zeiger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Aufwand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Shallow Copy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Problem,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Zeiger, die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23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standardmäßig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IMMER auf Move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der Speicher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393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nicht immer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überall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nützlich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kümmern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kaufnmännische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increment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var_pointer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in Rust Borrowing -&gt;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Borrowing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inkrementieren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sei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Absicherung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default immutable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unveränderbar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Writer,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Fehlerquelle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Races,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2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sogenannte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Lifetimes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Lifetimes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veranschaulicht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zugriffzeitpunkt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herauszufinden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Variable value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kürzer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832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so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Beispielcode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Speicher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Box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Smart Pointer,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new()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String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nah am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Wert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Wir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drop() auf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untypisch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aufzurufen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Demo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Zwecke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932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beinhaltet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Fehlermeldung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durchgesprochen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detektiert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erlauben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Rust Lifetime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erhält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Vorschlag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schlägt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369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Fehler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Lösungsansätze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Index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Zeile 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Linter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119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Anders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Anfang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das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zugegriffen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anrichten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dies nicht der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Panic Hook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gering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bedingter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Sprung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erzwingen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Panic Handler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650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welches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Memory safe?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ja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nicht alle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Low-Level-Code für Hardware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Praxis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berichtete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 blog 2024,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Einführung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 in Android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memory-safety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76% auf 24%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zurückging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auszuprobieren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ich bin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beantworten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06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9" r:id="rId3"/>
    <p:sldLayoutId id="2147483668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cwe.mitre.org/data/definitions/416.html" TargetMode="External"/><Relationship Id="rId3" Type="http://schemas.openxmlformats.org/officeDocument/2006/relationships/image" Target="../media/image6.svg"/><Relationship Id="rId7" Type="http://schemas.openxmlformats.org/officeDocument/2006/relationships/hyperlink" Target="https://cwe.mitre.org/top25/archive/2025/2025_kev_lis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hyperlink" Target="https://cwe.mitre.org/data/definitions/787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we.mitre.org/top25/archive/2025/2025_kev_insights.html#2025_kev_pi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54710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svg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technology/#2-programming-scripting-and-markup-language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hyperlink" Target="https://doc.rust-lang.org/book/ch04-01-what-is-ownership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svg"/><Relationship Id="rId4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04-02-references-and-borrowing.htm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10-03-lifetime-syntax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svg"/><Relationship Id="rId5" Type="http://schemas.openxmlformats.org/officeDocument/2006/relationships/hyperlink" Target="https://doc.rust-lang.org/book/img/ferris/does_not_compile.svg" TargetMode="External"/><Relationship Id="rId4" Type="http://schemas.openxmlformats.org/officeDocument/2006/relationships/image" Target="../media/image40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panic.html" TargetMode="External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svg"/><Relationship Id="rId5" Type="http://schemas.openxmlformats.org/officeDocument/2006/relationships/image" Target="../media/image43.svg"/><Relationship Id="rId4" Type="http://schemas.openxmlformats.org/officeDocument/2006/relationships/hyperlink" Target="https://doc.rust-lang.org/book/img/ferris/panics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unsafety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hyperlink" Target="https://security.googleblog.com/2024/09/eliminating-memory-safety-vulnerabilities-Android.html" TargetMode="External"/><Relationship Id="rId4" Type="http://schemas.openxmlformats.org/officeDocument/2006/relationships/hyperlink" Target="https://plv.mpi-sws.org/rustbelt/popl18/paper.pdf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13" Type="http://schemas.openxmlformats.org/officeDocument/2006/relationships/hyperlink" Target="https://doc.rust-lang.org/book/img/ferris/panics.svg" TargetMode="External"/><Relationship Id="rId3" Type="http://schemas.openxmlformats.org/officeDocument/2006/relationships/hyperlink" Target="https://cwe.mitre.org/data/definitions/416.html" TargetMode="External"/><Relationship Id="rId7" Type="http://schemas.openxmlformats.org/officeDocument/2006/relationships/hyperlink" Target="https://survey.stackoverflow.co/2025/technology/#2-programming-scripting-and-markup-languages" TargetMode="External"/><Relationship Id="rId12" Type="http://schemas.openxmlformats.org/officeDocument/2006/relationships/hyperlink" Target="https://doc.rust-lang.org/reference/panic.html" TargetMode="External"/><Relationship Id="rId2" Type="http://schemas.openxmlformats.org/officeDocument/2006/relationships/hyperlink" Target="https://cwe.mitre.org/top25/archive/2025/2025_kev_list.html" TargetMode="External"/><Relationship Id="rId16" Type="http://schemas.openxmlformats.org/officeDocument/2006/relationships/hyperlink" Target="https://security.googleblog.com/2024/09/eliminating-memory-safety-vulnerabilities-Android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ieeexplore.ieee.org/document/6547101" TargetMode="External"/><Relationship Id="rId11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hyperlink" Target="https://cwe.mitre.org/top25/archive/2025/2025_kev_insights.html#2025_kev_pie" TargetMode="External"/><Relationship Id="rId15" Type="http://schemas.openxmlformats.org/officeDocument/2006/relationships/hyperlink" Target="https://plv.mpi-sws.org/rustbelt/popl18/paper.pdf" TargetMode="External"/><Relationship Id="rId10" Type="http://schemas.openxmlformats.org/officeDocument/2006/relationships/hyperlink" Target="https://doc.rust-lang.org/book/ch10-03-lifetime-syntax.html" TargetMode="External"/><Relationship Id="rId4" Type="http://schemas.openxmlformats.org/officeDocument/2006/relationships/hyperlink" Target="http://cwe.mitre.org/data/definitions/787.html" TargetMode="External"/><Relationship Id="rId9" Type="http://schemas.openxmlformats.org/officeDocument/2006/relationships/hyperlink" Target="https://doc.rust-lang.org/book/ch04-02-references-and-borrowing.html" TargetMode="External"/><Relationship Id="rId14" Type="http://schemas.openxmlformats.org/officeDocument/2006/relationships/hyperlink" Target="https://doc.rust-lang.org/reference/unsafet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</a:t>
            </a:r>
            <a:r>
              <a:rPr lang="de-DE" sz="800" dirty="0">
                <a:hlinkClick r:id="rId7"/>
              </a:rPr>
              <a:t>https://cwe.mitre.org/top25/archive/2025/2025_kev_list.html</a:t>
            </a:r>
            <a:r>
              <a:rPr lang="de-DE" sz="800" dirty="0"/>
              <a:t> </a:t>
            </a:r>
          </a:p>
          <a:p>
            <a:r>
              <a:rPr lang="de-DE" sz="800" dirty="0"/>
              <a:t>[2] </a:t>
            </a:r>
            <a:r>
              <a:rPr lang="de-DE" sz="800" dirty="0">
                <a:hlinkClick r:id="rId8"/>
              </a:rPr>
              <a:t>https://cwe.mitre.org/data/definitions/416.html</a:t>
            </a:r>
            <a:r>
              <a:rPr lang="de-DE" sz="800" dirty="0"/>
              <a:t> </a:t>
            </a:r>
          </a:p>
          <a:p>
            <a:r>
              <a:rPr lang="de-DE" sz="800" dirty="0"/>
              <a:t>[3] </a:t>
            </a:r>
            <a:r>
              <a:rPr lang="de-DE" sz="800" dirty="0">
                <a:hlinkClick r:id="rId9"/>
              </a:rPr>
              <a:t>https://cwe.mitre.org/data/definitions/787.html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[4]</a:t>
            </a:r>
            <a:endParaRPr lang="en-US" sz="12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</a:t>
            </a:r>
            <a:r>
              <a:rPr lang="de-DE" sz="800" dirty="0">
                <a:hlinkClick r:id="rId4"/>
              </a:rPr>
              <a:t>https://cwe.mitre.org/top25/archive/2025/2025_kev_insights.html#2025_kev_pie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1911DE0-88E2-57A4-C35A-7B8938F34A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860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What is Memory Safety?</a:t>
            </a:r>
          </a:p>
          <a:p>
            <a:pPr marL="0" indent="0">
              <a:buNone/>
            </a:pPr>
            <a:endParaRPr lang="en-US" sz="7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de-DE" sz="1200" baseline="-25000" dirty="0"/>
              <a:t>[5]</a:t>
            </a:r>
            <a:endParaRPr lang="en-US" baseline="-25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0DE1FB-C0DE-7206-6CAB-CA20C19D1AA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[5] </a:t>
            </a:r>
            <a:r>
              <a:rPr lang="de-DE" sz="800" dirty="0">
                <a:hlinkClick r:id="rId3"/>
              </a:rPr>
              <a:t>https://ieeexplore.ieee.org/document/6547101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0B27-01B3-FCA9-5D0F-3F2053C5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0C1ADC2-7BFE-450C-F24D-98ED525754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04ED48-D656-A2E8-6CFD-377D803CE6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610804-FF00-FEE6-EC8E-C04E71193C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32B67C7-2B48-A77C-6C59-215F485165F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B18B223-840D-9230-1868-705851EB3D76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19BCB93-88F1-8C97-0FEA-2732BE90D4E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CA38C32E-3687-D43C-4164-F4A1AC11F03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A72AA09-586F-4082-5C52-85968FEEC47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3CBAC7-0135-0D24-8B2B-374779F3D66D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EF8342BC-9F11-B417-E080-FFD1AC0E2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E956ADAB-23D2-2A38-19ED-3959A9CD5025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FEC6743A-3C27-B8E6-06D3-19EAF1E06E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D38D281-157C-CB30-10C1-E1161DC14A0F}"/>
              </a:ext>
            </a:extLst>
          </p:cNvPr>
          <p:cNvSpPr/>
          <p:nvPr/>
        </p:nvSpPr>
        <p:spPr>
          <a:xfrm>
            <a:off x="1203512" y="2953090"/>
            <a:ext cx="3790019" cy="2133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6012B8E-986E-2336-9CB5-86EF1C06EBA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456657D8-44BE-D6EF-464C-6D0C43792803}"/>
              </a:ext>
            </a:extLst>
          </p:cNvPr>
          <p:cNvSpPr/>
          <p:nvPr/>
        </p:nvSpPr>
        <p:spPr>
          <a:xfrm>
            <a:off x="1434095" y="2742051"/>
            <a:ext cx="3559436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C499F8B0-8BEE-7C22-B1D5-D95C9151A830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1203512" y="2838110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592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B744-EAEF-71A8-F74A-4462579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2A0E10-6571-6B48-C45A-D0E6E7D49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6BDA99-AF56-7290-3614-0AAAD5F3D3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BA2DE7-6183-9CFF-76A2-37308D6AC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BF1C482-BE87-F5EE-16E5-61F21B50F5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35F3D7-5AD7-B4A5-F9FD-60A7877B6E4A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C1101C0-B709-F23F-E9DB-D82BDFB00543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7DEB08A1-FF95-2622-15CD-BE2CDAA2AA2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2F3E7F3-92AE-FD40-1BF3-6ECB47D170A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A651B28-BA6B-4F6A-3763-8FB1BA68649B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9389B8-5227-58CB-777D-1AD12E3500BF}"/>
              </a:ext>
            </a:extLst>
          </p:cNvPr>
          <p:cNvSpPr txBox="1"/>
          <p:nvPr/>
        </p:nvSpPr>
        <p:spPr>
          <a:xfrm>
            <a:off x="8237898" y="4074782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14" name="Grafik 13" descr="Abzeichen Silhouette">
            <a:extLst>
              <a:ext uri="{FF2B5EF4-FFF2-40B4-BE49-F238E27FC236}">
                <a16:creationId xmlns:a16="http://schemas.microsoft.com/office/drawing/2014/main" id="{D314831E-90EB-8A94-D4B3-D941F40DD3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011AC4-93D7-4D1A-CDCC-BE369B3A7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F82B3E41-2DA2-D141-4471-93FF7D1402B2}"/>
              </a:ext>
            </a:extLst>
          </p:cNvPr>
          <p:cNvSpPr/>
          <p:nvPr/>
        </p:nvSpPr>
        <p:spPr>
          <a:xfrm>
            <a:off x="1203512" y="3136900"/>
            <a:ext cx="3790019" cy="2031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1C7140-943E-3360-D800-8C80585E6BC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477CF50-6C5E-1601-4F24-918CF7DCD4F6}"/>
              </a:ext>
            </a:extLst>
          </p:cNvPr>
          <p:cNvSpPr/>
          <p:nvPr/>
        </p:nvSpPr>
        <p:spPr>
          <a:xfrm>
            <a:off x="1434095" y="2919669"/>
            <a:ext cx="199983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87BB29-360C-B83C-BB3F-7D4E54EFC137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1203512" y="3015728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83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EA85-CCC6-0AD4-21FE-81076831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8EB1B5-4AAE-15D6-5D4D-AA54EC12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58B47B-5730-4231-6BB1-C2AA0BE7F4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DF940-2000-864A-1CCA-20F2C36BD4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E83B090-EE75-D8FB-61AE-E60FB6787F67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2B3209-E2F9-6EA3-82EE-78F06BDF6CB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ADA824-D2C7-430D-7E08-849416AE2FA8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EA8B0E2-3B39-9B05-A689-FB43015A5ADD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B167D92D-9608-39BC-C907-FECEBA889A9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32E076E-0494-FD2D-7CF4-45D8F62E8EC5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F6FD896-5060-3E43-D0C9-FFEC160DC53A}"/>
              </a:ext>
            </a:extLst>
          </p:cNvPr>
          <p:cNvSpPr txBox="1"/>
          <p:nvPr/>
        </p:nvSpPr>
        <p:spPr>
          <a:xfrm>
            <a:off x="9056335" y="3736576"/>
            <a:ext cx="2664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another Pointer to</a:t>
            </a:r>
          </a:p>
          <a:p>
            <a:r>
              <a:rPr lang="en-US" dirty="0"/>
              <a:t>the same Memory Unit</a:t>
            </a:r>
          </a:p>
        </p:txBody>
      </p:sp>
      <p:pic>
        <p:nvPicPr>
          <p:cNvPr id="21" name="Grafik 20" descr="Marke 3 Silhouette">
            <a:extLst>
              <a:ext uri="{FF2B5EF4-FFF2-40B4-BE49-F238E27FC236}">
                <a16:creationId xmlns:a16="http://schemas.microsoft.com/office/drawing/2014/main" id="{D145E394-6988-06DC-6FB6-54F53D9FE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36114" y="3906871"/>
            <a:ext cx="305740" cy="30574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3E15A5-DEBF-CAD0-7340-5B8F85897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B93CC4AD-D522-5304-B56B-F04CB9C3B28D}"/>
              </a:ext>
            </a:extLst>
          </p:cNvPr>
          <p:cNvSpPr/>
          <p:nvPr/>
        </p:nvSpPr>
        <p:spPr>
          <a:xfrm>
            <a:off x="1203512" y="3479800"/>
            <a:ext cx="3790019" cy="162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F81D08-614F-3FDF-A9FC-081623BC3855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42" name="Verbinder: gekrümmt 41">
            <a:extLst>
              <a:ext uri="{FF2B5EF4-FFF2-40B4-BE49-F238E27FC236}">
                <a16:creationId xmlns:a16="http://schemas.microsoft.com/office/drawing/2014/main" id="{3C82C4B6-5A5D-8204-89CF-0D41D9D016B7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08879635-493C-17E5-49AA-658F3C5BCC96}"/>
              </a:ext>
            </a:extLst>
          </p:cNvPr>
          <p:cNvCxnSpPr>
            <a:cxnSpLocks/>
            <a:stCxn id="12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2EB2515E-4517-4739-9A56-85BA9A5BF66A}"/>
              </a:ext>
            </a:extLst>
          </p:cNvPr>
          <p:cNvSpPr/>
          <p:nvPr/>
        </p:nvSpPr>
        <p:spPr>
          <a:xfrm>
            <a:off x="1434095" y="3281480"/>
            <a:ext cx="287476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1B3EF089-6D53-69CC-B92A-606CB80DFA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1203512" y="337753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978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9996-F056-ABAE-F8B2-B06527AD3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C71423B-1A34-662B-69DA-AF0BF5F51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4FC6009-463D-CEA4-11B4-6B73160EDF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E1BBA4-B8F4-ED9D-9141-7A2380B37B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80642D-ADC9-2E93-877E-3DB80E2F8A8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C767A4-4837-E91E-8BFB-509D6A8B9273}"/>
              </a:ext>
            </a:extLst>
          </p:cNvPr>
          <p:cNvSpPr txBox="1"/>
          <p:nvPr/>
        </p:nvSpPr>
        <p:spPr>
          <a:xfrm>
            <a:off x="5635184" y="3675643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5" name="Grafik 14" descr="Marke 4 Silhouette">
            <a:extLst>
              <a:ext uri="{FF2B5EF4-FFF2-40B4-BE49-F238E27FC236}">
                <a16:creationId xmlns:a16="http://schemas.microsoft.com/office/drawing/2014/main" id="{DC6146E6-6BC8-D034-F7B3-14FD894A52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9059" y="3707439"/>
            <a:ext cx="305740" cy="3057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9F8FB9B-535D-B255-042E-6D4C71493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352C46A4-FAF8-0EC1-216E-8A46497B6F26}"/>
              </a:ext>
            </a:extLst>
          </p:cNvPr>
          <p:cNvSpPr/>
          <p:nvPr/>
        </p:nvSpPr>
        <p:spPr>
          <a:xfrm>
            <a:off x="1203512" y="3868108"/>
            <a:ext cx="3790019" cy="12372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14F1127-8F0A-8AE6-4EEA-9FF74489F18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123211A-401C-1A4E-F95D-8E7F9FEF116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FF4D6E3F-1E7A-710F-0CCA-6EB70953E0E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05B7466-8F71-69B4-573F-FC927ACF3891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4D7DA6A-A636-EEFD-BF0B-DCDADA0063D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87BA21F7-EF79-E87B-446C-6A7B2AF5CD81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krümmt 25">
            <a:extLst>
              <a:ext uri="{FF2B5EF4-FFF2-40B4-BE49-F238E27FC236}">
                <a16:creationId xmlns:a16="http://schemas.microsoft.com/office/drawing/2014/main" id="{17F59B82-6D85-26DF-CD28-2D559EC8DA2E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84D9016-6818-4C9B-AD59-27F86F627353}"/>
              </a:ext>
            </a:extLst>
          </p:cNvPr>
          <p:cNvSpPr/>
          <p:nvPr/>
        </p:nvSpPr>
        <p:spPr>
          <a:xfrm>
            <a:off x="1374889" y="3636716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93200F2-950A-539C-27D3-23D5E3A7A31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1144306" y="3732775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88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7BFAA-2229-5D5D-B213-7E9C349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0D00F64-969F-7C6C-19F8-128B4B220E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EEEAB-AB18-3E55-D10F-532738FAD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6BE5EC-01C8-F3C5-459A-25E75A3772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85C9A8-1C45-9620-E60B-E1B089F2D2B5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4E6D3BD-7AD0-674E-D1DE-B176D02D50EC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04DD964-4055-C82A-5167-9B77BEA5048B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80367B2-1F70-251E-BE8C-06430EF6065E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7A8269E-1FBC-D579-BF70-AFE536901F43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E8FCA545-42B8-0A69-416C-1426503E77B1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6C91346-BFE5-46CC-4A96-746AE63A3A8B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D0A76C9A-E55F-9387-9282-B5CD130B901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A4F7373-82B3-C463-1DC2-D2067AEC6B68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1E4C5196-4971-4B8B-FD19-D28EC4670E86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3C17A492-49C9-2B19-BFA2-9AA4E2A36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6611" y="5820512"/>
            <a:ext cx="305740" cy="30574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868ACDB-7330-3AC3-6C54-02BC55BB1815}"/>
              </a:ext>
            </a:extLst>
          </p:cNvPr>
          <p:cNvSpPr txBox="1"/>
          <p:nvPr/>
        </p:nvSpPr>
        <p:spPr>
          <a:xfrm>
            <a:off x="7754454" y="5788716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9F1DD015-ABB5-4D82-C1F4-6897586A4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BEE7950F-560B-55F6-DD0B-28F533170BC5}"/>
              </a:ext>
            </a:extLst>
          </p:cNvPr>
          <p:cNvSpPr/>
          <p:nvPr/>
        </p:nvSpPr>
        <p:spPr>
          <a:xfrm>
            <a:off x="1203512" y="4183873"/>
            <a:ext cx="3790019" cy="9215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66365615-67F7-6BB6-1FC7-56E341C251F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5DBD063-FC55-0C6D-A10D-F2C62E05A7BA}"/>
              </a:ext>
            </a:extLst>
          </p:cNvPr>
          <p:cNvSpPr/>
          <p:nvPr/>
        </p:nvSpPr>
        <p:spPr>
          <a:xfrm>
            <a:off x="1374889" y="4005105"/>
            <a:ext cx="3618642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404F40F-1158-7BFF-F5C8-6F7D47C61DC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144306" y="410116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57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586-079C-C971-51F1-DFCE7EB7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694A8C0-AD69-D216-2260-35FFB5858A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95E4E0-3BF7-E0C3-9386-24A8D6575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B4B5FC-A927-5BF4-656B-44F663B865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E871D1-F038-2516-69C3-93F7E2B97C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5C63A2-098C-4989-9E38-C849908F50B2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F507402-5359-22AF-26DE-947B412865DF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01B8F3B-53DE-5E21-5086-B5BAD54BF94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E588C64-36F4-6352-107C-740320384DB7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2B823A9C-B4D5-DACC-08EA-EF018D873E0B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DCDB94DE-4AEA-1AAE-BA34-5E78525E1B1E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C50D1623-9346-3159-A8A3-AECB55AB120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59168FFE-7217-721C-85B3-8335B2AD6738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F9C7B30-7925-1557-8861-141428CF189E}"/>
              </a:ext>
            </a:extLst>
          </p:cNvPr>
          <p:cNvSpPr txBox="1"/>
          <p:nvPr/>
        </p:nvSpPr>
        <p:spPr>
          <a:xfrm>
            <a:off x="7754454" y="5788716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4D9C867-B679-27DB-3E1A-9E1FB79D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C306E47E-6956-DADD-40C5-0F47B81BBD25}"/>
              </a:ext>
            </a:extLst>
          </p:cNvPr>
          <p:cNvSpPr/>
          <p:nvPr/>
        </p:nvSpPr>
        <p:spPr>
          <a:xfrm>
            <a:off x="1203512" y="4381227"/>
            <a:ext cx="3790019" cy="7241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E2D17B8-AD1A-A97C-514F-1DBC3639B83C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pic>
        <p:nvPicPr>
          <p:cNvPr id="12" name="Grafik 11" descr="Marke 5 Silhouette">
            <a:extLst>
              <a:ext uri="{FF2B5EF4-FFF2-40B4-BE49-F238E27FC236}">
                <a16:creationId xmlns:a16="http://schemas.microsoft.com/office/drawing/2014/main" id="{FE364C65-015F-4DF2-7AB2-A81BF710F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0088" y="5820512"/>
            <a:ext cx="305740" cy="305740"/>
          </a:xfrm>
          <a:prstGeom prst="rect">
            <a:avLst/>
          </a:prstGeom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DD489B-D074-EDEC-F3C0-F99B20B24B88}"/>
              </a:ext>
            </a:extLst>
          </p:cNvPr>
          <p:cNvSpPr/>
          <p:nvPr/>
        </p:nvSpPr>
        <p:spPr>
          <a:xfrm>
            <a:off x="1374889" y="4182720"/>
            <a:ext cx="2053587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29DD77F-A9BF-2C8F-E2C7-6A8DE1E477F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1144306" y="42787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03335E0A-651C-FA6D-ABF8-317FFC20E99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04077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230E7-CF46-2CFF-BAB1-3973119B3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F0DB46-E4B1-BE3F-2840-52C8940264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40070A-A078-2293-834B-EB7181085C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C576B2-AF87-1FB9-586D-BC5B773309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CA1FB7-3E95-0C94-D1DF-F25E7945C194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C301F6-97AC-3BD9-5F09-71FDD53F7BFF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EDADDB-A015-4B95-77F4-C61E619F7278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DF50D20-110D-A77A-3650-526BCAF703F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D3D365-59EF-E7FA-2C8B-B1D094E3B6CB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77154F65-24E2-4EC4-F9E3-F448D3C25AAC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70A37690-EEB0-F368-4E17-87B4FC226FF6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A688C07E-2631-EBF9-AE9E-D8E3494C0ED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25C1E508-7E70-C02B-296E-E81674BB504F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6C0C1359-E227-CF41-2AB7-466A0C1B205B}"/>
              </a:ext>
            </a:extLst>
          </p:cNvPr>
          <p:cNvSpPr txBox="1"/>
          <p:nvPr/>
        </p:nvSpPr>
        <p:spPr>
          <a:xfrm>
            <a:off x="9054959" y="3906271"/>
            <a:ext cx="2020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previously </a:t>
            </a:r>
          </a:p>
          <a:p>
            <a:r>
              <a:rPr lang="en-US" dirty="0"/>
              <a:t>freed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BEC4D6A2-5AF0-5B88-37FC-669253BB0C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EE9BAE28-1B73-3251-4217-91B83EA646E1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C0C49-6D3F-A5DF-EDCC-A4DCE4D4205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4" name="Grafik 13" descr="Marke 6 Silhouette">
            <a:extLst>
              <a:ext uri="{FF2B5EF4-FFF2-40B4-BE49-F238E27FC236}">
                <a16:creationId xmlns:a16="http://schemas.microsoft.com/office/drawing/2014/main" id="{90FBA145-8A54-B802-A4D8-0191FBA2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5628" y="4073671"/>
            <a:ext cx="306000" cy="306000"/>
          </a:xfrm>
          <a:prstGeom prst="rect">
            <a:avLst/>
          </a:prstGeom>
        </p:spPr>
      </p:pic>
      <p:pic>
        <p:nvPicPr>
          <p:cNvPr id="9" name="Grafik 8" descr="Blitz Silhouette">
            <a:extLst>
              <a:ext uri="{FF2B5EF4-FFF2-40B4-BE49-F238E27FC236}">
                <a16:creationId xmlns:a16="http://schemas.microsoft.com/office/drawing/2014/main" id="{C8F7908F-2876-7E4E-494D-8545749B8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3626" y="447836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0" name="Grafik 9" descr="Blitz Silhouette">
            <a:extLst>
              <a:ext uri="{FF2B5EF4-FFF2-40B4-BE49-F238E27FC236}">
                <a16:creationId xmlns:a16="http://schemas.microsoft.com/office/drawing/2014/main" id="{56A68814-B05A-F951-D3C9-B4BCE95ED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88488" y="4073671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56AFEF0-6FF7-DA4A-F006-346B88638754}"/>
              </a:ext>
            </a:extLst>
          </p:cNvPr>
          <p:cNvSpPr/>
          <p:nvPr/>
        </p:nvSpPr>
        <p:spPr>
          <a:xfrm>
            <a:off x="1374889" y="4551108"/>
            <a:ext cx="273287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687C1F-D938-7296-CD20-B53748C871D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144306" y="464716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4B537FF-9B4F-BC77-EEBA-1E6C3CECC73E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&gt;42</a:t>
            </a:r>
          </a:p>
        </p:txBody>
      </p:sp>
    </p:spTree>
    <p:extLst>
      <p:ext uri="{BB962C8B-B14F-4D97-AF65-F5344CB8AC3E}">
        <p14:creationId xmlns:p14="http://schemas.microsoft.com/office/powerpoint/2010/main" val="2034679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5B53546-076A-A51A-BAF8-970C30339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8540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59E1AEF7-015D-C5BE-2AF7-E5B398BC473A}"/>
              </a:ext>
            </a:extLst>
          </p:cNvPr>
          <p:cNvSpPr/>
          <p:nvPr/>
        </p:nvSpPr>
        <p:spPr>
          <a:xfrm>
            <a:off x="1203512" y="3522375"/>
            <a:ext cx="3790019" cy="1583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2BAF153D-2675-F85E-C421-DE3DEBDAB182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E6FD1F6-145B-CA61-5828-3EA8859C4839}"/>
              </a:ext>
            </a:extLst>
          </p:cNvPr>
          <p:cNvSpPr/>
          <p:nvPr/>
        </p:nvSpPr>
        <p:spPr>
          <a:xfrm>
            <a:off x="1434095" y="3319225"/>
            <a:ext cx="156850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84B2590-B48D-5EF0-E90D-69DCF0BF699C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1203512" y="341528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93B4-7564-62EA-AA54-FDA7FB6C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C303287-BE23-5DA7-0F27-C049FDD5CB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36034F-2ADD-9C53-F8AC-9E8CA7A528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952C03-FD2B-DE72-7023-57B2C381F7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CFC08E1-5D30-BEDD-36F3-8D5A0226882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AB70FAE-EF7A-5137-7478-A2F01471AC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AC553D7-C0C7-49AA-2A54-1BAC6DCDD44C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A99F2DC-8C72-2878-657D-CADB4D1EFC16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7840C0CB-AD71-1233-B2A4-B0D57002542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6A7DA580-3ACD-B660-9047-CBF09250A3B1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F569C8C-4682-0E0C-B573-5CEAD6AE1C38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2D7E4C1-6BDF-B8B3-20F1-E4B179B7B514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183D153-5056-1EF5-D1F6-545BED6ADD2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6B6573-840C-65ED-F8C1-D0DB5ED5D9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6735E6C7-463F-9DE0-0FB6-1DF817DE69C1}"/>
              </a:ext>
            </a:extLst>
          </p:cNvPr>
          <p:cNvSpPr/>
          <p:nvPr/>
        </p:nvSpPr>
        <p:spPr>
          <a:xfrm>
            <a:off x="1203512" y="3715965"/>
            <a:ext cx="3790019" cy="1389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DA0038-8ED1-3FAB-5707-50D68EB9516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42F551-3BB2-153D-2D2C-6C1B5BD3171C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0326D8E5-447A-A058-C5E2-076628F8CB51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6C40E5B5-DAD4-B77A-6502-05A4AFF3E2C9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381477-6583-EE75-A5D2-AFFD3BE72F65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99D3B0-ED99-880D-7CE7-3458F00517C3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95D5E18-20A5-C10E-4AC3-E8436A7517A4}"/>
              </a:ext>
            </a:extLst>
          </p:cNvPr>
          <p:cNvSpPr/>
          <p:nvPr/>
        </p:nvSpPr>
        <p:spPr>
          <a:xfrm>
            <a:off x="1434095" y="3494320"/>
            <a:ext cx="230781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4AC5F50-45EE-0A3D-8CDB-AEB3DF523A5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203512" y="35903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08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C680-08DA-2AC9-2A9D-DF2F4CAB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7A5245-21D8-A7DE-AFA0-8465EC2913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141E58-E733-4A53-CA04-5F24C483CC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6CEEF7-3933-67D2-63E8-B5C6135727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105C3BE-031D-2A9D-62B4-44FD33C6A02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E6EE93-2D57-1B0D-0861-82E743C5050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8359ECF-0732-AF0D-390F-FA05F456108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C12F694-7CDC-4FD9-579C-E21E379A336D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38CB2041-538A-4A17-C144-38BCAD6C3500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DDCB97EF-176E-78A7-A969-5C169906D30F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84C2B4-7C74-106A-92A8-445EB70430FD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A6EAB5-ED38-1E46-BAD8-39211CC2C76A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B57FD93-F05C-6298-41AB-CC149C7F7AEC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813DC8A2-3EC2-2642-269B-3DD1E596A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EDEEC9FA-1CCA-502E-99D2-729656C43FD7}"/>
              </a:ext>
            </a:extLst>
          </p:cNvPr>
          <p:cNvSpPr/>
          <p:nvPr/>
        </p:nvSpPr>
        <p:spPr>
          <a:xfrm>
            <a:off x="1203512" y="4085617"/>
            <a:ext cx="3790019" cy="101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2151E1-BC19-C388-9584-6280D6E09A4A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38E40F8-ED22-EF43-F39F-E9E4CD2B247F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2310471-6674-7CD4-83BA-84EED8FCCA82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AAB5EF3F-85B5-8E43-F8F8-67D1E1BCCB37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6F45C4-DAA0-A0F3-3C4A-FE60D8B98B92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1E18B3-080B-92E4-0C99-53542124C5F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87B8153-110A-4615-3DF8-15997EE0590A}"/>
              </a:ext>
            </a:extLst>
          </p:cNvPr>
          <p:cNvSpPr/>
          <p:nvPr/>
        </p:nvSpPr>
        <p:spPr>
          <a:xfrm>
            <a:off x="1374888" y="3850721"/>
            <a:ext cx="287934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33A07CD-DA18-BD47-734B-1953B669F11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1144306" y="3946780"/>
            <a:ext cx="230582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D993FCB-FA13-7658-1466-8F44AB4869DF}"/>
              </a:ext>
            </a:extLst>
          </p:cNvPr>
          <p:cNvSpPr/>
          <p:nvPr/>
        </p:nvSpPr>
        <p:spPr>
          <a:xfrm>
            <a:off x="1374888" y="2397578"/>
            <a:ext cx="3851208" cy="56318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C52E-4AE8-0517-59F8-2F14334E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D499F6-2F16-3676-00C4-2F9196117F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DC55E6-9656-C129-AAD8-3305E2790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64AD13-B1D5-1B24-60F7-106FB7558B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949C74-922E-6A2E-5F18-2A43122C16B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B2C0B2C-F3DB-1ACC-32F5-1A1EBA60FAF3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CD6931F-A402-369B-D28D-B7F451173D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C83E7D6-ED91-B6F5-3C54-80EC2D3277B2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8FB692-5FB1-A37E-F2D5-AD2CA84D937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ACB839-2F09-4396-7375-6095F9A34D8B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6E9A234-CFCC-149A-C2A4-8C190DCCEC2B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1653C6A-CAB3-BB2D-570A-01E996DB72B8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F9039C-BDA8-1C77-25E1-EE97AB89326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176311C-5975-1898-D0DF-2BCB2DBA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931457A-E4A6-4E83-933E-ED7E3EB8FBB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BBC0BD-E41D-63CD-C3F4-1637D745440E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D38C806-65F8-BC40-DDC1-3484C2ACB226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15A17814-C0EE-7F35-00C9-51B06A4FF635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1520DD8-927B-275D-1260-7E30012DF613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C05DCD1-ED6D-63CD-6181-E9A3FBFF9E70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F46C3CE-553C-C5B2-FCE3-622DAF9659DF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&gt;99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F9A24740-A5BC-D52F-39E6-D42DFCAE067C}"/>
              </a:ext>
            </a:extLst>
          </p:cNvPr>
          <p:cNvSpPr/>
          <p:nvPr/>
        </p:nvSpPr>
        <p:spPr>
          <a:xfrm>
            <a:off x="1374889" y="4213888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23D7656-6D06-99D8-5B2E-F7877DE5C2CA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144306" y="430994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Blitz Silhouette">
            <a:extLst>
              <a:ext uri="{FF2B5EF4-FFF2-40B4-BE49-F238E27FC236}">
                <a16:creationId xmlns:a16="http://schemas.microsoft.com/office/drawing/2014/main" id="{652BD652-D1E2-E6F4-E0EC-38651E359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0808" y="41273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4313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endParaRPr lang="en-US" sz="3600" baseline="-25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Dangling Pointers can be used to manipulate and read the content of a Memory Unit, which they should not have access to.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</a:t>
            </a:r>
            <a:r>
              <a:rPr lang="en-US" i="1" dirty="0"/>
              <a:t>memory free</a:t>
            </a:r>
            <a:r>
              <a:rPr lang="en-US" dirty="0"/>
              <a:t>, the program will crash the next time memory is accessed via a</a:t>
            </a:r>
            <a:r>
              <a:rPr lang="en-US" i="1" dirty="0"/>
              <a:t> </a:t>
            </a:r>
            <a:r>
              <a:rPr lang="en-US" dirty="0"/>
              <a:t>Dangling Pointer,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</a:t>
            </a:r>
            <a:r>
              <a:rPr lang="en-US" sz="3600" dirty="0"/>
              <a:t>to achieving Memory Safety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Programming Languages with </a:t>
            </a:r>
            <a:r>
              <a:rPr lang="en-US" sz="2000" b="1" dirty="0"/>
              <a:t>Automatic Memory Management</a:t>
            </a:r>
            <a:r>
              <a:rPr lang="en-US" sz="1600" b="1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No</a:t>
            </a:r>
            <a:r>
              <a:rPr lang="de-DE" sz="1600" dirty="0"/>
              <a:t> </a:t>
            </a:r>
            <a:r>
              <a:rPr lang="de-DE" sz="1600" dirty="0" err="1"/>
              <a:t>developer-controlled</a:t>
            </a:r>
            <a:r>
              <a:rPr lang="de-DE" sz="1600" dirty="0"/>
              <a:t> </a:t>
            </a:r>
            <a:r>
              <a:rPr lang="de-DE" sz="1600" dirty="0" err="1"/>
              <a:t>memory</a:t>
            </a:r>
            <a:r>
              <a:rPr lang="de-DE" sz="1600" dirty="0"/>
              <a:t> </a:t>
            </a:r>
            <a:r>
              <a:rPr lang="de-DE" sz="1600" dirty="0" err="1"/>
              <a:t>management</a:t>
            </a:r>
            <a:endParaRPr lang="de-DE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Runtime-managed</a:t>
            </a:r>
            <a:r>
              <a:rPr lang="de-DE" sz="1600" dirty="0"/>
              <a:t> </a:t>
            </a:r>
            <a:r>
              <a:rPr lang="de-DE" sz="1600" dirty="0" err="1"/>
              <a:t>automated</a:t>
            </a:r>
            <a:r>
              <a:rPr lang="de-DE" sz="1600" dirty="0"/>
              <a:t> </a:t>
            </a:r>
            <a:r>
              <a:rPr lang="de-DE" sz="1600" dirty="0" err="1"/>
              <a:t>garbage</a:t>
            </a:r>
            <a:r>
              <a:rPr lang="de-DE" sz="1600" dirty="0"/>
              <a:t> </a:t>
            </a:r>
            <a:r>
              <a:rPr lang="de-DE" sz="1600" dirty="0" err="1"/>
              <a:t>collection</a:t>
            </a:r>
            <a:endParaRPr lang="en-US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High reliability paired with unpredictable performance costs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2000" b="1" dirty="0"/>
              <a:t>Instrumentation</a:t>
            </a:r>
            <a:r>
              <a:rPr lang="en-US" sz="1600" dirty="0"/>
              <a:t> of memory-unsafe Programs: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Compiler inserts instructions to catch invalid memory access at runtime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Tools like </a:t>
            </a:r>
            <a:r>
              <a:rPr lang="en-US" sz="1600" dirty="0" err="1"/>
              <a:t>ASan</a:t>
            </a:r>
            <a:r>
              <a:rPr lang="en-US" sz="1600" dirty="0"/>
              <a:t> and </a:t>
            </a:r>
            <a:r>
              <a:rPr lang="en-US" sz="1600" dirty="0" err="1"/>
              <a:t>Valgrind</a:t>
            </a:r>
            <a:r>
              <a:rPr lang="en-US" sz="1600" dirty="0"/>
              <a:t> automatically inject these instructions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Languages like Rust prevent illegal access by crashing safely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1600" dirty="0"/>
              <a:t>Memory Safety achieved at </a:t>
            </a:r>
            <a:r>
              <a:rPr lang="en-US" sz="2000" b="1" dirty="0"/>
              <a:t>Compile Time</a:t>
            </a:r>
            <a:r>
              <a:rPr lang="en-US" sz="1600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Memory errors blocked entirely at compile 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Strict reliance on new rules and concepts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Zero performance or runtime 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Rust uses this approach to prevent memory errors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424" y="2219453"/>
            <a:ext cx="390993" cy="390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399" y="1823596"/>
            <a:ext cx="243501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560" y="2263239"/>
            <a:ext cx="461679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6" y="3778795"/>
            <a:ext cx="1039971" cy="103997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6A8985E-43CB-064F-F63A-4116DD818C8E}"/>
              </a:ext>
            </a:extLst>
          </p:cNvPr>
          <p:cNvCxnSpPr>
            <a:cxnSpLocks/>
          </p:cNvCxnSpPr>
          <p:nvPr/>
        </p:nvCxnSpPr>
        <p:spPr>
          <a:xfrm>
            <a:off x="1114634" y="3023527"/>
            <a:ext cx="91589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F26E0EF-2BE4-321E-DB16-BBDDE97C86C9}"/>
              </a:ext>
            </a:extLst>
          </p:cNvPr>
          <p:cNvCxnSpPr>
            <a:cxnSpLocks/>
          </p:cNvCxnSpPr>
          <p:nvPr/>
        </p:nvCxnSpPr>
        <p:spPr>
          <a:xfrm>
            <a:off x="2015685" y="4298781"/>
            <a:ext cx="825786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26265A-37AD-7636-C1A3-8E53F6C526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3638A9-CFF3-39E0-4F33-3C7BEB61F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FF591-8932-1D12-0BE9-9D359FE6AC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33E09E4-3375-AF35-F800-1216B71579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1790700"/>
            <a:ext cx="9856694" cy="40132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promises to be the solution to the challenge of combining two previously incompatible programming challenges:</a:t>
            </a:r>
          </a:p>
          <a:p>
            <a:pPr marL="0" indent="0" algn="ctr">
              <a:buNone/>
            </a:pPr>
            <a:r>
              <a:rPr lang="en-US" b="1" dirty="0"/>
              <a:t>Full hardware and memory control without compromising on security or the developer experience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offers a complete tool suite, in addition to the compiler also a formatter, language server, and its own package manager.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According to Stack Overflow statistics from 2025, Rust has been the most popular up-and-coming programming language for years:</a:t>
            </a:r>
          </a:p>
          <a:p>
            <a:pPr marL="0" indent="0" algn="ctr">
              <a:buNone/>
            </a:pPr>
            <a:r>
              <a:rPr lang="en-US" b="1" dirty="0"/>
              <a:t>Over 72% of developers who start programming in Rust continue to use it</a:t>
            </a:r>
            <a:r>
              <a:rPr lang="en-US" sz="1200" baseline="-25000" dirty="0"/>
              <a:t>[6]</a:t>
            </a:r>
            <a:endParaRPr lang="de-DE" baseline="-25000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077A446-F896-3D2F-449B-C4009441E9E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Why use Rust?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3EB4F2-D3D7-6A28-467F-EFBB2C49033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[6] </a:t>
            </a:r>
            <a:r>
              <a:rPr lang="de-DE" sz="800" dirty="0">
                <a:hlinkClick r:id="rId3"/>
              </a:rPr>
              <a:t>https://survey.stackoverflow.co/2025/technology/#2-programming-scripting-and-markup-languages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4210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D33E-D409-12E2-6D7E-8A529A73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74A8E6-F218-DF4F-E40E-DA22D5641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50E7429-93D0-DCC4-351E-0B51BC3586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E2F4B-59A4-84D9-2A74-805739D69E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532610B-77B9-A750-BD44-457FF8A158C5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Ownership Rules</a:t>
            </a:r>
            <a:r>
              <a:rPr lang="en-US" sz="1200" baseline="-25000" dirty="0"/>
              <a:t>[7]</a:t>
            </a:r>
            <a:endParaRPr lang="en-US" baseline="-250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1EF1F76-A3CE-1791-BCCD-4CA0EFC09D4F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6" cy="1148918"/>
          </a:xfrm>
          <a:prstGeom prst="roundRect">
            <a:avLst>
              <a:gd name="adj" fmla="val 11418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A152980-51D5-B8E4-BA85-2C4B629E91CB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5" cy="458482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/>
              <a:t>Each</a:t>
            </a:r>
            <a:r>
              <a:rPr lang="de-DE" sz="1600" b="1" dirty="0"/>
              <a:t> Value </a:t>
            </a:r>
            <a:r>
              <a:rPr lang="de-DE" sz="1600" b="1" dirty="0" err="1"/>
              <a:t>has</a:t>
            </a:r>
            <a:r>
              <a:rPr lang="de-DE" sz="1600" b="1" dirty="0"/>
              <a:t> an Owner.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ED3DE4-A9F6-C7FC-7F16-3994080B6A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263" y="1901682"/>
            <a:ext cx="3211934" cy="1148918"/>
          </a:xfrm>
          <a:prstGeom prst="rect">
            <a:avLst/>
          </a:prstGeom>
        </p:spPr>
      </p:pic>
      <p:pic>
        <p:nvPicPr>
          <p:cNvPr id="26" name="Grafik 25" descr="Marke 1 mit einfarbiger Füllung">
            <a:extLst>
              <a:ext uri="{FF2B5EF4-FFF2-40B4-BE49-F238E27FC236}">
                <a16:creationId xmlns:a16="http://schemas.microsoft.com/office/drawing/2014/main" id="{5626019F-5830-E379-FFB9-A3CDE37D9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771" y="1492321"/>
            <a:ext cx="359602" cy="366549"/>
          </a:xfrm>
          <a:prstGeom prst="rect">
            <a:avLst/>
          </a:prstGeom>
        </p:spPr>
      </p:pic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89082FAE-47DB-BCD9-26D5-BAD85ACD7409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8" cy="1962570"/>
          </a:xfrm>
          <a:prstGeom prst="roundRect">
            <a:avLst>
              <a:gd name="adj" fmla="val 6487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3654B8F-5FAA-00F0-07D0-0B0437421541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ED8FDA57-CCD8-0970-3292-BB453673F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688" y="3285915"/>
            <a:ext cx="3734155" cy="1225766"/>
          </a:xfrm>
          <a:prstGeom prst="rect">
            <a:avLst/>
          </a:prstGeom>
        </p:spPr>
      </p:pic>
      <p:pic>
        <p:nvPicPr>
          <p:cNvPr id="38" name="Grafik 37" descr="Abzeichen mit einfarbiger Füllung">
            <a:extLst>
              <a:ext uri="{FF2B5EF4-FFF2-40B4-BE49-F238E27FC236}">
                <a16:creationId xmlns:a16="http://schemas.microsoft.com/office/drawing/2014/main" id="{A70405B8-7D4E-F80D-0655-E78A0FCBF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0541" y="2877617"/>
            <a:ext cx="359294" cy="342184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8D5CA4BD-FCD0-3177-7884-203445506797}"/>
              </a:ext>
            </a:extLst>
          </p:cNvPr>
          <p:cNvSpPr txBox="1"/>
          <p:nvPr/>
        </p:nvSpPr>
        <p:spPr>
          <a:xfrm>
            <a:off x="2446677" y="4252838"/>
            <a:ext cx="3252175" cy="49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/>
              <a:t>buffer_owner</a:t>
            </a:r>
            <a:r>
              <a:rPr lang="en-US" sz="1600" i="1" dirty="0"/>
              <a:t> </a:t>
            </a:r>
            <a:r>
              <a:rPr lang="en-US" sz="1600" dirty="0"/>
              <a:t>moves its Ownership to </a:t>
            </a:r>
            <a:r>
              <a:rPr lang="en-US" sz="1600" i="1" dirty="0" err="1"/>
              <a:t>another_buffer_owner</a:t>
            </a:r>
            <a:endParaRPr lang="en-US" sz="1600" i="1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9F7DC3BA-E82A-2747-6C48-3E610886FB55}"/>
              </a:ext>
            </a:extLst>
          </p:cNvPr>
          <p:cNvGrpSpPr/>
          <p:nvPr/>
        </p:nvGrpSpPr>
        <p:grpSpPr>
          <a:xfrm>
            <a:off x="6322714" y="1692882"/>
            <a:ext cx="4266845" cy="3349765"/>
            <a:chOff x="6322714" y="1532964"/>
            <a:chExt cx="4463138" cy="350968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AEE0388-7CD1-A69F-7F1A-B8FD8F5880C5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1" cy="3270550"/>
            </a:xfrm>
            <a:prstGeom prst="roundRect">
              <a:avLst>
                <a:gd name="adj" fmla="val 4565"/>
              </a:avLst>
            </a:prstGeom>
            <a:solidFill>
              <a:schemeClr val="bg1"/>
            </a:solidFill>
            <a:ln w="12700" cap="flat">
              <a:solidFill>
                <a:schemeClr val="accent1">
                  <a:shade val="15000"/>
                </a:schemeClr>
              </a:soli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98515F1B-4BBA-9D44-8C85-18D560CBE086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2" cy="646331"/>
            </a:xfrm>
            <a:prstGeom prst="roundRect">
              <a:avLst>
                <a:gd name="adj" fmla="val 27672"/>
              </a:avLst>
            </a:prstGeom>
            <a:solidFill>
              <a:srgbClr val="64378C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When the owner goes out of scope, the value will be dropped.</a:t>
              </a:r>
            </a:p>
          </p:txBody>
        </p:sp>
        <p:pic>
          <p:nvPicPr>
            <p:cNvPr id="42" name="Grafik 41" descr="Marke 3 mit einfarbiger Füllung">
              <a:extLst>
                <a:ext uri="{FF2B5EF4-FFF2-40B4-BE49-F238E27FC236}">
                  <a16:creationId xmlns:a16="http://schemas.microsoft.com/office/drawing/2014/main" id="{7C5119BB-4EAA-E4DF-8BCE-1320404496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714" y="1532964"/>
              <a:ext cx="404167" cy="404167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15B1384-A11D-C7D4-D013-84D88E092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99513" y="2116743"/>
              <a:ext cx="3905250" cy="1628775"/>
            </a:xfrm>
            <a:prstGeom prst="rect">
              <a:avLst/>
            </a:prstGeom>
          </p:spPr>
        </p:pic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D74D419-FC4D-08E7-2EF5-E464AB2D3A51}"/>
                </a:ext>
              </a:extLst>
            </p:cNvPr>
            <p:cNvSpPr txBox="1"/>
            <p:nvPr/>
          </p:nvSpPr>
          <p:spPr>
            <a:xfrm>
              <a:off x="6817371" y="3406667"/>
              <a:ext cx="374510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Out </a:t>
              </a:r>
              <a:r>
                <a:rPr lang="de-DE" sz="1600" dirty="0" err="1"/>
                <a:t>of</a:t>
              </a:r>
              <a:r>
                <a:rPr lang="de-DE" sz="1600" dirty="0"/>
                <a:t> Scope: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Scope ends when the block closes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Reassigning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drops the old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Passing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to a function moves it out of scope</a:t>
              </a:r>
            </a:p>
          </p:txBody>
        </p:sp>
      </p:grpSp>
      <p:sp>
        <p:nvSpPr>
          <p:cNvPr id="47" name="Textfeld 46">
            <a:extLst>
              <a:ext uri="{FF2B5EF4-FFF2-40B4-BE49-F238E27FC236}">
                <a16:creationId xmlns:a16="http://schemas.microsoft.com/office/drawing/2014/main" id="{F864F10D-DBF8-6AB7-1E3F-2564C5317ECC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9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DB9E720-8772-7F38-C037-093FE513055D}"/>
              </a:ext>
            </a:extLst>
          </p:cNvPr>
          <p:cNvSpPr/>
          <p:nvPr/>
        </p:nvSpPr>
        <p:spPr>
          <a:xfrm>
            <a:off x="0" y="5284403"/>
            <a:ext cx="9372600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forget to free memory.</a:t>
            </a:r>
          </a:p>
        </p:txBody>
      </p:sp>
      <p:sp>
        <p:nvSpPr>
          <p:cNvPr id="49" name="Pfeil: nach rechts 48">
            <a:extLst>
              <a:ext uri="{FF2B5EF4-FFF2-40B4-BE49-F238E27FC236}">
                <a16:creationId xmlns:a16="http://schemas.microsoft.com/office/drawing/2014/main" id="{1143E4B5-6E6B-71FD-74AE-83B52618D5D4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32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24AF5C6-72ED-8B38-9B8E-A41DE0C544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63E62-7CE0-C187-D345-3B5B3DCF69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2D52C6-AACD-194D-C99F-ED0339EC99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025D89-E700-B96B-278E-7A93CA32A16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Transfer of Ownership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6E0BDBE-45B8-3A5E-5F9B-0DE32BC6779C}"/>
              </a:ext>
            </a:extLst>
          </p:cNvPr>
          <p:cNvSpPr txBox="1"/>
          <p:nvPr/>
        </p:nvSpPr>
        <p:spPr>
          <a:xfrm>
            <a:off x="1947659" y="2501153"/>
            <a:ext cx="1890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Stack – Copy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B6B506D-9D38-AB62-E236-5B2C73435C71}"/>
              </a:ext>
            </a:extLst>
          </p:cNvPr>
          <p:cNvCxnSpPr>
            <a:cxnSpLocks/>
          </p:cNvCxnSpPr>
          <p:nvPr/>
        </p:nvCxnSpPr>
        <p:spPr>
          <a:xfrm>
            <a:off x="5224182" y="2420471"/>
            <a:ext cx="0" cy="33147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BC19A83-0F01-0BF7-EA97-CA31776C2FD7}"/>
              </a:ext>
            </a:extLst>
          </p:cNvPr>
          <p:cNvSpPr txBox="1"/>
          <p:nvPr/>
        </p:nvSpPr>
        <p:spPr>
          <a:xfrm>
            <a:off x="6971934" y="2501153"/>
            <a:ext cx="15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Heap - ???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F2C97B0-1CD7-4AD6-F32B-913265FD4230}"/>
              </a:ext>
            </a:extLst>
          </p:cNvPr>
          <p:cNvSpPr txBox="1"/>
          <p:nvPr/>
        </p:nvSpPr>
        <p:spPr>
          <a:xfrm>
            <a:off x="6059472" y="4296040"/>
            <a:ext cx="341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Copying would consume a significant amount of additional memory and cause performance overhead.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CF63218-700E-7139-CE13-8CAEEA709BE9}"/>
              </a:ext>
            </a:extLst>
          </p:cNvPr>
          <p:cNvSpPr txBox="1"/>
          <p:nvPr/>
        </p:nvSpPr>
        <p:spPr>
          <a:xfrm>
            <a:off x="1116106" y="4296040"/>
            <a:ext cx="35609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var1 is copied into var2. Two variables exist that contain the same value, but in separate memory of the stack.</a:t>
            </a:r>
          </a:p>
          <a:p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13B2B5A-11B0-2FB2-E457-724D7C41C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7055" y="2324791"/>
            <a:ext cx="6781962" cy="23375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89D232-674A-D18F-0762-CCC0B3A1B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598" y="2339259"/>
            <a:ext cx="3888182" cy="2308609"/>
          </a:xfrm>
          <a:prstGeom prst="rect">
            <a:avLst/>
          </a:prstGeom>
        </p:spPr>
      </p:pic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8BE026-8DD1-3E56-83D2-454A4224BF26}"/>
              </a:ext>
            </a:extLst>
          </p:cNvPr>
          <p:cNvSpPr>
            <a:spLocks/>
          </p:cNvSpPr>
          <p:nvPr/>
        </p:nvSpPr>
        <p:spPr>
          <a:xfrm>
            <a:off x="1451333" y="1729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19" name="Grafik 18" descr="Abzeichen mit einfarbiger Füllung">
            <a:extLst>
              <a:ext uri="{FF2B5EF4-FFF2-40B4-BE49-F238E27FC236}">
                <a16:creationId xmlns:a16="http://schemas.microsoft.com/office/drawing/2014/main" id="{0623761E-0B01-C311-0461-03E0FB1A6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9729" y="1526617"/>
            <a:ext cx="359294" cy="342184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61064D-A0F4-1D5B-9AAE-37103AF5F5BB}"/>
              </a:ext>
            </a:extLst>
          </p:cNvPr>
          <p:cNvSpPr txBox="1"/>
          <p:nvPr/>
        </p:nvSpPr>
        <p:spPr>
          <a:xfrm>
            <a:off x="5258921" y="1755111"/>
            <a:ext cx="6094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How will this ownership be transferred?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26218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FE70-2D29-931F-07F7-5583B396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B2E1980-3DDC-F333-7917-4AD7C2491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09F125-6BF0-BECF-116B-270812DEBF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881714-0859-9622-5D45-1631146525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D50214A-6D0C-47F5-BA53-7BB2D32FDA9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Transfer Methods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C134C-ACC0-48DF-C641-3B879D41CF0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05797BB5-1EBD-1E8D-D258-B408B78CF65E}"/>
              </a:ext>
            </a:extLst>
          </p:cNvPr>
          <p:cNvGrpSpPr/>
          <p:nvPr/>
        </p:nvGrpSpPr>
        <p:grpSpPr>
          <a:xfrm>
            <a:off x="428061" y="1727947"/>
            <a:ext cx="11221573" cy="3496235"/>
            <a:chOff x="428061" y="1727947"/>
            <a:chExt cx="11221573" cy="3496235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D980EC97-08A6-651F-4811-8E3642B5D344}"/>
                </a:ext>
              </a:extLst>
            </p:cNvPr>
            <p:cNvGrpSpPr/>
            <p:nvPr/>
          </p:nvGrpSpPr>
          <p:grpSpPr>
            <a:xfrm>
              <a:off x="428061" y="1727947"/>
              <a:ext cx="11221573" cy="3496235"/>
              <a:chOff x="428061" y="1727947"/>
              <a:chExt cx="11221573" cy="3496235"/>
            </a:xfrm>
          </p:grpSpPr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275F2E9-BEB8-AA73-2603-7D58CBE94D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8588" y="1727947"/>
                <a:ext cx="0" cy="349623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ACD0D6-C4BD-C5FB-DF33-524C623D9829}"/>
                  </a:ext>
                </a:extLst>
              </p:cNvPr>
              <p:cNvSpPr txBox="1"/>
              <p:nvPr/>
            </p:nvSpPr>
            <p:spPr>
              <a:xfrm>
                <a:off x="4168588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Shallow Copy</a:t>
                </a:r>
              </a:p>
            </p:txBody>
          </p: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03FBAFA9-962F-02A2-5B57-23736ECC4C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09111" y="1727947"/>
                <a:ext cx="2" cy="3494093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FC0B2CA3-226B-3ADE-CCC8-5B3567B8C32C}"/>
                  </a:ext>
                </a:extLst>
              </p:cNvPr>
              <p:cNvSpPr txBox="1"/>
              <p:nvPr/>
            </p:nvSpPr>
            <p:spPr>
              <a:xfrm>
                <a:off x="428061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Deep Copy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D5DA064E-B154-F533-BE6D-6DCA6F315EC2}"/>
                  </a:ext>
                </a:extLst>
              </p:cNvPr>
              <p:cNvSpPr txBox="1"/>
              <p:nvPr/>
            </p:nvSpPr>
            <p:spPr>
              <a:xfrm>
                <a:off x="7909111" y="1734208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Move</a:t>
                </a:r>
              </a:p>
            </p:txBody>
          </p:sp>
        </p:grpSp>
        <p:cxnSp>
          <p:nvCxnSpPr>
            <p:cNvPr id="167" name="Gerader Verbinder 166">
              <a:extLst>
                <a:ext uri="{FF2B5EF4-FFF2-40B4-BE49-F238E27FC236}">
                  <a16:creationId xmlns:a16="http://schemas.microsoft.com/office/drawing/2014/main" id="{892755D1-F873-159D-43A1-780455304C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98" y="2113470"/>
              <a:ext cx="10058401" cy="1053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143EA09-B4CC-584D-B11D-2E74D2CF7A7B}"/>
              </a:ext>
            </a:extLst>
          </p:cNvPr>
          <p:cNvGrpSpPr/>
          <p:nvPr/>
        </p:nvGrpSpPr>
        <p:grpSpPr>
          <a:xfrm>
            <a:off x="4908169" y="2993559"/>
            <a:ext cx="2261360" cy="1292664"/>
            <a:chOff x="4908169" y="2993559"/>
            <a:chExt cx="2261360" cy="1292664"/>
          </a:xfrm>
        </p:grpSpPr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CD914227-F166-79D6-521D-46E6E4ADB461}"/>
                </a:ext>
              </a:extLst>
            </p:cNvPr>
            <p:cNvGrpSpPr/>
            <p:nvPr/>
          </p:nvGrpSpPr>
          <p:grpSpPr>
            <a:xfrm>
              <a:off x="4908169" y="2993559"/>
              <a:ext cx="2261360" cy="1292664"/>
              <a:chOff x="4543879" y="2569470"/>
              <a:chExt cx="2261360" cy="1292664"/>
            </a:xfrm>
          </p:grpSpPr>
          <p:sp>
            <p:nvSpPr>
              <p:cNvPr id="98" name="Rechteck: abgerundete Ecken 97">
                <a:extLst>
                  <a:ext uri="{FF2B5EF4-FFF2-40B4-BE49-F238E27FC236}">
                    <a16:creationId xmlns:a16="http://schemas.microsoft.com/office/drawing/2014/main" id="{0773322D-255C-3F1B-3216-D12A84E12C3B}"/>
                  </a:ext>
                </a:extLst>
              </p:cNvPr>
              <p:cNvSpPr/>
              <p:nvPr/>
            </p:nvSpPr>
            <p:spPr>
              <a:xfrm>
                <a:off x="4543879" y="2654997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99" name="Rechteck: abgerundete Ecken 98">
                <a:extLst>
                  <a:ext uri="{FF2B5EF4-FFF2-40B4-BE49-F238E27FC236}">
                    <a16:creationId xmlns:a16="http://schemas.microsoft.com/office/drawing/2014/main" id="{445EB689-A328-1B87-E51D-3399C2DF358E}"/>
                  </a:ext>
                </a:extLst>
              </p:cNvPr>
              <p:cNvSpPr/>
              <p:nvPr/>
            </p:nvSpPr>
            <p:spPr>
              <a:xfrm>
                <a:off x="4543879" y="3376623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grpSp>
            <p:nvGrpSpPr>
              <p:cNvPr id="100" name="Gruppieren 99">
                <a:extLst>
                  <a:ext uri="{FF2B5EF4-FFF2-40B4-BE49-F238E27FC236}">
                    <a16:creationId xmlns:a16="http://schemas.microsoft.com/office/drawing/2014/main" id="{1CFEC5AD-9C67-FC0B-3CB0-EB0A0B29F475}"/>
                  </a:ext>
                </a:extLst>
              </p:cNvPr>
              <p:cNvGrpSpPr/>
              <p:nvPr/>
            </p:nvGrpSpPr>
            <p:grpSpPr>
              <a:xfrm>
                <a:off x="4848264" y="2569470"/>
                <a:ext cx="1956975" cy="1292664"/>
                <a:chOff x="4848264" y="2569470"/>
                <a:chExt cx="1956975" cy="1292664"/>
              </a:xfrm>
            </p:grpSpPr>
            <p:grpSp>
              <p:nvGrpSpPr>
                <p:cNvPr id="101" name="Gruppieren 100">
                  <a:extLst>
                    <a:ext uri="{FF2B5EF4-FFF2-40B4-BE49-F238E27FC236}">
                      <a16:creationId xmlns:a16="http://schemas.microsoft.com/office/drawing/2014/main" id="{3236B63F-24F4-33C8-1617-7AEDCC9C6494}"/>
                    </a:ext>
                  </a:extLst>
                </p:cNvPr>
                <p:cNvGrpSpPr/>
                <p:nvPr/>
              </p:nvGrpSpPr>
              <p:grpSpPr>
                <a:xfrm>
                  <a:off x="5832171" y="2569470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107" name="Gruppieren 106">
                    <a:extLst>
                      <a:ext uri="{FF2B5EF4-FFF2-40B4-BE49-F238E27FC236}">
                        <a16:creationId xmlns:a16="http://schemas.microsoft.com/office/drawing/2014/main" id="{5F41CE6E-5647-303D-A324-7D9981D5D538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109" name="Rechteck 108">
                      <a:extLst>
                        <a:ext uri="{FF2B5EF4-FFF2-40B4-BE49-F238E27FC236}">
                          <a16:creationId xmlns:a16="http://schemas.microsoft.com/office/drawing/2014/main" id="{A1A3E7AE-CF8F-8197-0C0D-E80FD3945A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110" name="Rechteck 109">
                      <a:extLst>
                        <a:ext uri="{FF2B5EF4-FFF2-40B4-BE49-F238E27FC236}">
                          <a16:creationId xmlns:a16="http://schemas.microsoft.com/office/drawing/2014/main" id="{37AB2430-0A2A-8930-D5C9-DB91425C5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111" name="Rechteck 110">
                      <a:extLst>
                        <a:ext uri="{FF2B5EF4-FFF2-40B4-BE49-F238E27FC236}">
                          <a16:creationId xmlns:a16="http://schemas.microsoft.com/office/drawing/2014/main" id="{F77D4F8D-4828-9660-0BA9-1950662D89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112" name="Rechteck 111">
                      <a:extLst>
                        <a:ext uri="{FF2B5EF4-FFF2-40B4-BE49-F238E27FC236}">
                          <a16:creationId xmlns:a16="http://schemas.microsoft.com/office/drawing/2014/main" id="{B5A8A36C-5E88-5657-7FFC-3B7593C769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113" name="Rechteck 112">
                      <a:extLst>
                        <a:ext uri="{FF2B5EF4-FFF2-40B4-BE49-F238E27FC236}">
                          <a16:creationId xmlns:a16="http://schemas.microsoft.com/office/drawing/2014/main" id="{39160CE1-AE90-0ACD-FDB9-657E512D36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14" name="Rechteck 113">
                      <a:extLst>
                        <a:ext uri="{FF2B5EF4-FFF2-40B4-BE49-F238E27FC236}">
                          <a16:creationId xmlns:a16="http://schemas.microsoft.com/office/drawing/2014/main" id="{A5028BA7-D517-866A-4EA9-88E767E3C9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5" name="Rechteck 114">
                      <a:extLst>
                        <a:ext uri="{FF2B5EF4-FFF2-40B4-BE49-F238E27FC236}">
                          <a16:creationId xmlns:a16="http://schemas.microsoft.com/office/drawing/2014/main" id="{C69F8EE5-54FA-8A67-DAEA-5D0BAE0797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733A1185-C226-7234-816B-DB2A95A7F9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7" name="Rechteck 116">
                      <a:extLst>
                        <a:ext uri="{FF2B5EF4-FFF2-40B4-BE49-F238E27FC236}">
                          <a16:creationId xmlns:a16="http://schemas.microsoft.com/office/drawing/2014/main" id="{D567699E-C820-C36B-2426-00DD1AD1CE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18" name="Rechteck 117">
                      <a:extLst>
                        <a:ext uri="{FF2B5EF4-FFF2-40B4-BE49-F238E27FC236}">
                          <a16:creationId xmlns:a16="http://schemas.microsoft.com/office/drawing/2014/main" id="{FCB4C64F-013D-263D-74F6-6BAA527E12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108" name="Rechteck 107">
                    <a:extLst>
                      <a:ext uri="{FF2B5EF4-FFF2-40B4-BE49-F238E27FC236}">
                        <a16:creationId xmlns:a16="http://schemas.microsoft.com/office/drawing/2014/main" id="{08D3FFC3-DF1B-3B6B-F0B3-CAF2668EA9B1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sp>
              <p:nvSpPr>
                <p:cNvPr id="102" name="Pfeil: nach unten 101">
                  <a:extLst>
                    <a:ext uri="{FF2B5EF4-FFF2-40B4-BE49-F238E27FC236}">
                      <a16:creationId xmlns:a16="http://schemas.microsoft.com/office/drawing/2014/main" id="{9D108651-9212-34D1-8780-894CCEBC3CDC}"/>
                    </a:ext>
                  </a:extLst>
                </p:cNvPr>
                <p:cNvSpPr/>
                <p:nvPr/>
              </p:nvSpPr>
              <p:spPr>
                <a:xfrm>
                  <a:off x="4848264" y="2902873"/>
                  <a:ext cx="131003" cy="430888"/>
                </a:xfrm>
                <a:prstGeom prst="downArrow">
                  <a:avLst/>
                </a:prstGeom>
                <a:solidFill>
                  <a:schemeClr val="bg1"/>
                </a:solidFill>
                <a:ln w="9525"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04" name="Verbinder: gekrümmt 103">
                  <a:extLst>
                    <a:ext uri="{FF2B5EF4-FFF2-40B4-BE49-F238E27FC236}">
                      <a16:creationId xmlns:a16="http://schemas.microsoft.com/office/drawing/2014/main" id="{D7D6E1BE-C718-4678-A2E0-3FD7CE2BC01B}"/>
                    </a:ext>
                  </a:extLst>
                </p:cNvPr>
                <p:cNvCxnSpPr>
                  <a:cxnSpLocks/>
                  <a:stCxn id="99" idx="3"/>
                  <a:endCxn id="111" idx="1"/>
                </p:cNvCxnSpPr>
                <p:nvPr/>
              </p:nvCxnSpPr>
              <p:spPr>
                <a:xfrm flipV="1">
                  <a:off x="5283654" y="3108080"/>
                  <a:ext cx="548518" cy="376266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Verbinder: gekrümmt 104">
                  <a:extLst>
                    <a:ext uri="{FF2B5EF4-FFF2-40B4-BE49-F238E27FC236}">
                      <a16:creationId xmlns:a16="http://schemas.microsoft.com/office/drawing/2014/main" id="{05996DAF-0F4F-5A90-59DA-779C55937FC8}"/>
                    </a:ext>
                  </a:extLst>
                </p:cNvPr>
                <p:cNvCxnSpPr>
                  <a:cxnSpLocks/>
                  <a:stCxn id="98" idx="3"/>
                  <a:endCxn id="111" idx="1"/>
                </p:cNvCxnSpPr>
                <p:nvPr/>
              </p:nvCxnSpPr>
              <p:spPr>
                <a:xfrm>
                  <a:off x="5283654" y="2762720"/>
                  <a:ext cx="548518" cy="345360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125B46B9-7411-AB5C-4E05-EBCE4CD6CA1B}"/>
                </a:ext>
              </a:extLst>
            </p:cNvPr>
            <p:cNvSpPr/>
            <p:nvPr/>
          </p:nvSpPr>
          <p:spPr>
            <a:xfrm>
              <a:off x="4967776" y="346506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7A444E9-E89E-FBDD-953A-590AC0E3B078}"/>
              </a:ext>
            </a:extLst>
          </p:cNvPr>
          <p:cNvGrpSpPr/>
          <p:nvPr/>
        </p:nvGrpSpPr>
        <p:grpSpPr>
          <a:xfrm>
            <a:off x="8648692" y="3071078"/>
            <a:ext cx="2261360" cy="1292664"/>
            <a:chOff x="8648692" y="3071078"/>
            <a:chExt cx="2261360" cy="1292664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F539E99-0D83-1A55-DDF3-3783EF99484B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28" name="Gruppieren 127">
                <a:extLst>
                  <a:ext uri="{FF2B5EF4-FFF2-40B4-BE49-F238E27FC236}">
                    <a16:creationId xmlns:a16="http://schemas.microsoft.com/office/drawing/2014/main" id="{1B2540EA-7872-B31A-4FC3-764161394837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55" name="Gruppieren 154">
                  <a:extLst>
                    <a:ext uri="{FF2B5EF4-FFF2-40B4-BE49-F238E27FC236}">
                      <a16:creationId xmlns:a16="http://schemas.microsoft.com/office/drawing/2014/main" id="{D226D8D9-4EDE-1EB3-31AC-ABB24EBB6F7F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57" name="Rechteck 156">
                    <a:extLst>
                      <a:ext uri="{FF2B5EF4-FFF2-40B4-BE49-F238E27FC236}">
                        <a16:creationId xmlns:a16="http://schemas.microsoft.com/office/drawing/2014/main" id="{A624466F-B5A6-2036-1B20-AB05E50E2C1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158" name="Rechteck 157">
                    <a:extLst>
                      <a:ext uri="{FF2B5EF4-FFF2-40B4-BE49-F238E27FC236}">
                        <a16:creationId xmlns:a16="http://schemas.microsoft.com/office/drawing/2014/main" id="{F94B684A-897E-A7F8-9B07-3B6B8073F52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159" name="Rechteck 158">
                    <a:extLst>
                      <a:ext uri="{FF2B5EF4-FFF2-40B4-BE49-F238E27FC236}">
                        <a16:creationId xmlns:a16="http://schemas.microsoft.com/office/drawing/2014/main" id="{14D48A19-4E89-93C0-183D-090D6C2E097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160" name="Rechteck 159">
                    <a:extLst>
                      <a:ext uri="{FF2B5EF4-FFF2-40B4-BE49-F238E27FC236}">
                        <a16:creationId xmlns:a16="http://schemas.microsoft.com/office/drawing/2014/main" id="{FE3415E6-B833-CDD8-AE73-EADA529845AF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161" name="Rechteck 160">
                    <a:extLst>
                      <a:ext uri="{FF2B5EF4-FFF2-40B4-BE49-F238E27FC236}">
                        <a16:creationId xmlns:a16="http://schemas.microsoft.com/office/drawing/2014/main" id="{C0FEFCB4-B6DC-2769-0D53-CCA9C5C4D7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162" name="Rechteck 161">
                    <a:extLst>
                      <a:ext uri="{FF2B5EF4-FFF2-40B4-BE49-F238E27FC236}">
                        <a16:creationId xmlns:a16="http://schemas.microsoft.com/office/drawing/2014/main" id="{DECFF2D5-AF17-042C-6892-8BF5529CD34B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3" name="Rechteck 162">
                    <a:extLst>
                      <a:ext uri="{FF2B5EF4-FFF2-40B4-BE49-F238E27FC236}">
                        <a16:creationId xmlns:a16="http://schemas.microsoft.com/office/drawing/2014/main" id="{7BA38FC0-C6CB-05D0-44A7-1CA9D70052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164" name="Rechteck 163">
                    <a:extLst>
                      <a:ext uri="{FF2B5EF4-FFF2-40B4-BE49-F238E27FC236}">
                        <a16:creationId xmlns:a16="http://schemas.microsoft.com/office/drawing/2014/main" id="{45EDA49C-60BA-68FF-7074-EB90C0FD465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5" name="Rechteck 164">
                    <a:extLst>
                      <a:ext uri="{FF2B5EF4-FFF2-40B4-BE49-F238E27FC236}">
                        <a16:creationId xmlns:a16="http://schemas.microsoft.com/office/drawing/2014/main" id="{32BF5C0C-16F7-A6BD-385F-D4BDBC276CE0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42DADFD8-12B5-8E06-28A2-D555FB281D42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F850DA0B-BB70-1371-191C-309A203615E3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6D0769AB-CE63-E707-B78F-D078B6328F65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1" name="Rechteck: abgerundete Ecken 130">
                <a:extLst>
                  <a:ext uri="{FF2B5EF4-FFF2-40B4-BE49-F238E27FC236}">
                    <a16:creationId xmlns:a16="http://schemas.microsoft.com/office/drawing/2014/main" id="{E977CA52-64C8-1178-508F-D8B91971ECCA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32" name="Pfeil: nach unten 131">
                <a:extLst>
                  <a:ext uri="{FF2B5EF4-FFF2-40B4-BE49-F238E27FC236}">
                    <a16:creationId xmlns:a16="http://schemas.microsoft.com/office/drawing/2014/main" id="{D8AA64FC-0336-F155-DE73-CFC6FEB2789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2" name="Verbinder: gekrümmt 151">
                <a:extLst>
                  <a:ext uri="{FF2B5EF4-FFF2-40B4-BE49-F238E27FC236}">
                    <a16:creationId xmlns:a16="http://schemas.microsoft.com/office/drawing/2014/main" id="{D4B80CC1-7B54-47D4-C409-41FEC94D584A}"/>
                  </a:ext>
                </a:extLst>
              </p:cNvPr>
              <p:cNvCxnSpPr>
                <a:cxnSpLocks/>
                <a:stCxn id="131" idx="3"/>
                <a:endCxn id="159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6A3CCBDC-745D-5791-AA87-85415892A529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8020D3-08E8-4DDC-2697-64155E5D772F}"/>
              </a:ext>
            </a:extLst>
          </p:cNvPr>
          <p:cNvGrpSpPr/>
          <p:nvPr/>
        </p:nvGrpSpPr>
        <p:grpSpPr>
          <a:xfrm>
            <a:off x="1126218" y="2510287"/>
            <a:ext cx="2352603" cy="2364765"/>
            <a:chOff x="1126218" y="2510287"/>
            <a:chExt cx="2352603" cy="2364765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162258AA-BBCA-7157-7521-ADB501DD45C3}"/>
                </a:ext>
              </a:extLst>
            </p:cNvPr>
            <p:cNvGrpSpPr/>
            <p:nvPr/>
          </p:nvGrpSpPr>
          <p:grpSpPr>
            <a:xfrm>
              <a:off x="1126218" y="2510287"/>
              <a:ext cx="2352603" cy="2364765"/>
              <a:chOff x="1642760" y="2311163"/>
              <a:chExt cx="2352603" cy="2364765"/>
            </a:xfrm>
          </p:grpSpPr>
          <p:sp>
            <p:nvSpPr>
              <p:cNvPr id="40" name="Rechteck: abgerundete Ecken 39">
                <a:extLst>
                  <a:ext uri="{FF2B5EF4-FFF2-40B4-BE49-F238E27FC236}">
                    <a16:creationId xmlns:a16="http://schemas.microsoft.com/office/drawing/2014/main" id="{AE11E35A-8B65-E893-749E-F84BB5212F7C}"/>
                  </a:ext>
                </a:extLst>
              </p:cNvPr>
              <p:cNvSpPr/>
              <p:nvPr/>
            </p:nvSpPr>
            <p:spPr>
              <a:xfrm>
                <a:off x="1642760" y="2925064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grpSp>
            <p:nvGrpSpPr>
              <p:cNvPr id="41" name="Gruppieren 40">
                <a:extLst>
                  <a:ext uri="{FF2B5EF4-FFF2-40B4-BE49-F238E27FC236}">
                    <a16:creationId xmlns:a16="http://schemas.microsoft.com/office/drawing/2014/main" id="{F7BE0E65-4D69-3C39-9DBF-BB8F3AA60E86}"/>
                  </a:ext>
                </a:extLst>
              </p:cNvPr>
              <p:cNvGrpSpPr/>
              <p:nvPr/>
            </p:nvGrpSpPr>
            <p:grpSpPr>
              <a:xfrm>
                <a:off x="3022144" y="2311163"/>
                <a:ext cx="973219" cy="2364765"/>
                <a:chOff x="2425245" y="2471449"/>
                <a:chExt cx="973219" cy="2364765"/>
              </a:xfrm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0CD405E9-3FCA-4233-86EE-DBD6E57A648E}"/>
                    </a:ext>
                  </a:extLst>
                </p:cNvPr>
                <p:cNvGrpSpPr/>
                <p:nvPr/>
              </p:nvGrpSpPr>
              <p:grpSpPr>
                <a:xfrm>
                  <a:off x="2425396" y="2471449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7CC21FE3-8087-E4B4-6ABE-ED0A49B3326A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70" name="Rechteck 69">
                      <a:extLst>
                        <a:ext uri="{FF2B5EF4-FFF2-40B4-BE49-F238E27FC236}">
                          <a16:creationId xmlns:a16="http://schemas.microsoft.com/office/drawing/2014/main" id="{BA6B252A-9B31-3D08-6611-65D231AF5C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7A39057-EE4B-F7E2-9C72-45E5D43754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88" name="Rechteck 87">
                      <a:extLst>
                        <a:ext uri="{FF2B5EF4-FFF2-40B4-BE49-F238E27FC236}">
                          <a16:creationId xmlns:a16="http://schemas.microsoft.com/office/drawing/2014/main" id="{80A1B1E5-37EA-2621-01A7-A086CCC921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89" name="Rechteck 88">
                      <a:extLst>
                        <a:ext uri="{FF2B5EF4-FFF2-40B4-BE49-F238E27FC236}">
                          <a16:creationId xmlns:a16="http://schemas.microsoft.com/office/drawing/2014/main" id="{9182D0DB-69F1-9849-BC27-6FDB121A95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91" name="Rechteck 90">
                      <a:extLst>
                        <a:ext uri="{FF2B5EF4-FFF2-40B4-BE49-F238E27FC236}">
                          <a16:creationId xmlns:a16="http://schemas.microsoft.com/office/drawing/2014/main" id="{DA2DCF3F-6A1B-A44D-0730-A69B850C14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B0E3E15A-2609-FBC4-4F0D-E51C5E76B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3" name="Rechteck 92">
                      <a:extLst>
                        <a:ext uri="{FF2B5EF4-FFF2-40B4-BE49-F238E27FC236}">
                          <a16:creationId xmlns:a16="http://schemas.microsoft.com/office/drawing/2014/main" id="{D26E0EDD-E04C-9EA8-3DF6-60DB9A7DE7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94" name="Rechteck 93">
                      <a:extLst>
                        <a:ext uri="{FF2B5EF4-FFF2-40B4-BE49-F238E27FC236}">
                          <a16:creationId xmlns:a16="http://schemas.microsoft.com/office/drawing/2014/main" id="{19098B0C-F1CE-372C-71CB-D57ACA30E9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5" name="Rechteck 94">
                      <a:extLst>
                        <a:ext uri="{FF2B5EF4-FFF2-40B4-BE49-F238E27FC236}">
                          <a16:creationId xmlns:a16="http://schemas.microsoft.com/office/drawing/2014/main" id="{1CFE94D9-348D-C614-9D10-125B4C84B7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96" name="Rechteck 95">
                      <a:extLst>
                        <a:ext uri="{FF2B5EF4-FFF2-40B4-BE49-F238E27FC236}">
                          <a16:creationId xmlns:a16="http://schemas.microsoft.com/office/drawing/2014/main" id="{69D019CE-9880-EF7C-A82A-EB065CAE19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086CD6AE-F31B-8656-DCFE-A63F3997FA59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370D1D4C-1654-CAED-721D-1D98D06B17CD}"/>
                    </a:ext>
                  </a:extLst>
                </p:cNvPr>
                <p:cNvGrpSpPr/>
                <p:nvPr/>
              </p:nvGrpSpPr>
              <p:grpSpPr>
                <a:xfrm>
                  <a:off x="2425245" y="3974438"/>
                  <a:ext cx="973067" cy="861776"/>
                  <a:chOff x="2652409" y="2464340"/>
                  <a:chExt cx="973067" cy="861776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F252325B-3BA4-5380-6FBA-15A0DD065ED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0C52CD69-F104-BEE4-C469-A2A106918330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69408EE3-77B1-53C9-392E-E2DFD587293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7AB66A4B-BA6E-A7B8-70B8-C8E7DA535F2E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A48E3224-B307-6873-6BB5-BC793CBFE7C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56" name="Rechteck 55">
                    <a:extLst>
                      <a:ext uri="{FF2B5EF4-FFF2-40B4-BE49-F238E27FC236}">
                        <a16:creationId xmlns:a16="http://schemas.microsoft.com/office/drawing/2014/main" id="{293927F2-B20B-2C5A-8D1D-60D541647BA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8" name="Rechteck 57">
                    <a:extLst>
                      <a:ext uri="{FF2B5EF4-FFF2-40B4-BE49-F238E27FC236}">
                        <a16:creationId xmlns:a16="http://schemas.microsoft.com/office/drawing/2014/main" id="{65E44D5E-EB20-0114-F507-53C6AEB6F762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59" name="Rechteck 58">
                    <a:extLst>
                      <a:ext uri="{FF2B5EF4-FFF2-40B4-BE49-F238E27FC236}">
                        <a16:creationId xmlns:a16="http://schemas.microsoft.com/office/drawing/2014/main" id="{4A9F1D5B-6AF9-756B-AAB0-1E6F9995F0ED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CD40A918-6171-292A-404C-0EA6D5479010}"/>
                    </a:ext>
                  </a:extLst>
                </p:cNvPr>
                <p:cNvSpPr/>
                <p:nvPr/>
              </p:nvSpPr>
              <p:spPr>
                <a:xfrm>
                  <a:off x="2425396" y="3764113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…</a:t>
                  </a:r>
                </a:p>
              </p:txBody>
            </p:sp>
          </p:grpSp>
          <p:cxnSp>
            <p:nvCxnSpPr>
              <p:cNvPr id="43" name="Verbinder: gekrümmt 42">
                <a:extLst>
                  <a:ext uri="{FF2B5EF4-FFF2-40B4-BE49-F238E27FC236}">
                    <a16:creationId xmlns:a16="http://schemas.microsoft.com/office/drawing/2014/main" id="{CCA1B47A-D851-1754-6FC2-9207DDDE37A0}"/>
                  </a:ext>
                </a:extLst>
              </p:cNvPr>
              <p:cNvCxnSpPr>
                <a:cxnSpLocks/>
                <a:stCxn id="45" idx="3"/>
                <a:endCxn id="51" idx="1"/>
              </p:cNvCxnSpPr>
              <p:nvPr/>
            </p:nvCxnSpPr>
            <p:spPr>
              <a:xfrm>
                <a:off x="2382535" y="3754413"/>
                <a:ext cx="639609" cy="167461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Verbinder: gekrümmt 43">
                <a:extLst>
                  <a:ext uri="{FF2B5EF4-FFF2-40B4-BE49-F238E27FC236}">
                    <a16:creationId xmlns:a16="http://schemas.microsoft.com/office/drawing/2014/main" id="{66E5CD16-0999-DDC5-C96D-68998B5105C7}"/>
                  </a:ext>
                </a:extLst>
              </p:cNvPr>
              <p:cNvCxnSpPr>
                <a:cxnSpLocks/>
                <a:stCxn id="40" idx="3"/>
                <a:endCxn id="88" idx="1"/>
              </p:cNvCxnSpPr>
              <p:nvPr/>
            </p:nvCxnSpPr>
            <p:spPr>
              <a:xfrm flipV="1">
                <a:off x="2382535" y="2849773"/>
                <a:ext cx="639761" cy="183014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hteck: abgerundete Ecken 44">
                <a:extLst>
                  <a:ext uri="{FF2B5EF4-FFF2-40B4-BE49-F238E27FC236}">
                    <a16:creationId xmlns:a16="http://schemas.microsoft.com/office/drawing/2014/main" id="{59ACE8F1-BDF5-21B3-520F-51831165A4EA}"/>
                  </a:ext>
                </a:extLst>
              </p:cNvPr>
              <p:cNvSpPr/>
              <p:nvPr/>
            </p:nvSpPr>
            <p:spPr>
              <a:xfrm>
                <a:off x="1642760" y="3646690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46" name="Pfeil: nach unten 45">
                <a:extLst>
                  <a:ext uri="{FF2B5EF4-FFF2-40B4-BE49-F238E27FC236}">
                    <a16:creationId xmlns:a16="http://schemas.microsoft.com/office/drawing/2014/main" id="{BB6E306C-BF14-08F0-9613-5393E6147FBA}"/>
                  </a:ext>
                </a:extLst>
              </p:cNvPr>
              <p:cNvSpPr/>
              <p:nvPr/>
            </p:nvSpPr>
            <p:spPr>
              <a:xfrm>
                <a:off x="1947145" y="3172940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2396C632-7867-638A-AFD8-691000F47754}"/>
                </a:ext>
              </a:extLst>
            </p:cNvPr>
            <p:cNvSpPr/>
            <p:nvPr/>
          </p:nvSpPr>
          <p:spPr>
            <a:xfrm>
              <a:off x="1190734" y="3509103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59773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725F-0618-0E7C-EB09-A60DBB1B6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4EBDB0D-544C-B814-F109-5578AC434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725BC1-3A61-842C-A167-B8427F26D5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1B0325-7AC5-C0C0-B015-7E049404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8AB9955-93C7-3ABB-2E65-35A1C5CB6B9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Move Semantics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145A80-FD61-9796-FB23-E3BA5D2F8370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6F166E70-96DC-9005-DB3D-609B97CBC9A8}"/>
              </a:ext>
            </a:extLst>
          </p:cNvPr>
          <p:cNvGrpSpPr/>
          <p:nvPr/>
        </p:nvGrpSpPr>
        <p:grpSpPr>
          <a:xfrm>
            <a:off x="3727071" y="1881298"/>
            <a:ext cx="4737855" cy="2708306"/>
            <a:chOff x="8582479" y="2547019"/>
            <a:chExt cx="2261360" cy="1292664"/>
          </a:xfrm>
        </p:grpSpPr>
        <p:grpSp>
          <p:nvGrpSpPr>
            <p:cNvPr id="128" name="Gruppieren 127">
              <a:extLst>
                <a:ext uri="{FF2B5EF4-FFF2-40B4-BE49-F238E27FC236}">
                  <a16:creationId xmlns:a16="http://schemas.microsoft.com/office/drawing/2014/main" id="{B102BDE9-B2BA-64DE-BAB4-87F0CA0B8C60}"/>
                </a:ext>
              </a:extLst>
            </p:cNvPr>
            <p:cNvGrpSpPr/>
            <p:nvPr/>
          </p:nvGrpSpPr>
          <p:grpSpPr>
            <a:xfrm>
              <a:off x="9870771" y="2547019"/>
              <a:ext cx="973068" cy="1292664"/>
              <a:chOff x="1761821" y="1719128"/>
              <a:chExt cx="973068" cy="1292664"/>
            </a:xfrm>
          </p:grpSpPr>
          <p:grpSp>
            <p:nvGrpSpPr>
              <p:cNvPr id="155" name="Gruppieren 154">
                <a:extLst>
                  <a:ext uri="{FF2B5EF4-FFF2-40B4-BE49-F238E27FC236}">
                    <a16:creationId xmlns:a16="http://schemas.microsoft.com/office/drawing/2014/main" id="{F4FEC164-15F3-E57C-0ABE-46ECA04E96B0}"/>
                  </a:ext>
                </a:extLst>
              </p:cNvPr>
              <p:cNvGrpSpPr/>
              <p:nvPr/>
            </p:nvGrpSpPr>
            <p:grpSpPr>
              <a:xfrm>
                <a:off x="1761822" y="1934572"/>
                <a:ext cx="973067" cy="1077220"/>
                <a:chOff x="2652409" y="2248896"/>
                <a:chExt cx="973067" cy="1077220"/>
              </a:xfrm>
            </p:grpSpPr>
            <p:sp>
              <p:nvSpPr>
                <p:cNvPr id="157" name="Rechteck 156">
                  <a:extLst>
                    <a:ext uri="{FF2B5EF4-FFF2-40B4-BE49-F238E27FC236}">
                      <a16:creationId xmlns:a16="http://schemas.microsoft.com/office/drawing/2014/main" id="{2C35A403-BE12-0F35-A3E2-8977378A5C95}"/>
                    </a:ext>
                  </a:extLst>
                </p:cNvPr>
                <p:cNvSpPr/>
                <p:nvPr/>
              </p:nvSpPr>
              <p:spPr>
                <a:xfrm>
                  <a:off x="2652409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Byte</a:t>
                  </a:r>
                </a:p>
              </p:txBody>
            </p:sp>
            <p:sp>
              <p:nvSpPr>
                <p:cNvPr id="158" name="Rechteck 157">
                  <a:extLst>
                    <a:ext uri="{FF2B5EF4-FFF2-40B4-BE49-F238E27FC236}">
                      <a16:creationId xmlns:a16="http://schemas.microsoft.com/office/drawing/2014/main" id="{B0E9176F-B061-0536-4102-AA141E7EF6CF}"/>
                    </a:ext>
                  </a:extLst>
                </p:cNvPr>
                <p:cNvSpPr/>
                <p:nvPr/>
              </p:nvSpPr>
              <p:spPr>
                <a:xfrm>
                  <a:off x="3139094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Value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9" name="Rechteck 158">
                  <a:extLst>
                    <a:ext uri="{FF2B5EF4-FFF2-40B4-BE49-F238E27FC236}">
                      <a16:creationId xmlns:a16="http://schemas.microsoft.com/office/drawing/2014/main" id="{F43C3C36-3625-5105-B617-9C726506A281}"/>
                    </a:ext>
                  </a:extLst>
                </p:cNvPr>
                <p:cNvSpPr/>
                <p:nvPr/>
              </p:nvSpPr>
              <p:spPr>
                <a:xfrm>
                  <a:off x="2652409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160" name="Rechteck 159">
                  <a:extLst>
                    <a:ext uri="{FF2B5EF4-FFF2-40B4-BE49-F238E27FC236}">
                      <a16:creationId xmlns:a16="http://schemas.microsoft.com/office/drawing/2014/main" id="{EED0A9B2-5967-C924-03E8-EB2ACB52F43F}"/>
                    </a:ext>
                  </a:extLst>
                </p:cNvPr>
                <p:cNvSpPr/>
                <p:nvPr/>
              </p:nvSpPr>
              <p:spPr>
                <a:xfrm>
                  <a:off x="3139094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0x2A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Rechteck 160">
                  <a:extLst>
                    <a:ext uri="{FF2B5EF4-FFF2-40B4-BE49-F238E27FC236}">
                      <a16:creationId xmlns:a16="http://schemas.microsoft.com/office/drawing/2014/main" id="{FC7FA648-BD9C-3976-8B67-DB7AE06FBA52}"/>
                    </a:ext>
                  </a:extLst>
                </p:cNvPr>
                <p:cNvSpPr/>
                <p:nvPr/>
              </p:nvSpPr>
              <p:spPr>
                <a:xfrm>
                  <a:off x="2652409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1</a:t>
                  </a:r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D95EC97D-3762-CC5A-09F8-649A2758EB75}"/>
                    </a:ext>
                  </a:extLst>
                </p:cNvPr>
                <p:cNvSpPr/>
                <p:nvPr/>
              </p:nvSpPr>
              <p:spPr>
                <a:xfrm>
                  <a:off x="3139094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1A13B4CA-A51D-2352-D737-14A188430AE3}"/>
                    </a:ext>
                  </a:extLst>
                </p:cNvPr>
                <p:cNvSpPr/>
                <p:nvPr/>
              </p:nvSpPr>
              <p:spPr>
                <a:xfrm>
                  <a:off x="2652409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64" name="Rechteck 163">
                  <a:extLst>
                    <a:ext uri="{FF2B5EF4-FFF2-40B4-BE49-F238E27FC236}">
                      <a16:creationId xmlns:a16="http://schemas.microsoft.com/office/drawing/2014/main" id="{DCF3896D-38A8-1A88-A17D-82D290F3EDD4}"/>
                    </a:ext>
                  </a:extLst>
                </p:cNvPr>
                <p:cNvSpPr/>
                <p:nvPr/>
              </p:nvSpPr>
              <p:spPr>
                <a:xfrm>
                  <a:off x="3139094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5" name="Rechteck 164">
                  <a:extLst>
                    <a:ext uri="{FF2B5EF4-FFF2-40B4-BE49-F238E27FC236}">
                      <a16:creationId xmlns:a16="http://schemas.microsoft.com/office/drawing/2014/main" id="{F72D5F68-203B-8B56-8480-14BDBB92CFFD}"/>
                    </a:ext>
                  </a:extLst>
                </p:cNvPr>
                <p:cNvSpPr/>
                <p:nvPr/>
              </p:nvSpPr>
              <p:spPr>
                <a:xfrm>
                  <a:off x="2652409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66" name="Rechteck 165">
                  <a:extLst>
                    <a:ext uri="{FF2B5EF4-FFF2-40B4-BE49-F238E27FC236}">
                      <a16:creationId xmlns:a16="http://schemas.microsoft.com/office/drawing/2014/main" id="{55F4C38C-00B6-8E4B-A458-C782B8520643}"/>
                    </a:ext>
                  </a:extLst>
                </p:cNvPr>
                <p:cNvSpPr/>
                <p:nvPr/>
              </p:nvSpPr>
              <p:spPr>
                <a:xfrm>
                  <a:off x="3139094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6" name="Rechteck 155">
                <a:extLst>
                  <a:ext uri="{FF2B5EF4-FFF2-40B4-BE49-F238E27FC236}">
                    <a16:creationId xmlns:a16="http://schemas.microsoft.com/office/drawing/2014/main" id="{62580CC8-1B70-C401-7B7C-22D91B766965}"/>
                  </a:ext>
                </a:extLst>
              </p:cNvPr>
              <p:cNvSpPr/>
              <p:nvPr/>
            </p:nvSpPr>
            <p:spPr>
              <a:xfrm>
                <a:off x="1761821" y="1719128"/>
                <a:ext cx="973067" cy="215444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2000" dirty="0">
                    <a:solidFill>
                      <a:schemeClr val="tx1"/>
                    </a:solidFill>
                  </a:rPr>
                  <a:t>Heap</a:t>
                </a:r>
              </a:p>
            </p:txBody>
          </p:sp>
        </p:grpSp>
        <p:sp>
          <p:nvSpPr>
            <p:cNvPr id="129" name="Rechteck: abgerundete Ecken 128">
              <a:extLst>
                <a:ext uri="{FF2B5EF4-FFF2-40B4-BE49-F238E27FC236}">
                  <a16:creationId xmlns:a16="http://schemas.microsoft.com/office/drawing/2014/main" id="{6A22734D-3ABE-BCB5-5755-83C18E11D866}"/>
                </a:ext>
              </a:extLst>
            </p:cNvPr>
            <p:cNvSpPr/>
            <p:nvPr/>
          </p:nvSpPr>
          <p:spPr>
            <a:xfrm>
              <a:off x="8582479" y="2632546"/>
              <a:ext cx="739775" cy="215445"/>
            </a:xfrm>
            <a:prstGeom prst="round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pointer_1</a:t>
              </a:r>
            </a:p>
          </p:txBody>
        </p:sp>
        <p:sp>
          <p:nvSpPr>
            <p:cNvPr id="131" name="Rechteck: abgerundete Ecken 130">
              <a:extLst>
                <a:ext uri="{FF2B5EF4-FFF2-40B4-BE49-F238E27FC236}">
                  <a16:creationId xmlns:a16="http://schemas.microsoft.com/office/drawing/2014/main" id="{CFBAF757-6EBB-9AA3-56D1-95D7557E12AB}"/>
                </a:ext>
              </a:extLst>
            </p:cNvPr>
            <p:cNvSpPr/>
            <p:nvPr/>
          </p:nvSpPr>
          <p:spPr>
            <a:xfrm>
              <a:off x="8582479" y="3354172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pointer_2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BD5880E3-3B14-2984-069C-20F8A0531BBC}"/>
                </a:ext>
              </a:extLst>
            </p:cNvPr>
            <p:cNvSpPr/>
            <p:nvPr/>
          </p:nvSpPr>
          <p:spPr>
            <a:xfrm>
              <a:off x="8886864" y="2880422"/>
              <a:ext cx="131003" cy="430888"/>
            </a:xfrm>
            <a:prstGeom prst="downArrow">
              <a:avLst/>
            </a:prstGeom>
            <a:solidFill>
              <a:schemeClr val="bg1"/>
            </a:solidFill>
            <a:ln w="15875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: abgerundete Ecken 132">
              <a:extLst>
                <a:ext uri="{FF2B5EF4-FFF2-40B4-BE49-F238E27FC236}">
                  <a16:creationId xmlns:a16="http://schemas.microsoft.com/office/drawing/2014/main" id="{09B07BE4-4E64-BB06-E500-3F21E4E08F0B}"/>
                </a:ext>
              </a:extLst>
            </p:cNvPr>
            <p:cNvSpPr/>
            <p:nvPr/>
          </p:nvSpPr>
          <p:spPr>
            <a:xfrm>
              <a:off x="8701692" y="3105583"/>
              <a:ext cx="501346" cy="98004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/>
                <a:t>Ownership</a:t>
              </a:r>
            </a:p>
          </p:txBody>
        </p:sp>
        <p:cxnSp>
          <p:nvCxnSpPr>
            <p:cNvPr id="152" name="Verbinder: gekrümmt 151">
              <a:extLst>
                <a:ext uri="{FF2B5EF4-FFF2-40B4-BE49-F238E27FC236}">
                  <a16:creationId xmlns:a16="http://schemas.microsoft.com/office/drawing/2014/main" id="{61093678-91D3-8002-5D39-8A821DF60D2B}"/>
                </a:ext>
              </a:extLst>
            </p:cNvPr>
            <p:cNvCxnSpPr>
              <a:cxnSpLocks/>
              <a:stCxn id="131" idx="3"/>
              <a:endCxn id="159" idx="1"/>
            </p:cNvCxnSpPr>
            <p:nvPr/>
          </p:nvCxnSpPr>
          <p:spPr>
            <a:xfrm flipV="1">
              <a:off x="9322254" y="3085629"/>
              <a:ext cx="548518" cy="376266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C255361A-822C-245C-BC45-B8539589E9F0}"/>
              </a:ext>
            </a:extLst>
          </p:cNvPr>
          <p:cNvSpPr/>
          <p:nvPr/>
        </p:nvSpPr>
        <p:spPr>
          <a:xfrm>
            <a:off x="-1" y="5284403"/>
            <a:ext cx="10643347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accidentally free memory twice.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21D89781-5677-1200-2243-83DC0E56E5A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0085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02C8ED-B0A4-A192-D814-D0F6FB7CCF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7E24866-CD83-84EE-3716-70AC29C22B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925818-E14F-59B4-746C-D982672FC3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D540D2-06BF-BB2C-AE34-4DF3300895D0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Borrowing</a:t>
            </a:r>
            <a:r>
              <a:rPr lang="en-US" sz="1200" baseline="-25000" dirty="0"/>
              <a:t>[8]</a:t>
            </a:r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BFF6-05B4-6573-5043-9E5E42639485}"/>
              </a:ext>
            </a:extLst>
          </p:cNvPr>
          <p:cNvSpPr/>
          <p:nvPr/>
        </p:nvSpPr>
        <p:spPr>
          <a:xfrm>
            <a:off x="0" y="5284403"/>
            <a:ext cx="8296836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Safe access to data without transferring ownership.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55D28D7-4F71-BEDD-00F5-A2081BED52B1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D55E3C7B-092C-E28B-F524-31D6A2C9E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30887" y="1407479"/>
            <a:ext cx="5622355" cy="3633495"/>
          </a:xfrm>
          <a:prstGeom prst="rect">
            <a:avLst/>
          </a:prstGeom>
        </p:spPr>
      </p:pic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6D45792F-7212-3F51-EA85-74B701DE56E2}"/>
              </a:ext>
            </a:extLst>
          </p:cNvPr>
          <p:cNvGrpSpPr/>
          <p:nvPr/>
        </p:nvGrpSpPr>
        <p:grpSpPr>
          <a:xfrm>
            <a:off x="10380731" y="2986196"/>
            <a:ext cx="973068" cy="1292664"/>
            <a:chOff x="10526410" y="2267877"/>
            <a:chExt cx="973068" cy="1292664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CEE678C-1D6A-7B05-72C5-8ED40314BAC2}"/>
                </a:ext>
              </a:extLst>
            </p:cNvPr>
            <p:cNvSpPr/>
            <p:nvPr/>
          </p:nvSpPr>
          <p:spPr>
            <a:xfrm>
              <a:off x="10526411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Byte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40B600C1-F510-879D-C36C-F6A9687DFDD6}"/>
                </a:ext>
              </a:extLst>
            </p:cNvPr>
            <p:cNvSpPr/>
            <p:nvPr/>
          </p:nvSpPr>
          <p:spPr>
            <a:xfrm>
              <a:off x="11013096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502811F-D299-BCCA-4A23-C11DDA783250}"/>
                </a:ext>
              </a:extLst>
            </p:cNvPr>
            <p:cNvSpPr/>
            <p:nvPr/>
          </p:nvSpPr>
          <p:spPr>
            <a:xfrm>
              <a:off x="10526411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420ABFA-9C76-CD0E-6076-4AE6328ACC9E}"/>
                </a:ext>
              </a:extLst>
            </p:cNvPr>
            <p:cNvSpPr/>
            <p:nvPr/>
          </p:nvSpPr>
          <p:spPr>
            <a:xfrm>
              <a:off x="11013096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0x2A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AFDC747-7E40-050D-7EA7-621E3D5E2C4E}"/>
                </a:ext>
              </a:extLst>
            </p:cNvPr>
            <p:cNvSpPr/>
            <p:nvPr/>
          </p:nvSpPr>
          <p:spPr>
            <a:xfrm>
              <a:off x="10526411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05FDB53-3B3B-430E-9C7B-C341C92A5C86}"/>
                </a:ext>
              </a:extLst>
            </p:cNvPr>
            <p:cNvSpPr/>
            <p:nvPr/>
          </p:nvSpPr>
          <p:spPr>
            <a:xfrm>
              <a:off x="11013096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651E72-E56C-3F57-545F-2C3368879BF2}"/>
                </a:ext>
              </a:extLst>
            </p:cNvPr>
            <p:cNvSpPr/>
            <p:nvPr/>
          </p:nvSpPr>
          <p:spPr>
            <a:xfrm>
              <a:off x="10526411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33BD5434-DEFA-3864-F408-4EEE0172AF0A}"/>
                </a:ext>
              </a:extLst>
            </p:cNvPr>
            <p:cNvSpPr/>
            <p:nvPr/>
          </p:nvSpPr>
          <p:spPr>
            <a:xfrm>
              <a:off x="11013096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F938114-D9F2-E97C-90A7-5136AF87445C}"/>
                </a:ext>
              </a:extLst>
            </p:cNvPr>
            <p:cNvSpPr/>
            <p:nvPr/>
          </p:nvSpPr>
          <p:spPr>
            <a:xfrm>
              <a:off x="10526411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15F1D2-64DE-9048-5346-5D4CE6BEBC5C}"/>
                </a:ext>
              </a:extLst>
            </p:cNvPr>
            <p:cNvSpPr/>
            <p:nvPr/>
          </p:nvSpPr>
          <p:spPr>
            <a:xfrm>
              <a:off x="11013096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41F7E1-24E1-AEA7-1B93-E058DA020F0A}"/>
                </a:ext>
              </a:extLst>
            </p:cNvPr>
            <p:cNvSpPr/>
            <p:nvPr/>
          </p:nvSpPr>
          <p:spPr>
            <a:xfrm>
              <a:off x="10526410" y="2267877"/>
              <a:ext cx="973067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>
                  <a:solidFill>
                    <a:schemeClr val="tx1"/>
                  </a:solidFill>
                </a:rPr>
                <a:t>Heap</a:t>
              </a:r>
            </a:p>
          </p:txBody>
        </p:sp>
      </p:grp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A584B84E-6E6E-3521-9EAC-A56AA4DC5B47}"/>
              </a:ext>
            </a:extLst>
          </p:cNvPr>
          <p:cNvSpPr/>
          <p:nvPr/>
        </p:nvSpPr>
        <p:spPr>
          <a:xfrm>
            <a:off x="8671101" y="3418772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var_pointer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20F46C1-F8C2-5E04-67A2-3C61000085E9}"/>
              </a:ext>
            </a:extLst>
          </p:cNvPr>
          <p:cNvSpPr/>
          <p:nvPr/>
        </p:nvSpPr>
        <p:spPr>
          <a:xfrm>
            <a:off x="6502435" y="2445897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value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C9B91C4-DB88-0A1A-9B99-FA68D1F7FF09}"/>
              </a:ext>
            </a:extLst>
          </p:cNvPr>
          <p:cNvSpPr txBox="1"/>
          <p:nvPr/>
        </p:nvSpPr>
        <p:spPr>
          <a:xfrm>
            <a:off x="720974" y="3333315"/>
            <a:ext cx="3744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variable </a:t>
            </a:r>
            <a:r>
              <a:rPr lang="de-DE" dirty="0" err="1"/>
              <a:t>var_pointer</a:t>
            </a:r>
            <a:endParaRPr lang="de-DE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92B804A8-4B47-E56A-3688-CDB9DB2D2E00}"/>
              </a:ext>
            </a:extLst>
          </p:cNvPr>
          <p:cNvSpPr txBox="1"/>
          <p:nvPr/>
        </p:nvSpPr>
        <p:spPr>
          <a:xfrm>
            <a:off x="625050" y="2230455"/>
            <a:ext cx="3840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Borrowing allows to mutate the value</a:t>
            </a:r>
          </a:p>
          <a:p>
            <a:pPr algn="r"/>
            <a:r>
              <a:rPr lang="en-US" dirty="0"/>
              <a:t>without transferring ownership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6056F08-F002-545D-A57B-7C53ECB274FD}"/>
              </a:ext>
            </a:extLst>
          </p:cNvPr>
          <p:cNvSpPr txBox="1"/>
          <p:nvPr/>
        </p:nvSpPr>
        <p:spPr>
          <a:xfrm>
            <a:off x="317017" y="3817812"/>
            <a:ext cx="4148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var_pointer</a:t>
            </a:r>
            <a:endParaRPr lang="de-DE" dirty="0"/>
          </a:p>
        </p:txBody>
      </p:sp>
      <p:cxnSp>
        <p:nvCxnSpPr>
          <p:cNvPr id="60" name="Verbinder: gekrümmt 59">
            <a:extLst>
              <a:ext uri="{FF2B5EF4-FFF2-40B4-BE49-F238E27FC236}">
                <a16:creationId xmlns:a16="http://schemas.microsoft.com/office/drawing/2014/main" id="{3B5024C4-5A62-27F9-0F08-30C9B4D8D369}"/>
              </a:ext>
            </a:extLst>
          </p:cNvPr>
          <p:cNvCxnSpPr>
            <a:cxnSpLocks/>
            <a:stCxn id="33" idx="3"/>
            <a:endCxn id="30" idx="0"/>
          </p:cNvCxnSpPr>
          <p:nvPr/>
        </p:nvCxnSpPr>
        <p:spPr>
          <a:xfrm>
            <a:off x="7475502" y="2553620"/>
            <a:ext cx="1682133" cy="86515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09DE07B-31C5-73DE-200C-86B3014BB7D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 flipV="1">
            <a:off x="9644168" y="3524806"/>
            <a:ext cx="736564" cy="1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BD445D87-8B97-FB91-0CCD-32B51F03B62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[8] </a:t>
            </a:r>
            <a:r>
              <a:rPr lang="de-DE" sz="800" dirty="0">
                <a:hlinkClick r:id="rId4"/>
              </a:rPr>
              <a:t>https://doc.rust-lang.org/book/ch04-02-references-and-borrowing.html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5097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85A692-F77F-DCF2-5423-D0B2F45D79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7FD16C-CC8E-F6E0-171A-CF850638A4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1F7D1B-6E30-7343-0651-B5E315342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A72618D-FD4B-2DE1-0BDC-CBA3FDFED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6222" y="1035121"/>
            <a:ext cx="5523101" cy="4338560"/>
          </a:xfrm>
          <a:prstGeom prst="rect">
            <a:avLst/>
          </a:prstGeom>
        </p:spPr>
      </p:pic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427C6F39-4260-5F42-CD63-74F515093A0B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Lifetimes and Borrow Checker</a:t>
            </a:r>
            <a:r>
              <a:rPr lang="en-US" sz="1200" baseline="-25000" dirty="0"/>
              <a:t>[9]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64690F-D55E-8063-3731-E3F5D36B318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[9] </a:t>
            </a:r>
            <a:r>
              <a:rPr lang="de-DE" sz="800" dirty="0">
                <a:hlinkClick r:id="rId4"/>
              </a:rPr>
              <a:t>https://doc.rust-lang.org/book/ch10-03-lifetime-syntax.html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1E04042-B4D2-E3F0-D90C-E1AE8FD44E01}"/>
              </a:ext>
            </a:extLst>
          </p:cNvPr>
          <p:cNvSpPr/>
          <p:nvPr/>
        </p:nvSpPr>
        <p:spPr>
          <a:xfrm>
            <a:off x="-1" y="5284403"/>
            <a:ext cx="8760759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Reliable dangling references detection at compile time.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9BEACD2A-C4DB-D1F7-497B-D9F1DF40311B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3EB36D9-7B3D-DD54-BE9E-D9C78E282B38}"/>
              </a:ext>
            </a:extLst>
          </p:cNvPr>
          <p:cNvSpPr txBox="1"/>
          <p:nvPr/>
        </p:nvSpPr>
        <p:spPr>
          <a:xfrm>
            <a:off x="3604155" y="3191441"/>
            <a:ext cx="90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value</a:t>
            </a:r>
            <a:endParaRPr lang="de-DE" sz="240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3A18AF7-2CC4-C24E-B2B0-6EC07517BA43}"/>
              </a:ext>
            </a:extLst>
          </p:cNvPr>
          <p:cNvSpPr txBox="1"/>
          <p:nvPr/>
        </p:nvSpPr>
        <p:spPr>
          <a:xfrm>
            <a:off x="1720526" y="3120574"/>
            <a:ext cx="1449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endParaRPr lang="de-DE" sz="2400" dirty="0"/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245788A4-0494-B7B0-5275-E05EA1F6E07C}"/>
              </a:ext>
            </a:extLst>
          </p:cNvPr>
          <p:cNvSpPr/>
          <p:nvPr/>
        </p:nvSpPr>
        <p:spPr>
          <a:xfrm>
            <a:off x="4454336" y="3065928"/>
            <a:ext cx="252133" cy="712693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A982BFFE-1623-6A39-F4F1-FFAAA601323F}"/>
              </a:ext>
            </a:extLst>
          </p:cNvPr>
          <p:cNvSpPr/>
          <p:nvPr/>
        </p:nvSpPr>
        <p:spPr>
          <a:xfrm>
            <a:off x="3119670" y="2172387"/>
            <a:ext cx="538658" cy="2399324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3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AE6A8-6B53-5DC7-B3E7-B350C27E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534D8F90-A0E1-5335-A335-00B1B1317B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818" y="1614792"/>
            <a:ext cx="6314038" cy="4362426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C63AC6-AB1C-727F-A1EA-33D2FF80C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4D2985-F275-669B-D00E-B49BB979E7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C9530-C67E-3532-42C5-CA7898FA43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E20576-7183-E342-C49B-32BBCCE64D8F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22542D1-CF83-62E5-B8FA-CA7E7128351E}"/>
              </a:ext>
            </a:extLst>
          </p:cNvPr>
          <p:cNvSpPr txBox="1"/>
          <p:nvPr/>
        </p:nvSpPr>
        <p:spPr>
          <a:xfrm>
            <a:off x="6131860" y="2673950"/>
            <a:ext cx="4782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Bind Ownership to </a:t>
            </a:r>
            <a:r>
              <a:rPr lang="en-US" sz="2400" dirty="0" err="1"/>
              <a:t>buffer_owner</a:t>
            </a:r>
            <a:endParaRPr lang="en-US" sz="2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BC3DCF9-2107-B3FA-25AE-5FD36B929670}"/>
              </a:ext>
            </a:extLst>
          </p:cNvPr>
          <p:cNvSpPr txBox="1"/>
          <p:nvPr/>
        </p:nvSpPr>
        <p:spPr>
          <a:xfrm>
            <a:off x="6366508" y="3201297"/>
            <a:ext cx="2946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Borrow </a:t>
            </a:r>
            <a:r>
              <a:rPr lang="de-DE" sz="2400" dirty="0" err="1"/>
              <a:t>buffer_owner</a:t>
            </a:r>
            <a:endParaRPr lang="de-DE" sz="2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2F1082-7C63-4598-AA10-43AABB84AA97}"/>
              </a:ext>
            </a:extLst>
          </p:cNvPr>
          <p:cNvSpPr txBox="1"/>
          <p:nvPr/>
        </p:nvSpPr>
        <p:spPr>
          <a:xfrm>
            <a:off x="4731223" y="3753777"/>
            <a:ext cx="5289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buffer_owner's</a:t>
            </a:r>
            <a:r>
              <a:rPr lang="en-US" sz="2400" dirty="0"/>
              <a:t> lifetime is now over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CBE297D-CF16-0DA3-94D8-90EBC0F8061C}"/>
              </a:ext>
            </a:extLst>
          </p:cNvPr>
          <p:cNvSpPr txBox="1"/>
          <p:nvPr/>
        </p:nvSpPr>
        <p:spPr>
          <a:xfrm>
            <a:off x="5949778" y="4308418"/>
            <a:ext cx="36238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Attempt to use the borrow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FD7048-A4E2-394B-33CB-E7C5D55E255E}"/>
              </a:ext>
            </a:extLst>
          </p:cNvPr>
          <p:cNvSpPr/>
          <p:nvPr/>
        </p:nvSpPr>
        <p:spPr>
          <a:xfrm>
            <a:off x="2171699" y="2773222"/>
            <a:ext cx="367777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17DB784-9DC1-5445-E9CA-9A01F5FA3992}"/>
              </a:ext>
            </a:extLst>
          </p:cNvPr>
          <p:cNvSpPr/>
          <p:nvPr/>
        </p:nvSpPr>
        <p:spPr>
          <a:xfrm>
            <a:off x="2171699" y="3308869"/>
            <a:ext cx="392430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4E21590-1DD5-7CFC-1F32-368929ABE705}"/>
              </a:ext>
            </a:extLst>
          </p:cNvPr>
          <p:cNvSpPr/>
          <p:nvPr/>
        </p:nvSpPr>
        <p:spPr>
          <a:xfrm>
            <a:off x="2171700" y="3857961"/>
            <a:ext cx="2238936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21D091AB-F3F6-9592-04EA-C09BCADE0DC3}"/>
              </a:ext>
            </a:extLst>
          </p:cNvPr>
          <p:cNvSpPr/>
          <p:nvPr/>
        </p:nvSpPr>
        <p:spPr>
          <a:xfrm>
            <a:off x="2171699" y="4406817"/>
            <a:ext cx="3449172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Marke 1 Silhouette">
            <a:extLst>
              <a:ext uri="{FF2B5EF4-FFF2-40B4-BE49-F238E27FC236}">
                <a16:creationId xmlns:a16="http://schemas.microsoft.com/office/drawing/2014/main" id="{BFF75386-925F-CCF6-4FF3-4D46D0DF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9470" y="2721279"/>
            <a:ext cx="367008" cy="367008"/>
          </a:xfrm>
          <a:prstGeom prst="rect">
            <a:avLst/>
          </a:prstGeom>
        </p:spPr>
      </p:pic>
      <p:pic>
        <p:nvPicPr>
          <p:cNvPr id="25" name="Grafik 24" descr="Marke 4 Silhouette">
            <a:extLst>
              <a:ext uri="{FF2B5EF4-FFF2-40B4-BE49-F238E27FC236}">
                <a16:creationId xmlns:a16="http://schemas.microsoft.com/office/drawing/2014/main" id="{CD0F49F7-2C4F-74C9-6C04-4B26B1AB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0871" y="4354874"/>
            <a:ext cx="367008" cy="367008"/>
          </a:xfrm>
          <a:prstGeom prst="rect">
            <a:avLst/>
          </a:prstGeom>
        </p:spPr>
      </p:pic>
      <p:pic>
        <p:nvPicPr>
          <p:cNvPr id="27" name="Grafik 26" descr="Marke 3 Silhouette">
            <a:extLst>
              <a:ext uri="{FF2B5EF4-FFF2-40B4-BE49-F238E27FC236}">
                <a16:creationId xmlns:a16="http://schemas.microsoft.com/office/drawing/2014/main" id="{3821C0C1-8CA2-EA5D-10D8-88E6CC156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3591" y="3806252"/>
            <a:ext cx="367008" cy="367008"/>
          </a:xfrm>
          <a:prstGeom prst="rect">
            <a:avLst/>
          </a:prstGeom>
        </p:spPr>
      </p:pic>
      <p:pic>
        <p:nvPicPr>
          <p:cNvPr id="29" name="Grafik 28" descr="Abzeichen Silhouette">
            <a:extLst>
              <a:ext uri="{FF2B5EF4-FFF2-40B4-BE49-F238E27FC236}">
                <a16:creationId xmlns:a16="http://schemas.microsoft.com/office/drawing/2014/main" id="{554EEADF-7E18-0A51-85B5-6CE57C6A4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5999" y="3261192"/>
            <a:ext cx="367008" cy="36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49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152C-C224-F62C-8C6D-D6C1D5F2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DE1176B6-DAEB-D686-B641-4F10A8BB7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086" y="2279650"/>
            <a:ext cx="4184513" cy="289111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FFABCC-6A45-6020-7F6F-519948DD39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6ECF19-4FCF-8665-E8F8-4F6EDB4DCE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AE408F-4E3A-BC65-89D4-41E6FAD29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753E48AE-88B3-EC04-C0AA-A2956291B0A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B46AFDE-3E2F-65A7-119E-2E4F66FBAA00}"/>
              </a:ext>
            </a:extLst>
          </p:cNvPr>
          <p:cNvGrpSpPr/>
          <p:nvPr/>
        </p:nvGrpSpPr>
        <p:grpSpPr>
          <a:xfrm>
            <a:off x="3155950" y="1527612"/>
            <a:ext cx="8113807" cy="4755747"/>
            <a:chOff x="2946400" y="1445062"/>
            <a:chExt cx="8113807" cy="4755747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7586372-2E0D-C0DB-3979-14334F56FB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64960" y="1445062"/>
              <a:ext cx="6795247" cy="4755747"/>
            </a:xfrm>
            <a:prstGeom prst="rect">
              <a:avLst/>
            </a:prstGeom>
          </p:spPr>
        </p:pic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2219161C-76EB-CE29-F0B9-4FD2AFFA1D09}"/>
                </a:ext>
              </a:extLst>
            </p:cNvPr>
            <p:cNvSpPr/>
            <p:nvPr/>
          </p:nvSpPr>
          <p:spPr>
            <a:xfrm>
              <a:off x="4800599" y="1880259"/>
              <a:ext cx="5876366" cy="3942317"/>
            </a:xfrm>
            <a:prstGeom prst="roundRect">
              <a:avLst>
                <a:gd name="adj" fmla="val 46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08CB371C-3FF4-A112-B043-2C86601F7F5E}"/>
                </a:ext>
              </a:extLst>
            </p:cNvPr>
            <p:cNvCxnSpPr>
              <a:cxnSpLocks/>
            </p:cNvCxnSpPr>
            <p:nvPr/>
          </p:nvCxnSpPr>
          <p:spPr>
            <a:xfrm>
              <a:off x="2946400" y="3905250"/>
              <a:ext cx="1899444" cy="18549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5E297F5-ADCA-8B96-9BBB-B20208A0F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46400" y="1964531"/>
              <a:ext cx="1882775" cy="1737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Grafik 19">
            <a:extLst>
              <a:ext uri="{FF2B5EF4-FFF2-40B4-BE49-F238E27FC236}">
                <a16:creationId xmlns:a16="http://schemas.microsoft.com/office/drawing/2014/main" id="{9FC68B84-E932-4C20-10E5-D86B866FB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0307" y="4475032"/>
            <a:ext cx="1519680" cy="1022374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F34CE09-9A60-953E-54FB-AFDFFBC4D0D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6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E1AD0FE-94B9-BC3D-99CA-3BC9D7614E6F}"/>
              </a:ext>
            </a:extLst>
          </p:cNvPr>
          <p:cNvSpPr txBox="1"/>
          <p:nvPr/>
        </p:nvSpPr>
        <p:spPr>
          <a:xfrm>
            <a:off x="3843216" y="5264837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408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AFD5-5BF8-3485-78A3-85C6BD92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1C7A6-26F1-1A15-8183-307DB8A7F8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D7563F-C210-FEA3-E728-29365D8784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FF5200-10D6-7837-3C03-8FFB907842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689E23-184A-9C4D-C450-46E91EDCE897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 err="1"/>
              <a:t>Compiletime</a:t>
            </a:r>
            <a:r>
              <a:rPr lang="en-US" sz="3600" dirty="0"/>
              <a:t> Bounds Checking</a:t>
            </a:r>
            <a:endParaRPr lang="en-US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BB3C63A-7355-C3E9-C009-1093FD18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639" y="1237850"/>
            <a:ext cx="5073184" cy="3866667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758C6A6-EBCE-E8FA-93DC-FF86EF33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189" y="2974517"/>
            <a:ext cx="1200648" cy="80774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4DD69CF-8EF3-5ED5-E5E0-9B98F6B6F5B1}"/>
              </a:ext>
            </a:extLst>
          </p:cNvPr>
          <p:cNvSpPr txBox="1"/>
          <p:nvPr/>
        </p:nvSpPr>
        <p:spPr>
          <a:xfrm>
            <a:off x="453060" y="3573011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07618D9-1CB2-D179-6BDE-95BE13D175D7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5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968917-4431-3F89-DB77-F90932539675}"/>
              </a:ext>
            </a:extLst>
          </p:cNvPr>
          <p:cNvSpPr/>
          <p:nvPr/>
        </p:nvSpPr>
        <p:spPr>
          <a:xfrm>
            <a:off x="-1" y="5284403"/>
            <a:ext cx="10012681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If the index is constant, Rust can detect out-of-bounds errors at compile time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F04F6F9-5EFB-5B66-C514-06622FB529F0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8FEC3C9E-C203-AEF9-0C01-57ADFB801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5965" y="1999934"/>
            <a:ext cx="7866092" cy="2828129"/>
          </a:xfrm>
          <a:prstGeom prst="rect">
            <a:avLst/>
          </a:prstGeom>
        </p:spPr>
      </p:pic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1CAF538-51F4-0BD4-9F96-68C9439CC0DF}"/>
              </a:ext>
            </a:extLst>
          </p:cNvPr>
          <p:cNvCxnSpPr>
            <a:cxnSpLocks/>
          </p:cNvCxnSpPr>
          <p:nvPr/>
        </p:nvCxnSpPr>
        <p:spPr>
          <a:xfrm flipH="1">
            <a:off x="3531604" y="2622550"/>
            <a:ext cx="1811921" cy="6313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F6528F3-6AB8-F788-2113-5C0999B3DB4E}"/>
              </a:ext>
            </a:extLst>
          </p:cNvPr>
          <p:cNvSpPr/>
          <p:nvPr/>
        </p:nvSpPr>
        <p:spPr>
          <a:xfrm>
            <a:off x="5316125" y="2599629"/>
            <a:ext cx="6577236" cy="1777126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F1ADA7F-BB80-2D51-C27D-9FB1D435B5B3}"/>
              </a:ext>
            </a:extLst>
          </p:cNvPr>
          <p:cNvCxnSpPr>
            <a:cxnSpLocks/>
          </p:cNvCxnSpPr>
          <p:nvPr/>
        </p:nvCxnSpPr>
        <p:spPr>
          <a:xfrm flipH="1" flipV="1">
            <a:off x="3520303" y="3505200"/>
            <a:ext cx="1823222" cy="8540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4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1B77F-1493-B420-31E1-6F669419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9B953BC-1ACB-05C2-EFEB-78DEA9943A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F458EB-6444-9435-FCFE-A5F4DDCA80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928500-BCEE-1FAD-F0F9-F22309C50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9A6D249-7753-321C-2C11-11DE7B68B4CA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Runtime Bounds Checking</a:t>
            </a:r>
            <a:r>
              <a:rPr lang="en-US" sz="1200" baseline="-25000" dirty="0"/>
              <a:t>[11]</a:t>
            </a:r>
            <a:endParaRPr lang="en-US" baseline="-25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33C518-C47D-A258-A744-224B0DD4EF99}"/>
              </a:ext>
            </a:extLst>
          </p:cNvPr>
          <p:cNvSpPr txBox="1"/>
          <p:nvPr/>
        </p:nvSpPr>
        <p:spPr>
          <a:xfrm>
            <a:off x="1092200" y="5899150"/>
            <a:ext cx="96422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[11] </a:t>
            </a:r>
            <a:r>
              <a:rPr lang="de-DE" sz="800" dirty="0">
                <a:hlinkClick r:id="rId3"/>
              </a:rPr>
              <a:t>https://doc.rust-lang.org/reference/panic.html</a:t>
            </a:r>
            <a:endParaRPr lang="de-DE" sz="800" dirty="0"/>
          </a:p>
          <a:p>
            <a:r>
              <a:rPr lang="de-DE" sz="800" dirty="0"/>
              <a:t>[12] </a:t>
            </a:r>
            <a:r>
              <a:rPr lang="de-DE" sz="800" dirty="0">
                <a:hlinkClick r:id="rId4"/>
              </a:rPr>
              <a:t>https://doc.rust-lang.org/book/img/ferris/panics.svg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A8143AE-0B09-581C-76E7-91A0A2AC196E}"/>
              </a:ext>
            </a:extLst>
          </p:cNvPr>
          <p:cNvSpPr/>
          <p:nvPr/>
        </p:nvSpPr>
        <p:spPr>
          <a:xfrm>
            <a:off x="-1" y="5227320"/>
            <a:ext cx="8823961" cy="68938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Rust checks array bounds during runtime when accessing indices.</a:t>
            </a:r>
          </a:p>
          <a:p>
            <a:pPr algn="ctr"/>
            <a:r>
              <a:rPr lang="en-US" sz="2000" b="1" dirty="0"/>
              <a:t>If a bound is violated, a predefined panic handler is called.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5AD2AD2-7453-F0B2-5666-5EBD3D278C7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59BAA90-5A24-22CF-9BA2-0FEFD6F23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62075" y="1320232"/>
            <a:ext cx="5812155" cy="389756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8B752FC-4C68-94EA-6444-2177433DE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7487" y="2400366"/>
            <a:ext cx="5076825" cy="1447800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C402BEF-2240-B81F-119F-3E2EA29D4D50}"/>
              </a:ext>
            </a:extLst>
          </p:cNvPr>
          <p:cNvSpPr/>
          <p:nvPr/>
        </p:nvSpPr>
        <p:spPr>
          <a:xfrm>
            <a:off x="7094219" y="2834194"/>
            <a:ext cx="4152901" cy="673498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184F39C-5A0A-F1C5-9E88-9EA666C900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3389" y="1790137"/>
            <a:ext cx="1647567" cy="1087279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4681EF4-5C26-7F67-A777-B9A86777CF63}"/>
              </a:ext>
            </a:extLst>
          </p:cNvPr>
          <p:cNvSpPr txBox="1"/>
          <p:nvPr/>
        </p:nvSpPr>
        <p:spPr>
          <a:xfrm>
            <a:off x="1280024" y="2557195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[12]</a:t>
            </a:r>
            <a:endParaRPr lang="en-US" sz="1200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EE4FC89-E594-155F-97A3-0CB91B8A01E6}"/>
              </a:ext>
            </a:extLst>
          </p:cNvPr>
          <p:cNvCxnSpPr>
            <a:cxnSpLocks/>
          </p:cNvCxnSpPr>
          <p:nvPr/>
        </p:nvCxnSpPr>
        <p:spPr>
          <a:xfrm flipH="1" flipV="1">
            <a:off x="5055234" y="2428875"/>
            <a:ext cx="2042160" cy="106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DA008C8-38E1-5997-BE67-F5631922E1C2}"/>
              </a:ext>
            </a:extLst>
          </p:cNvPr>
          <p:cNvCxnSpPr>
            <a:cxnSpLocks/>
          </p:cNvCxnSpPr>
          <p:nvPr/>
        </p:nvCxnSpPr>
        <p:spPr>
          <a:xfrm flipH="1" flipV="1">
            <a:off x="5052059" y="2228837"/>
            <a:ext cx="2042160" cy="622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060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56FAE34-0797-2F7D-B0FA-A9C6350A8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4BC643-0034-E3EE-1A30-76F145C5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3E749CE-5230-159E-DB93-CAC1063CE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745DA5-8883-5CEA-5754-257EF94A415F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[13] </a:t>
            </a:r>
            <a:r>
              <a:rPr lang="de-DE" sz="800" dirty="0">
                <a:hlinkClick r:id="rId3"/>
              </a:rPr>
              <a:t>https://doc.rust-lang.org/reference/unsafety.html</a:t>
            </a:r>
            <a:r>
              <a:rPr lang="de-DE" sz="800" dirty="0"/>
              <a:t> </a:t>
            </a:r>
          </a:p>
          <a:p>
            <a:r>
              <a:rPr lang="de-DE" sz="800" dirty="0"/>
              <a:t>[14] </a:t>
            </a:r>
            <a:r>
              <a:rPr lang="de-DE" sz="800" dirty="0">
                <a:hlinkClick r:id="rId4"/>
              </a:rPr>
              <a:t>https://plv.mpi-sws.org/rustbelt/popl18/paper.pdf</a:t>
            </a:r>
            <a:r>
              <a:rPr lang="de-DE" sz="800" dirty="0"/>
              <a:t> </a:t>
            </a:r>
          </a:p>
          <a:p>
            <a:r>
              <a:rPr lang="de-DE" sz="800" dirty="0"/>
              <a:t>[15] </a:t>
            </a:r>
            <a:r>
              <a:rPr lang="de-DE" sz="800" dirty="0">
                <a:hlinkClick r:id="rId5"/>
              </a:rPr>
              <a:t>https://security.googleblog.com/2024/09/eliminating-memory-safety-vulnerabilities-Android.html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0CD3710-E39A-F529-A783-9D12E6167E82}"/>
              </a:ext>
            </a:extLst>
          </p:cNvPr>
          <p:cNvGrpSpPr/>
          <p:nvPr/>
        </p:nvGrpSpPr>
        <p:grpSpPr>
          <a:xfrm>
            <a:off x="5673779" y="1691715"/>
            <a:ext cx="5238512" cy="3681087"/>
            <a:chOff x="5828420" y="958850"/>
            <a:chExt cx="5238512" cy="3681087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D794A068-C096-039C-202B-7DEC5815C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8420" y="958850"/>
              <a:ext cx="5238512" cy="3239147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AC09AAB-05CB-18C5-FFE1-5927ED9A76B7}"/>
                </a:ext>
              </a:extLst>
            </p:cNvPr>
            <p:cNvSpPr txBox="1"/>
            <p:nvPr/>
          </p:nvSpPr>
          <p:spPr>
            <a:xfrm>
              <a:off x="6215244" y="4116717"/>
              <a:ext cx="44648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Google safety statistics showing the number of memory safety vulnerabilities over a six-year period</a:t>
              </a:r>
              <a:r>
                <a:rPr lang="en-US" sz="1200" baseline="-25000" dirty="0"/>
                <a:t>[15]</a:t>
              </a:r>
              <a:endParaRPr lang="en-US" sz="1400" baseline="-25000" dirty="0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65537352-2D67-C762-E377-3CEE6208F5CC}"/>
              </a:ext>
            </a:extLst>
          </p:cNvPr>
          <p:cNvSpPr txBox="1"/>
          <p:nvPr/>
        </p:nvSpPr>
        <p:spPr>
          <a:xfrm>
            <a:off x="632011" y="1745507"/>
            <a:ext cx="50417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Reality Check:</a:t>
            </a:r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It is still possible to write unsafe code in Rust</a:t>
            </a:r>
            <a:r>
              <a:rPr lang="en-US" sz="1200" baseline="-25000" dirty="0"/>
              <a:t>[13]</a:t>
            </a:r>
            <a:endParaRPr lang="en-US" baseline="-25000" dirty="0"/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Rust's programming concepts take longer for developers to learn</a:t>
            </a:r>
          </a:p>
        </p:txBody>
      </p:sp>
      <p:sp>
        <p:nvSpPr>
          <p:cNvPr id="10" name="Inhaltsplatzhalter 4">
            <a:extLst>
              <a:ext uri="{FF2B5EF4-FFF2-40B4-BE49-F238E27FC236}">
                <a16:creationId xmlns:a16="http://schemas.microsoft.com/office/drawing/2014/main" id="{DBC118BD-C71A-A907-EABE-4EE0319AF21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Conclusion</a:t>
            </a:r>
            <a:endParaRPr lang="en-US" baseline="-250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7F0AE2-6E85-77D7-AED9-7C3515CF5899}"/>
              </a:ext>
            </a:extLst>
          </p:cNvPr>
          <p:cNvSpPr txBox="1"/>
          <p:nvPr/>
        </p:nvSpPr>
        <p:spPr>
          <a:xfrm>
            <a:off x="632010" y="3317196"/>
            <a:ext cx="491490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…but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enormous</a:t>
            </a:r>
            <a:r>
              <a:rPr lang="de-DE" sz="2400" dirty="0"/>
              <a:t> Benefits: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There is theoretical evidence that some major memory safety issues can be completely avoided thanks to Rust's design</a:t>
            </a:r>
            <a:r>
              <a:rPr lang="en-US" sz="1200" baseline="-25000" dirty="0"/>
              <a:t>[14]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In practice, using Rust significantly reduces memory safety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137577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5"/>
              </a:rPr>
              <a:t>https://cwe.mitre.org/top25/archive/2025/2025_kev_insights.html#2025_kev_pie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6"/>
              </a:rPr>
              <a:t>https://ieeexplore.ieee.org/document/6547101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7"/>
              </a:rPr>
              <a:t>https://survey.stackoverflow.co/2025/technology/#2-programming-scripting-and-markup-languages</a:t>
            </a:r>
            <a:r>
              <a:rPr lang="en-US" sz="1200" dirty="0"/>
              <a:t> [Last Access: 18.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8"/>
              </a:rPr>
              <a:t>https://doc.rust-lang.org/book/ch04-01-what-is-ownership.html</a:t>
            </a:r>
            <a:r>
              <a:rPr lang="de-DE" sz="1200" dirty="0"/>
              <a:t> [</a:t>
            </a:r>
            <a:r>
              <a:rPr lang="en-US" sz="1200" dirty="0"/>
              <a:t>Last Access: 21.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9"/>
              </a:rPr>
              <a:t>https://doc.rust-lang.org/book/ch04-02-references-and-borrowing.html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0"/>
              </a:rPr>
              <a:t>https://doc.rust-lang.org/book/ch10-03-lifetime-syntax.html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1"/>
              </a:rPr>
              <a:t>https://doc.rust-lang.org/book/img/ferris/does_not_compile.svg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2"/>
              </a:rPr>
              <a:t>https://doc.rust-lang.org/reference/panic.html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3"/>
              </a:rPr>
              <a:t>https://doc.rust-lang.org/book/img/ferris/panics.svg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4"/>
              </a:rPr>
              <a:t>https://doc.rust-lang.org/reference/unsafety.html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5"/>
              </a:rPr>
              <a:t>https://plv.mpi-sws.org/rustbelt/popl18/paper.pdf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6"/>
              </a:rPr>
              <a:t>https://security.googleblog.com/2024/09/eliminating-memory-safety-vulnerabilities-Android.html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5838</Words>
  <Application>Microsoft Office PowerPoint</Application>
  <PresentationFormat>Breitbild</PresentationFormat>
  <Paragraphs>661</Paragraphs>
  <Slides>31</Slides>
  <Notes>30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Symbol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Grandel, David</cp:lastModifiedBy>
  <cp:revision>53</cp:revision>
  <dcterms:created xsi:type="dcterms:W3CDTF">2025-12-08T16:38:36Z</dcterms:created>
  <dcterms:modified xsi:type="dcterms:W3CDTF">2026-06-08T17:10:58Z</dcterms:modified>
</cp:coreProperties>
</file>