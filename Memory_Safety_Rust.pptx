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18"/>
  </p:notesMasterIdLst>
  <p:sldIdLst>
    <p:sldId id="256" r:id="rId2"/>
    <p:sldId id="257" r:id="rId3"/>
    <p:sldId id="258" r:id="rId4"/>
    <p:sldId id="260" r:id="rId5"/>
    <p:sldId id="261" r:id="rId6"/>
    <p:sldId id="265" r:id="rId7"/>
    <p:sldId id="266" r:id="rId8"/>
    <p:sldId id="267" r:id="rId9"/>
    <p:sldId id="268" r:id="rId10"/>
    <p:sldId id="270" r:id="rId11"/>
    <p:sldId id="271" r:id="rId12"/>
    <p:sldId id="272" r:id="rId13"/>
    <p:sldId id="273" r:id="rId14"/>
    <p:sldId id="275" r:id="rId15"/>
    <p:sldId id="274" r:id="rId16"/>
    <p:sldId id="259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" id="{E163F5B9-3F17-4B22-BCEC-9E97C88CFEE2}">
          <p14:sldIdLst>
            <p14:sldId id="256"/>
          </p14:sldIdLst>
        </p14:section>
        <p14:section name="Introduction and Motivation" id="{FEE7A2D1-4B6E-4142-9DA3-CF8F0DB5660C}">
          <p14:sldIdLst>
            <p14:sldId id="257"/>
            <p14:sldId id="258"/>
            <p14:sldId id="260"/>
          </p14:sldIdLst>
        </p14:section>
        <p14:section name="Memory Safety" id="{65F6EF3D-ACD6-4188-8AAD-5E78034F26E3}">
          <p14:sldIdLst>
            <p14:sldId id="261"/>
            <p14:sldId id="265"/>
            <p14:sldId id="266"/>
            <p14:sldId id="267"/>
            <p14:sldId id="268"/>
            <p14:sldId id="270"/>
            <p14:sldId id="271"/>
            <p14:sldId id="272"/>
            <p14:sldId id="273"/>
            <p14:sldId id="275"/>
            <p14:sldId id="274"/>
          </p14:sldIdLst>
        </p14:section>
        <p14:section name="Rust's Approach" id="{CC0F149F-AD4B-4ECD-91BA-497C65BA172A}">
          <p14:sldIdLst/>
        </p14:section>
        <p14:section name="Conclusion" id="{F88A5424-FC40-434F-9B6E-01A02AB2D8F6}">
          <p14:sldIdLst/>
        </p14:section>
        <p14:section name="Sources" id="{3213A62E-4387-4F50-8DCC-554714B34329}">
          <p14:sldIdLst>
            <p14:sldId id="259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4378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42" d="100"/>
          <a:sy n="142" d="100"/>
        </p:scale>
        <p:origin x="15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D40B27-32DC-4257-8536-E60282C13369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7F7AC5-18AB-48B2-9359-58B3A2315671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3959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2DBC7A7-5989-10C6-0908-080077906A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F3A0344F-B54A-F4A6-7766-6D98DB139D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C1C28C0-452F-1895-9636-18007A799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Rust's Approach to Memory Safety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7D4A830-D1C7-8077-D7A7-99B0CB94E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4141" y="6356349"/>
            <a:ext cx="475128" cy="365125"/>
          </a:xfrm>
        </p:spPr>
        <p:txBody>
          <a:bodyPr/>
          <a:lstStyle/>
          <a:p>
            <a:fld id="{5F85D455-7770-4F98-B944-71C158B4E906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60748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55E46763-ABB8-51B3-F6E8-04F79A23235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>
                <a:solidFill>
                  <a:srgbClr val="64378C"/>
                </a:solidFill>
              </a:rPr>
              <a:t>Rust's Approach to Memory Safety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C39DF77-1A22-72A8-5645-286CC41C438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ctr"/>
            <a:fld id="{5F85D455-7770-4F98-B944-71C158B4E906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770E47B0-CA95-BD24-CB29-08CFEC1D2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800599" y="136525"/>
            <a:ext cx="2590800" cy="365125"/>
          </a:xfrm>
        </p:spPr>
        <p:txBody>
          <a:bodyPr anchor="ctr" anchorCtr="0"/>
          <a:lstStyle>
            <a:lvl1pPr algn="ctr">
              <a:buNone/>
              <a:defRPr sz="1200">
                <a:solidFill>
                  <a:srgbClr val="64378C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40910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55E46763-ABB8-51B3-F6E8-04F79A23235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>
                <a:solidFill>
                  <a:srgbClr val="64378C"/>
                </a:solidFill>
              </a:rPr>
              <a:t>Rust's Approach to Memory Safety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C39DF77-1A22-72A8-5645-286CC41C438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ctr"/>
            <a:fld id="{5F85D455-7770-4F98-B944-71C158B4E906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770E47B0-CA95-BD24-CB29-08CFEC1D2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800599" y="136525"/>
            <a:ext cx="2590800" cy="365125"/>
          </a:xfrm>
        </p:spPr>
        <p:txBody>
          <a:bodyPr anchor="ctr" anchorCtr="0"/>
          <a:lstStyle>
            <a:lvl1pPr algn="ctr">
              <a:buNone/>
              <a:defRPr sz="1200">
                <a:solidFill>
                  <a:srgbClr val="64378C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en-US" dirty="0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08DD31E9-0328-F13A-22C3-1358D61B515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1244769" y="299812"/>
            <a:ext cx="665997" cy="448987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8F9E31F4-1C04-35C1-A232-335327D43121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244769" y="5175377"/>
            <a:ext cx="664522" cy="1091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98638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55E46763-ABB8-51B3-F6E8-04F79A23235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>
                <a:solidFill>
                  <a:srgbClr val="64378C"/>
                </a:solidFill>
              </a:rPr>
              <a:t>Rust's Approach to Memory Safety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C39DF77-1A22-72A8-5645-286CC41C438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ctr"/>
            <a:fld id="{5F85D455-7770-4F98-B944-71C158B4E906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770E47B0-CA95-BD24-CB29-08CFEC1D2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800599" y="136525"/>
            <a:ext cx="2590800" cy="365125"/>
          </a:xfrm>
        </p:spPr>
        <p:txBody>
          <a:bodyPr anchor="ctr" anchorCtr="0"/>
          <a:lstStyle>
            <a:lvl1pPr algn="ctr">
              <a:buNone/>
              <a:defRPr sz="1200">
                <a:solidFill>
                  <a:srgbClr val="64378C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en-US" dirty="0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1FBE31EF-3B8E-5F74-85DA-2845B60A13D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203513" y="941293"/>
            <a:ext cx="9856694" cy="517711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3482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sv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BAE55418-058D-E9B1-E6B7-D7213EFEA1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89D41F7-D69B-66D0-60AE-F5DD864CB1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7A438CD-2562-44C0-8FE2-490BF19B89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00599" y="6356350"/>
            <a:ext cx="259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64378C"/>
                </a:solidFill>
              </a:defRPr>
            </a:lvl1pPr>
          </a:lstStyle>
          <a:p>
            <a:r>
              <a:rPr lang="en-US">
                <a:solidFill>
                  <a:srgbClr val="64378C"/>
                </a:solidFill>
              </a:rPr>
              <a:t>Rust's Approach to Memory Safety</a:t>
            </a:r>
            <a:endParaRPr lang="en-US" dirty="0">
              <a:solidFill>
                <a:srgbClr val="64378C"/>
              </a:solidFill>
            </a:endParaRP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1D79EE1-C5BC-77BB-639E-9363D80436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799" y="6375625"/>
            <a:ext cx="55549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64378C"/>
                </a:solidFill>
              </a:defRPr>
            </a:lvl1pPr>
          </a:lstStyle>
          <a:p>
            <a:pPr algn="ctr"/>
            <a:fld id="{5F85D455-7770-4F98-B944-71C158B4E906}" type="slidenum">
              <a:rPr lang="en-US" smtClean="0"/>
              <a:pPr/>
              <a:t>‹Nr.›</a:t>
            </a:fld>
            <a:endParaRPr lang="en-US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7EEF97DE-974B-5F4D-4A92-E6153B9F685B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11244769" y="299812"/>
            <a:ext cx="665997" cy="448987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ED79E5C6-4AEE-8D6E-5460-6B1B4D94CA7F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11244769" y="5175377"/>
            <a:ext cx="664522" cy="1091279"/>
          </a:xfrm>
          <a:prstGeom prst="rect">
            <a:avLst/>
          </a:prstGeom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77FDA203-EE93-0394-A866-E5EBDA60C97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>
            <a:alphaModFix amt="3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0168" y="203168"/>
            <a:ext cx="6451663" cy="6451663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666884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7" r:id="rId2"/>
    <p:sldLayoutId id="2147483669" r:id="rId3"/>
    <p:sldLayoutId id="2147483668" r:id="rId4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svg"/><Relationship Id="rId7" Type="http://schemas.openxmlformats.org/officeDocument/2006/relationships/image" Target="../media/image14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3.png"/><Relationship Id="rId5" Type="http://schemas.openxmlformats.org/officeDocument/2006/relationships/image" Target="../media/image12.svg"/><Relationship Id="rId4" Type="http://schemas.openxmlformats.org/officeDocument/2006/relationships/image" Target="../media/image11.png"/><Relationship Id="rId9" Type="http://schemas.openxmlformats.org/officeDocument/2006/relationships/image" Target="../media/image16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2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4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25.png"/><Relationship Id="rId7" Type="http://schemas.openxmlformats.org/officeDocument/2006/relationships/image" Target="../media/image1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4" Type="http://schemas.openxmlformats.org/officeDocument/2006/relationships/image" Target="../media/image26.sv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7" Type="http://schemas.openxmlformats.org/officeDocument/2006/relationships/image" Target="../media/image35.sv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4.png"/><Relationship Id="rId5" Type="http://schemas.openxmlformats.org/officeDocument/2006/relationships/image" Target="../media/image33.svg"/><Relationship Id="rId4" Type="http://schemas.openxmlformats.org/officeDocument/2006/relationships/image" Target="../media/image3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.png"/><Relationship Id="rId4" Type="http://schemas.openxmlformats.org/officeDocument/2006/relationships/image" Target="../media/image3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cwe.mitre.org/data/definitions/416.html" TargetMode="External"/><Relationship Id="rId2" Type="http://schemas.openxmlformats.org/officeDocument/2006/relationships/hyperlink" Target="https://cwe.mitre.org/data/definitions/787.html" TargetMode="External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cset.georgetown.edu/article/memory-safety-an-explainer/" TargetMode="External"/><Relationship Id="rId5" Type="http://schemas.openxmlformats.org/officeDocument/2006/relationships/hyperlink" Target="http://www.pl-enthusiast.net/2014/07/21/memory-safety/" TargetMode="External"/><Relationship Id="rId4" Type="http://schemas.openxmlformats.org/officeDocument/2006/relationships/hyperlink" Target="https://cwe.mitre.org/top25/archive/2024/2024_kev_insights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2B64D2B-662A-8FE4-ADE4-371BE33CEA4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Rust’s Approach to Memory Safety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87A69D3C-8297-064E-F77A-A04A3AF9A379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/>
              <a:t>Seminar Work – David Grandel</a:t>
            </a:r>
          </a:p>
        </p:txBody>
      </p:sp>
    </p:spTree>
    <p:extLst>
      <p:ext uri="{BB962C8B-B14F-4D97-AF65-F5344CB8AC3E}">
        <p14:creationId xmlns:p14="http://schemas.microsoft.com/office/powerpoint/2010/main" val="145564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7B3CB9EA-F996-E2ED-DF78-2CF4ED4D788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>
                <a:solidFill>
                  <a:srgbClr val="64378C"/>
                </a:solidFill>
              </a:rPr>
              <a:t>Rust's Approach to Memory Safety</a:t>
            </a:r>
            <a:endParaRPr lang="en-US" dirty="0">
              <a:solidFill>
                <a:srgbClr val="64378C"/>
              </a:solidFill>
            </a:endParaRP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200C8161-1297-1AFA-9579-243C5FA21FC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ctr"/>
            <a:fld id="{5F85D455-7770-4F98-B944-71C158B4E906}" type="slidenum">
              <a:rPr lang="en-US" smtClean="0"/>
              <a:pPr algn="ctr"/>
              <a:t>2</a:t>
            </a:fld>
            <a:endParaRPr lang="en-US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271F907-41FA-FC3A-D1CE-9254D781DF3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30DA472F-57F1-7F7D-50AD-9BAFAEB93F6F}"/>
              </a:ext>
            </a:extLst>
          </p:cNvPr>
          <p:cNvSpPr txBox="1"/>
          <p:nvPr/>
        </p:nvSpPr>
        <p:spPr>
          <a:xfrm>
            <a:off x="1959908" y="1651115"/>
            <a:ext cx="8272183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/>
              <a:t>What do you think are some of the most common weaknesses in modern software systems?</a:t>
            </a:r>
          </a:p>
        </p:txBody>
      </p:sp>
      <p:pic>
        <p:nvPicPr>
          <p:cNvPr id="15" name="Grafik 14" descr="Fragezeichen mit einfarbiger Füllung">
            <a:extLst>
              <a:ext uri="{FF2B5EF4-FFF2-40B4-BE49-F238E27FC236}">
                <a16:creationId xmlns:a16="http://schemas.microsoft.com/office/drawing/2014/main" id="{2ACE9744-BD22-D6FA-9A8E-66694F1A50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0" y="3989926"/>
            <a:ext cx="1432112" cy="1432112"/>
          </a:xfrm>
          <a:prstGeom prst="rect">
            <a:avLst/>
          </a:prstGeom>
        </p:spPr>
      </p:pic>
      <p:pic>
        <p:nvPicPr>
          <p:cNvPr id="17" name="Grafik 16" descr="Insekt unter Lupe mit einfarbiger Füllung">
            <a:extLst>
              <a:ext uri="{FF2B5EF4-FFF2-40B4-BE49-F238E27FC236}">
                <a16:creationId xmlns:a16="http://schemas.microsoft.com/office/drawing/2014/main" id="{ECC50D34-F660-A1FB-00B0-EF1AD0E8FF4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63888" y="3989926"/>
            <a:ext cx="1432112" cy="1432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64136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feld 20">
            <a:extLst>
              <a:ext uri="{FF2B5EF4-FFF2-40B4-BE49-F238E27FC236}">
                <a16:creationId xmlns:a16="http://schemas.microsoft.com/office/drawing/2014/main" id="{7E44D345-9269-3655-FEA9-0954976BCC70}"/>
              </a:ext>
            </a:extLst>
          </p:cNvPr>
          <p:cNvSpPr txBox="1"/>
          <p:nvPr/>
        </p:nvSpPr>
        <p:spPr>
          <a:xfrm>
            <a:off x="1203513" y="1827737"/>
            <a:ext cx="3919816" cy="36512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en-US" b="1" dirty="0"/>
              <a:t>Out-of-bounds Write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6B567993-1DCB-AB28-27A3-31663BDC6FD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>
                <a:solidFill>
                  <a:srgbClr val="64378C"/>
                </a:solidFill>
              </a:rPr>
              <a:t>Rust's Approach to Memory Safety</a:t>
            </a:r>
            <a:endParaRPr lang="en-US" dirty="0">
              <a:solidFill>
                <a:srgbClr val="64378C"/>
              </a:solidFill>
            </a:endParaRP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40449288-B71A-537D-7C41-519CFE7F336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ctr"/>
            <a:fld id="{5F85D455-7770-4F98-B944-71C158B4E906}" type="slidenum">
              <a:rPr lang="en-US" smtClean="0"/>
              <a:pPr algn="ctr"/>
              <a:t>3</a:t>
            </a:fld>
            <a:endParaRPr lang="en-US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5D84AD9-83F3-9E36-CFAF-4EB22AF5CD0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5B990252-85E2-C376-C898-F9E4F92E7C1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203513" y="941294"/>
            <a:ext cx="9856694" cy="524436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The following two errors are among the 10 most common:</a:t>
            </a:r>
          </a:p>
        </p:txBody>
      </p:sp>
      <p:pic>
        <p:nvPicPr>
          <p:cNvPr id="17" name="Grafik 16" descr="Trophäe mit einfarbiger Füllung">
            <a:extLst>
              <a:ext uri="{FF2B5EF4-FFF2-40B4-BE49-F238E27FC236}">
                <a16:creationId xmlns:a16="http://schemas.microsoft.com/office/drawing/2014/main" id="{4C4A2DBB-9913-F351-799D-21929FD32E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74623" y="1647278"/>
            <a:ext cx="705627" cy="705627"/>
          </a:xfrm>
          <a:prstGeom prst="rect">
            <a:avLst/>
          </a:prstGeom>
        </p:spPr>
      </p:pic>
      <p:sp>
        <p:nvSpPr>
          <p:cNvPr id="18" name="Textfeld 17">
            <a:extLst>
              <a:ext uri="{FF2B5EF4-FFF2-40B4-BE49-F238E27FC236}">
                <a16:creationId xmlns:a16="http://schemas.microsoft.com/office/drawing/2014/main" id="{8C18E31E-3E91-1C65-EA81-6E58B10ED6CC}"/>
              </a:ext>
            </a:extLst>
          </p:cNvPr>
          <p:cNvSpPr txBox="1"/>
          <p:nvPr/>
        </p:nvSpPr>
        <p:spPr>
          <a:xfrm>
            <a:off x="1518476" y="1719310"/>
            <a:ext cx="2179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D481B7BC-27CF-2608-A157-AB224B25E885}"/>
              </a:ext>
            </a:extLst>
          </p:cNvPr>
          <p:cNvSpPr txBox="1"/>
          <p:nvPr/>
        </p:nvSpPr>
        <p:spPr>
          <a:xfrm>
            <a:off x="6400803" y="1828507"/>
            <a:ext cx="3919816" cy="36435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en-US" b="1" dirty="0"/>
              <a:t>Use After Free</a:t>
            </a:r>
          </a:p>
        </p:txBody>
      </p:sp>
      <p:sp>
        <p:nvSpPr>
          <p:cNvPr id="23" name="Rechteck: abgerundete Ecken 22">
            <a:extLst>
              <a:ext uri="{FF2B5EF4-FFF2-40B4-BE49-F238E27FC236}">
                <a16:creationId xmlns:a16="http://schemas.microsoft.com/office/drawing/2014/main" id="{6968F378-6BE4-7063-1D88-41051242A5ED}"/>
              </a:ext>
            </a:extLst>
          </p:cNvPr>
          <p:cNvSpPr/>
          <p:nvPr/>
        </p:nvSpPr>
        <p:spPr>
          <a:xfrm>
            <a:off x="1714499" y="2620129"/>
            <a:ext cx="2897842" cy="91440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hteck: abgerundete Ecken 23">
            <a:extLst>
              <a:ext uri="{FF2B5EF4-FFF2-40B4-BE49-F238E27FC236}">
                <a16:creationId xmlns:a16="http://schemas.microsoft.com/office/drawing/2014/main" id="{1F316013-4FB0-C839-9220-7E36ECEB70D2}"/>
              </a:ext>
            </a:extLst>
          </p:cNvPr>
          <p:cNvSpPr/>
          <p:nvPr/>
        </p:nvSpPr>
        <p:spPr>
          <a:xfrm>
            <a:off x="2373406" y="2620129"/>
            <a:ext cx="1580029" cy="914400"/>
          </a:xfrm>
          <a:prstGeom prst="roundRect">
            <a:avLst/>
          </a:prstGeom>
          <a:solidFill>
            <a:srgbClr val="64378C">
              <a:alpha val="8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Buffer</a:t>
            </a:r>
          </a:p>
        </p:txBody>
      </p:sp>
      <p:cxnSp>
        <p:nvCxnSpPr>
          <p:cNvPr id="26" name="Verbinder: gekrümmt 25">
            <a:extLst>
              <a:ext uri="{FF2B5EF4-FFF2-40B4-BE49-F238E27FC236}">
                <a16:creationId xmlns:a16="http://schemas.microsoft.com/office/drawing/2014/main" id="{8D311970-567C-B52D-8E00-CF813F056A75}"/>
              </a:ext>
            </a:extLst>
          </p:cNvPr>
          <p:cNvCxnSpPr>
            <a:cxnSpLocks/>
            <a:stCxn id="40" idx="1"/>
          </p:cNvCxnSpPr>
          <p:nvPr/>
        </p:nvCxnSpPr>
        <p:spPr>
          <a:xfrm rot="10800000">
            <a:off x="2030506" y="3077330"/>
            <a:ext cx="705626" cy="1024761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Verbinder: gekrümmt 31">
            <a:extLst>
              <a:ext uri="{FF2B5EF4-FFF2-40B4-BE49-F238E27FC236}">
                <a16:creationId xmlns:a16="http://schemas.microsoft.com/office/drawing/2014/main" id="{A5BA6F9F-68B0-4A50-E6EC-0FBC2E076F2A}"/>
              </a:ext>
            </a:extLst>
          </p:cNvPr>
          <p:cNvCxnSpPr>
            <a:cxnSpLocks/>
            <a:stCxn id="40" idx="3"/>
          </p:cNvCxnSpPr>
          <p:nvPr/>
        </p:nvCxnSpPr>
        <p:spPr>
          <a:xfrm flipV="1">
            <a:off x="3590708" y="3077329"/>
            <a:ext cx="752692" cy="1024761"/>
          </a:xfrm>
          <a:prstGeom prst="curvedConnector2">
            <a:avLst/>
          </a:prstGeom>
          <a:ln cap="sq">
            <a:solidFill>
              <a:schemeClr val="tx1"/>
            </a:solidFill>
            <a:round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feld 39">
            <a:extLst>
              <a:ext uri="{FF2B5EF4-FFF2-40B4-BE49-F238E27FC236}">
                <a16:creationId xmlns:a16="http://schemas.microsoft.com/office/drawing/2014/main" id="{97CCE4A7-1466-BACF-8F8F-5B188D22CC03}"/>
              </a:ext>
            </a:extLst>
          </p:cNvPr>
          <p:cNvSpPr txBox="1"/>
          <p:nvPr/>
        </p:nvSpPr>
        <p:spPr>
          <a:xfrm>
            <a:off x="2736132" y="3917424"/>
            <a:ext cx="8545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Write</a:t>
            </a:r>
          </a:p>
        </p:txBody>
      </p:sp>
      <p:pic>
        <p:nvPicPr>
          <p:cNvPr id="46" name="Grafik 45" descr="Blitz Silhouette">
            <a:extLst>
              <a:ext uri="{FF2B5EF4-FFF2-40B4-BE49-F238E27FC236}">
                <a16:creationId xmlns:a16="http://schemas.microsoft.com/office/drawing/2014/main" id="{9CADF224-05A1-1EDA-D24F-9859F9B4225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112745" y="3661249"/>
            <a:ext cx="365125" cy="365125"/>
          </a:xfrm>
          <a:prstGeom prst="rect">
            <a:avLst/>
          </a:prstGeom>
          <a:effectLst>
            <a:outerShdw blurRad="50800" dist="50800" dir="5400000" algn="ctr" rotWithShape="0">
              <a:srgbClr val="FF0000"/>
            </a:outerShdw>
          </a:effectLst>
        </p:spPr>
      </p:pic>
      <p:pic>
        <p:nvPicPr>
          <p:cNvPr id="47" name="Grafik 46" descr="Blitz Silhouette">
            <a:extLst>
              <a:ext uri="{FF2B5EF4-FFF2-40B4-BE49-F238E27FC236}">
                <a16:creationId xmlns:a16="http://schemas.microsoft.com/office/drawing/2014/main" id="{2912EDC6-7BF7-ED6B-BCFA-F9938E68BA6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896035" y="3657241"/>
            <a:ext cx="365125" cy="365125"/>
          </a:xfrm>
          <a:prstGeom prst="rect">
            <a:avLst/>
          </a:prstGeom>
          <a:effectLst>
            <a:outerShdw blurRad="50800" dist="50800" dir="5400000" algn="ctr" rotWithShape="0">
              <a:srgbClr val="FF0000"/>
            </a:outerShdw>
          </a:effectLst>
        </p:spPr>
      </p:pic>
      <p:graphicFrame>
        <p:nvGraphicFramePr>
          <p:cNvPr id="49" name="Tabelle 48">
            <a:extLst>
              <a:ext uri="{FF2B5EF4-FFF2-40B4-BE49-F238E27FC236}">
                <a16:creationId xmlns:a16="http://schemas.microsoft.com/office/drawing/2014/main" id="{0BD2B105-29CE-0FC8-C7D7-6B895C2AE1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9261347"/>
              </p:ext>
            </p:extLst>
          </p:nvPr>
        </p:nvGraphicFramePr>
        <p:xfrm>
          <a:off x="1203512" y="4522804"/>
          <a:ext cx="3919816" cy="1515545"/>
        </p:xfrm>
        <a:graphic>
          <a:graphicData uri="http://schemas.openxmlformats.org/drawingml/2006/table">
            <a:tbl>
              <a:tblPr/>
              <a:tblGrid>
                <a:gridCol w="3919816">
                  <a:extLst>
                    <a:ext uri="{9D8B030D-6E8A-4147-A177-3AD203B41FA5}">
                      <a16:colId xmlns:a16="http://schemas.microsoft.com/office/drawing/2014/main" val="3050072985"/>
                    </a:ext>
                  </a:extLst>
                </a:gridCol>
              </a:tblGrid>
              <a:tr h="151554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  <a:latin typeface="Verdana" panose="020B0604030504040204" pitchFamily="34" charset="0"/>
                        </a:rPr>
                        <a:t>“</a:t>
                      </a:r>
                      <a:r>
                        <a:rPr lang="en-US" i="1" dirty="0">
                          <a:effectLst/>
                          <a:latin typeface="Verdana" panose="020B0604030504040204" pitchFamily="34" charset="0"/>
                        </a:rPr>
                        <a:t>The product writes data past the end, or before the beginning, of the intended buffer.</a:t>
                      </a:r>
                      <a:r>
                        <a:rPr lang="en-US" i="0" dirty="0">
                          <a:effectLst/>
                          <a:latin typeface="Verdana" panose="020B0604030504040204" pitchFamily="34" charset="0"/>
                        </a:rPr>
                        <a:t>”</a:t>
                      </a:r>
                      <a:r>
                        <a:rPr lang="en-US" i="0" baseline="-25000" dirty="0">
                          <a:effectLst/>
                          <a:latin typeface="Verdana" panose="020B0604030504040204" pitchFamily="34" charset="0"/>
                        </a:rPr>
                        <a:t>[1]</a:t>
                      </a:r>
                      <a:endParaRPr lang="en-US" i="1" baseline="-25000" dirty="0">
                        <a:effectLst/>
                        <a:latin typeface="Verdana" panose="020B060403050404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503797"/>
                  </a:ext>
                </a:extLst>
              </a:tr>
            </a:tbl>
          </a:graphicData>
        </a:graphic>
      </p:graphicFrame>
      <p:pic>
        <p:nvPicPr>
          <p:cNvPr id="50" name="Grafik 49" descr="Trophäe mit einfarbiger Füllung">
            <a:extLst>
              <a:ext uri="{FF2B5EF4-FFF2-40B4-BE49-F238E27FC236}">
                <a16:creationId xmlns:a16="http://schemas.microsoft.com/office/drawing/2014/main" id="{841EA221-080D-7E6F-A66D-FFBAA0AA06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76394" y="1647278"/>
            <a:ext cx="705627" cy="705627"/>
          </a:xfrm>
          <a:prstGeom prst="rect">
            <a:avLst/>
          </a:prstGeom>
        </p:spPr>
      </p:pic>
      <p:sp>
        <p:nvSpPr>
          <p:cNvPr id="51" name="Textfeld 50">
            <a:extLst>
              <a:ext uri="{FF2B5EF4-FFF2-40B4-BE49-F238E27FC236}">
                <a16:creationId xmlns:a16="http://schemas.microsoft.com/office/drawing/2014/main" id="{DD2F39DA-5598-EB76-6AC1-4E66B8848EB1}"/>
              </a:ext>
            </a:extLst>
          </p:cNvPr>
          <p:cNvSpPr txBox="1"/>
          <p:nvPr/>
        </p:nvSpPr>
        <p:spPr>
          <a:xfrm>
            <a:off x="6720247" y="1719310"/>
            <a:ext cx="2179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9</a:t>
            </a:r>
          </a:p>
        </p:txBody>
      </p:sp>
      <p:sp>
        <p:nvSpPr>
          <p:cNvPr id="52" name="Rechteck: abgerundete Ecken 51">
            <a:extLst>
              <a:ext uri="{FF2B5EF4-FFF2-40B4-BE49-F238E27FC236}">
                <a16:creationId xmlns:a16="http://schemas.microsoft.com/office/drawing/2014/main" id="{83341C1B-EDAA-941B-6575-416920D9D477}"/>
              </a:ext>
            </a:extLst>
          </p:cNvPr>
          <p:cNvSpPr/>
          <p:nvPr/>
        </p:nvSpPr>
        <p:spPr>
          <a:xfrm>
            <a:off x="6911790" y="2620129"/>
            <a:ext cx="2897842" cy="91440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hteck: abgerundete Ecken 52">
            <a:extLst>
              <a:ext uri="{FF2B5EF4-FFF2-40B4-BE49-F238E27FC236}">
                <a16:creationId xmlns:a16="http://schemas.microsoft.com/office/drawing/2014/main" id="{03387FE7-576F-0B25-E181-6387F4A70926}"/>
              </a:ext>
            </a:extLst>
          </p:cNvPr>
          <p:cNvSpPr/>
          <p:nvPr/>
        </p:nvSpPr>
        <p:spPr>
          <a:xfrm>
            <a:off x="7182022" y="2620129"/>
            <a:ext cx="1598908" cy="916460"/>
          </a:xfrm>
          <a:custGeom>
            <a:avLst/>
            <a:gdLst>
              <a:gd name="csX0" fmla="*/ 0 w 1598908"/>
              <a:gd name="csY0" fmla="*/ 152403 h 914400"/>
              <a:gd name="csX1" fmla="*/ 152403 w 1598908"/>
              <a:gd name="csY1" fmla="*/ 0 h 914400"/>
              <a:gd name="csX2" fmla="*/ 1446505 w 1598908"/>
              <a:gd name="csY2" fmla="*/ 0 h 914400"/>
              <a:gd name="csX3" fmla="*/ 1598908 w 1598908"/>
              <a:gd name="csY3" fmla="*/ 152403 h 914400"/>
              <a:gd name="csX4" fmla="*/ 1598908 w 1598908"/>
              <a:gd name="csY4" fmla="*/ 761997 h 914400"/>
              <a:gd name="csX5" fmla="*/ 1446505 w 1598908"/>
              <a:gd name="csY5" fmla="*/ 914400 h 914400"/>
              <a:gd name="csX6" fmla="*/ 152403 w 1598908"/>
              <a:gd name="csY6" fmla="*/ 914400 h 914400"/>
              <a:gd name="csX7" fmla="*/ 0 w 1598908"/>
              <a:gd name="csY7" fmla="*/ 761997 h 914400"/>
              <a:gd name="csX8" fmla="*/ 0 w 1598908"/>
              <a:gd name="csY8" fmla="*/ 152403 h 914400"/>
              <a:gd name="csX0" fmla="*/ 0 w 1598908"/>
              <a:gd name="csY0" fmla="*/ 152403 h 916460"/>
              <a:gd name="csX1" fmla="*/ 152403 w 1598908"/>
              <a:gd name="csY1" fmla="*/ 0 h 916460"/>
              <a:gd name="csX2" fmla="*/ 1446505 w 1598908"/>
              <a:gd name="csY2" fmla="*/ 0 h 916460"/>
              <a:gd name="csX3" fmla="*/ 1598908 w 1598908"/>
              <a:gd name="csY3" fmla="*/ 152403 h 916460"/>
              <a:gd name="csX4" fmla="*/ 1598908 w 1598908"/>
              <a:gd name="csY4" fmla="*/ 761997 h 916460"/>
              <a:gd name="csX5" fmla="*/ 1446505 w 1598908"/>
              <a:gd name="csY5" fmla="*/ 914400 h 916460"/>
              <a:gd name="csX6" fmla="*/ 1471160 w 1598908"/>
              <a:gd name="csY6" fmla="*/ 916460 h 916460"/>
              <a:gd name="csX7" fmla="*/ 152403 w 1598908"/>
              <a:gd name="csY7" fmla="*/ 914400 h 916460"/>
              <a:gd name="csX8" fmla="*/ 0 w 1598908"/>
              <a:gd name="csY8" fmla="*/ 761997 h 916460"/>
              <a:gd name="csX9" fmla="*/ 0 w 1598908"/>
              <a:gd name="csY9" fmla="*/ 152403 h 916460"/>
              <a:gd name="csX0" fmla="*/ 0 w 1598908"/>
              <a:gd name="csY0" fmla="*/ 152403 h 916460"/>
              <a:gd name="csX1" fmla="*/ 152403 w 1598908"/>
              <a:gd name="csY1" fmla="*/ 0 h 916460"/>
              <a:gd name="csX2" fmla="*/ 1446505 w 1598908"/>
              <a:gd name="csY2" fmla="*/ 0 h 916460"/>
              <a:gd name="csX3" fmla="*/ 1598908 w 1598908"/>
              <a:gd name="csY3" fmla="*/ 152403 h 916460"/>
              <a:gd name="csX4" fmla="*/ 1598908 w 1598908"/>
              <a:gd name="csY4" fmla="*/ 761997 h 916460"/>
              <a:gd name="csX5" fmla="*/ 1446505 w 1598908"/>
              <a:gd name="csY5" fmla="*/ 914400 h 916460"/>
              <a:gd name="csX6" fmla="*/ 792083 w 1598908"/>
              <a:gd name="csY6" fmla="*/ 916460 h 916460"/>
              <a:gd name="csX7" fmla="*/ 152403 w 1598908"/>
              <a:gd name="csY7" fmla="*/ 914400 h 916460"/>
              <a:gd name="csX8" fmla="*/ 0 w 1598908"/>
              <a:gd name="csY8" fmla="*/ 761997 h 916460"/>
              <a:gd name="csX9" fmla="*/ 0 w 1598908"/>
              <a:gd name="csY9" fmla="*/ 152403 h 9164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1598908" h="916460">
                <a:moveTo>
                  <a:pt x="0" y="152403"/>
                </a:moveTo>
                <a:cubicBezTo>
                  <a:pt x="0" y="68233"/>
                  <a:pt x="68233" y="0"/>
                  <a:pt x="152403" y="0"/>
                </a:cubicBezTo>
                <a:lnTo>
                  <a:pt x="1446505" y="0"/>
                </a:lnTo>
                <a:cubicBezTo>
                  <a:pt x="1530675" y="0"/>
                  <a:pt x="1598908" y="68233"/>
                  <a:pt x="1598908" y="152403"/>
                </a:cubicBezTo>
                <a:lnTo>
                  <a:pt x="1598908" y="761997"/>
                </a:lnTo>
                <a:cubicBezTo>
                  <a:pt x="1598908" y="846167"/>
                  <a:pt x="1530675" y="914400"/>
                  <a:pt x="1446505" y="914400"/>
                </a:cubicBezTo>
                <a:lnTo>
                  <a:pt x="792083" y="916460"/>
                </a:lnTo>
                <a:lnTo>
                  <a:pt x="152403" y="914400"/>
                </a:lnTo>
                <a:cubicBezTo>
                  <a:pt x="68233" y="914400"/>
                  <a:pt x="0" y="846167"/>
                  <a:pt x="0" y="761997"/>
                </a:cubicBezTo>
                <a:lnTo>
                  <a:pt x="0" y="152403"/>
                </a:lnTo>
                <a:close/>
              </a:path>
            </a:pathLst>
          </a:custGeom>
          <a:solidFill>
            <a:srgbClr val="64378C">
              <a:alpha val="8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Memory Unit</a:t>
            </a:r>
          </a:p>
        </p:txBody>
      </p:sp>
      <p:graphicFrame>
        <p:nvGraphicFramePr>
          <p:cNvPr id="54" name="Tabelle 53">
            <a:extLst>
              <a:ext uri="{FF2B5EF4-FFF2-40B4-BE49-F238E27FC236}">
                <a16:creationId xmlns:a16="http://schemas.microsoft.com/office/drawing/2014/main" id="{C376C27B-1494-28C3-1128-D193F5BEDC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2806567"/>
              </p:ext>
            </p:extLst>
          </p:nvPr>
        </p:nvGraphicFramePr>
        <p:xfrm>
          <a:off x="6400803" y="4522804"/>
          <a:ext cx="3919816" cy="1515545"/>
        </p:xfrm>
        <a:graphic>
          <a:graphicData uri="http://schemas.openxmlformats.org/drawingml/2006/table">
            <a:tbl>
              <a:tblPr/>
              <a:tblGrid>
                <a:gridCol w="3919816">
                  <a:extLst>
                    <a:ext uri="{9D8B030D-6E8A-4147-A177-3AD203B41FA5}">
                      <a16:colId xmlns:a16="http://schemas.microsoft.com/office/drawing/2014/main" val="3050072985"/>
                    </a:ext>
                  </a:extLst>
                </a:gridCol>
              </a:tblGrid>
              <a:tr h="151554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  <a:latin typeface="Verdana" panose="020B0604030504040204" pitchFamily="34" charset="0"/>
                        </a:rPr>
                        <a:t>“</a:t>
                      </a:r>
                      <a:r>
                        <a:rPr lang="en-US" i="1" dirty="0">
                          <a:effectLst/>
                          <a:latin typeface="Verdana" panose="020B0604030504040204" pitchFamily="34" charset="0"/>
                        </a:rPr>
                        <a:t>The product reuses or references memory after it has been freed.</a:t>
                      </a:r>
                      <a:r>
                        <a:rPr lang="en-US" i="0" dirty="0">
                          <a:effectLst/>
                          <a:latin typeface="Verdana" panose="020B0604030504040204" pitchFamily="34" charset="0"/>
                        </a:rPr>
                        <a:t>”</a:t>
                      </a:r>
                      <a:r>
                        <a:rPr lang="en-US" i="0" baseline="-25000" dirty="0">
                          <a:effectLst/>
                          <a:latin typeface="Verdana" panose="020B0604030504040204" pitchFamily="34" charset="0"/>
                        </a:rPr>
                        <a:t>[2]</a:t>
                      </a:r>
                      <a:endParaRPr lang="en-US" i="1" baseline="-25000" dirty="0">
                        <a:effectLst/>
                        <a:latin typeface="Verdana" panose="020B060403050404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503797"/>
                  </a:ext>
                </a:extLst>
              </a:tr>
            </a:tbl>
          </a:graphicData>
        </a:graphic>
      </p:graphicFrame>
      <p:sp>
        <p:nvSpPr>
          <p:cNvPr id="55" name="Textfeld 54">
            <a:extLst>
              <a:ext uri="{FF2B5EF4-FFF2-40B4-BE49-F238E27FC236}">
                <a16:creationId xmlns:a16="http://schemas.microsoft.com/office/drawing/2014/main" id="{F16D9397-2058-CD09-E096-E8435C0D1A67}"/>
              </a:ext>
            </a:extLst>
          </p:cNvPr>
          <p:cNvSpPr txBox="1"/>
          <p:nvPr/>
        </p:nvSpPr>
        <p:spPr>
          <a:xfrm>
            <a:off x="8823573" y="3917423"/>
            <a:ext cx="9188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Access</a:t>
            </a:r>
          </a:p>
        </p:txBody>
      </p:sp>
      <p:sp>
        <p:nvSpPr>
          <p:cNvPr id="66" name="Textfeld 65">
            <a:extLst>
              <a:ext uri="{FF2B5EF4-FFF2-40B4-BE49-F238E27FC236}">
                <a16:creationId xmlns:a16="http://schemas.microsoft.com/office/drawing/2014/main" id="{3D986746-804E-4A2B-7360-9753F879B1FC}"/>
              </a:ext>
            </a:extLst>
          </p:cNvPr>
          <p:cNvSpPr txBox="1"/>
          <p:nvPr/>
        </p:nvSpPr>
        <p:spPr>
          <a:xfrm>
            <a:off x="6589059" y="3917423"/>
            <a:ext cx="655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Free</a:t>
            </a:r>
          </a:p>
        </p:txBody>
      </p:sp>
      <p:cxnSp>
        <p:nvCxnSpPr>
          <p:cNvPr id="67" name="Verbinder: gekrümmt 66">
            <a:extLst>
              <a:ext uri="{FF2B5EF4-FFF2-40B4-BE49-F238E27FC236}">
                <a16:creationId xmlns:a16="http://schemas.microsoft.com/office/drawing/2014/main" id="{2759E5D1-9066-6FD1-50E4-008EF6D924F9}"/>
              </a:ext>
            </a:extLst>
          </p:cNvPr>
          <p:cNvCxnSpPr>
            <a:cxnSpLocks/>
            <a:stCxn id="66" idx="3"/>
          </p:cNvCxnSpPr>
          <p:nvPr/>
        </p:nvCxnSpPr>
        <p:spPr>
          <a:xfrm flipV="1">
            <a:off x="7244531" y="3534530"/>
            <a:ext cx="406844" cy="567559"/>
          </a:xfrm>
          <a:prstGeom prst="curvedConnector2">
            <a:avLst/>
          </a:prstGeom>
          <a:ln cap="sq">
            <a:solidFill>
              <a:schemeClr val="tx1"/>
            </a:solidFill>
            <a:round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Verbinder: gekrümmt 74">
            <a:extLst>
              <a:ext uri="{FF2B5EF4-FFF2-40B4-BE49-F238E27FC236}">
                <a16:creationId xmlns:a16="http://schemas.microsoft.com/office/drawing/2014/main" id="{02A7BF6B-7717-6B22-7712-C2B113B60D7E}"/>
              </a:ext>
            </a:extLst>
          </p:cNvPr>
          <p:cNvCxnSpPr>
            <a:cxnSpLocks/>
            <a:stCxn id="55" idx="1"/>
          </p:cNvCxnSpPr>
          <p:nvPr/>
        </p:nvCxnSpPr>
        <p:spPr>
          <a:xfrm rot="10800000">
            <a:off x="8350929" y="3533501"/>
            <a:ext cx="472644" cy="568588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0" name="Grafik 79" descr="Blitz Silhouette">
            <a:extLst>
              <a:ext uri="{FF2B5EF4-FFF2-40B4-BE49-F238E27FC236}">
                <a16:creationId xmlns:a16="http://schemas.microsoft.com/office/drawing/2014/main" id="{3DA05346-CC6F-A9C3-357A-EFB8C8B9D5E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514415" y="3612095"/>
            <a:ext cx="365125" cy="365125"/>
          </a:xfrm>
          <a:prstGeom prst="rect">
            <a:avLst/>
          </a:prstGeom>
          <a:effectLst>
            <a:outerShdw blurRad="50800" dist="50800" dir="5400000" algn="ctr" rotWithShape="0">
              <a:srgbClr val="FF0000"/>
            </a:outerShdw>
          </a:effectLst>
        </p:spPr>
      </p:pic>
      <p:pic>
        <p:nvPicPr>
          <p:cNvPr id="82" name="Grafik 81" descr="Marke 1 Silhouette">
            <a:extLst>
              <a:ext uri="{FF2B5EF4-FFF2-40B4-BE49-F238E27FC236}">
                <a16:creationId xmlns:a16="http://schemas.microsoft.com/office/drawing/2014/main" id="{CFF4538D-59CE-6577-8262-7DF08E8AFCF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76394" y="3995459"/>
            <a:ext cx="207706" cy="207706"/>
          </a:xfrm>
          <a:prstGeom prst="rect">
            <a:avLst/>
          </a:prstGeom>
        </p:spPr>
      </p:pic>
      <p:pic>
        <p:nvPicPr>
          <p:cNvPr id="84" name="Grafik 83" descr="Abzeichen Silhouette">
            <a:extLst>
              <a:ext uri="{FF2B5EF4-FFF2-40B4-BE49-F238E27FC236}">
                <a16:creationId xmlns:a16="http://schemas.microsoft.com/office/drawing/2014/main" id="{E4422016-EFEA-B145-F303-E39455A495C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669015" y="3995459"/>
            <a:ext cx="207706" cy="207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59244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342B86BA-552B-9F47-9A36-93C7D857A5D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>
                <a:solidFill>
                  <a:srgbClr val="64378C"/>
                </a:solidFill>
              </a:rPr>
              <a:t>Rust's Approach to Memory Safety</a:t>
            </a:r>
            <a:endParaRPr lang="en-US" dirty="0">
              <a:solidFill>
                <a:srgbClr val="64378C"/>
              </a:solidFill>
            </a:endParaRP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019CDC85-0E83-A6CD-80F3-C391078473A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ctr"/>
            <a:fld id="{5F85D455-7770-4F98-B944-71C158B4E906}" type="slidenum">
              <a:rPr lang="en-US" smtClean="0"/>
              <a:pPr algn="ctr"/>
              <a:t>4</a:t>
            </a:fld>
            <a:endParaRPr lang="en-US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83AB729-E7CA-331A-FDDA-4D04077EA63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195BF6AF-32DB-5E41-BBAE-DCEA0DDE019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203513" y="941294"/>
            <a:ext cx="9856694" cy="907678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/>
              <a:t>The most common vulnerabilities have one thing in common: </a:t>
            </a:r>
            <a:r>
              <a:rPr lang="en-US" b="1" dirty="0"/>
              <a:t>They are all related to Memory Safety issues.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4BD879D4-617A-D4D1-F1DA-4118D2A9F3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1622" y="2288616"/>
            <a:ext cx="7068755" cy="32356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BFB39912-6DE6-5953-C35D-A14BD1F08B09}"/>
              </a:ext>
            </a:extLst>
          </p:cNvPr>
          <p:cNvSpPr txBox="1"/>
          <p:nvPr/>
        </p:nvSpPr>
        <p:spPr>
          <a:xfrm>
            <a:off x="9406939" y="5324259"/>
            <a:ext cx="28405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dirty="0"/>
              <a:t>[3]</a:t>
            </a:r>
          </a:p>
        </p:txBody>
      </p:sp>
    </p:spTree>
    <p:extLst>
      <p:ext uri="{BB962C8B-B14F-4D97-AF65-F5344CB8AC3E}">
        <p14:creationId xmlns:p14="http://schemas.microsoft.com/office/powerpoint/2010/main" val="16949224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78BC1987-F7B3-7D3B-1692-15F6475B6A9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>
                <a:solidFill>
                  <a:srgbClr val="64378C"/>
                </a:solidFill>
              </a:rPr>
              <a:t>Rust's Approach to Memory Safety</a:t>
            </a:r>
            <a:endParaRPr lang="en-US" dirty="0">
              <a:solidFill>
                <a:srgbClr val="64378C"/>
              </a:solidFill>
            </a:endParaRP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F8EF1000-EF3F-F84E-7052-E858E5A0ADF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ctr"/>
            <a:fld id="{5F85D455-7770-4F98-B944-71C158B4E906}" type="slidenum">
              <a:rPr lang="en-US" smtClean="0"/>
              <a:pPr algn="ctr"/>
              <a:t>5</a:t>
            </a:fld>
            <a:endParaRPr lang="en-US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9E488F8-05BC-AB06-106B-3BB67E1A721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Memory Safety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A1911DE0-88E2-57A4-C35A-7B8938F34A5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203513" y="941294"/>
            <a:ext cx="9856694" cy="8606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5400" dirty="0"/>
              <a:t>What is Memory Safety?</a:t>
            </a:r>
          </a:p>
          <a:p>
            <a:pPr marL="0" indent="0">
              <a:buNone/>
            </a:pPr>
            <a:endParaRPr lang="en-US" sz="700" dirty="0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4BAB8013-3F20-4599-9997-F7A39F9FA3F4}"/>
              </a:ext>
            </a:extLst>
          </p:cNvPr>
          <p:cNvSpPr txBox="1"/>
          <p:nvPr/>
        </p:nvSpPr>
        <p:spPr>
          <a:xfrm>
            <a:off x="1203513" y="1808627"/>
            <a:ext cx="101502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 a program contains any of the following memory access errors, it is classified as not memory safe:</a:t>
            </a:r>
            <a:r>
              <a:rPr lang="en-US" baseline="-25000" dirty="0"/>
              <a:t>[4]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FC0DE04A-2B18-7DDB-19BD-5E622983E285}"/>
              </a:ext>
            </a:extLst>
          </p:cNvPr>
          <p:cNvSpPr txBox="1"/>
          <p:nvPr/>
        </p:nvSpPr>
        <p:spPr>
          <a:xfrm>
            <a:off x="2871155" y="2312892"/>
            <a:ext cx="6716390" cy="31700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4000" b="1" dirty="0"/>
              <a:t>Out-of-bounds Write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4000" dirty="0"/>
              <a:t>Out-of-bounds Read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4000" b="1" dirty="0"/>
              <a:t>Use After Free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4000" dirty="0"/>
              <a:t>Use of uninitialized Memory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4000" dirty="0"/>
              <a:t>Double Free</a:t>
            </a:r>
          </a:p>
        </p:txBody>
      </p:sp>
    </p:spTree>
    <p:extLst>
      <p:ext uri="{BB962C8B-B14F-4D97-AF65-F5344CB8AC3E}">
        <p14:creationId xmlns:p14="http://schemas.microsoft.com/office/powerpoint/2010/main" val="28738198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152AFD-6998-1812-FC4E-6855E083C4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688291E9-AC3B-2607-E883-2373D54821A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>
                <a:solidFill>
                  <a:srgbClr val="64378C"/>
                </a:solidFill>
              </a:rPr>
              <a:t>Rust's Approach to Memory Safety</a:t>
            </a:r>
            <a:endParaRPr lang="en-US" dirty="0">
              <a:solidFill>
                <a:srgbClr val="64378C"/>
              </a:solidFill>
            </a:endParaRP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FD6832AF-108C-C0CD-F25A-867BE986551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ctr"/>
            <a:fld id="{5F85D455-7770-4F98-B944-71C158B4E906}" type="slidenum">
              <a:rPr lang="en-US" smtClean="0"/>
              <a:pPr algn="ctr"/>
              <a:t>6</a:t>
            </a:fld>
            <a:endParaRPr lang="en-US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79992198-CFA8-75C7-66A8-B9A344ED142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Memory Safety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A7CC9E3F-539E-ABD7-0A33-1543398B710E}"/>
              </a:ext>
            </a:extLst>
          </p:cNvPr>
          <p:cNvSpPr txBox="1">
            <a:spLocks/>
          </p:cNvSpPr>
          <p:nvPr/>
        </p:nvSpPr>
        <p:spPr>
          <a:xfrm>
            <a:off x="1203513" y="941293"/>
            <a:ext cx="9856694" cy="563187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3600" dirty="0"/>
              <a:t>Use After Free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A1759A02-EC48-0317-E324-7E74E8E76CD5}"/>
              </a:ext>
            </a:extLst>
          </p:cNvPr>
          <p:cNvSpPr/>
          <p:nvPr/>
        </p:nvSpPr>
        <p:spPr>
          <a:xfrm>
            <a:off x="7250348" y="2406191"/>
            <a:ext cx="3456562" cy="9144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08B1546B-5918-21E6-D5C5-26B9F050A6AA}"/>
              </a:ext>
            </a:extLst>
          </p:cNvPr>
          <p:cNvSpPr/>
          <p:nvPr/>
        </p:nvSpPr>
        <p:spPr>
          <a:xfrm>
            <a:off x="7585952" y="2406191"/>
            <a:ext cx="1530485" cy="914400"/>
          </a:xfrm>
          <a:prstGeom prst="rect">
            <a:avLst/>
          </a:prstGeom>
          <a:solidFill>
            <a:srgbClr val="64378C">
              <a:alpha val="80000"/>
            </a:srgb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Memory Unit</a:t>
            </a:r>
          </a:p>
          <a:p>
            <a:pPr algn="ctr"/>
            <a:r>
              <a:rPr lang="en-US" dirty="0"/>
              <a:t>512 Byte</a:t>
            </a:r>
          </a:p>
        </p:txBody>
      </p:sp>
      <p:cxnSp>
        <p:nvCxnSpPr>
          <p:cNvPr id="8" name="Verbinder: gekrümmt 7">
            <a:extLst>
              <a:ext uri="{FF2B5EF4-FFF2-40B4-BE49-F238E27FC236}">
                <a16:creationId xmlns:a16="http://schemas.microsoft.com/office/drawing/2014/main" id="{96DF3BE5-98D1-2D9A-6858-FEA1382A0E36}"/>
              </a:ext>
            </a:extLst>
          </p:cNvPr>
          <p:cNvCxnSpPr>
            <a:cxnSpLocks/>
            <a:endCxn id="7" idx="2"/>
          </p:cNvCxnSpPr>
          <p:nvPr/>
        </p:nvCxnSpPr>
        <p:spPr>
          <a:xfrm flipV="1">
            <a:off x="6840166" y="3320591"/>
            <a:ext cx="1511029" cy="1340341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1455D1B6-66C1-033A-FBC2-2B0F3C3BFED2}"/>
              </a:ext>
            </a:extLst>
          </p:cNvPr>
          <p:cNvCxnSpPr>
            <a:cxnSpLocks/>
          </p:cNvCxnSpPr>
          <p:nvPr/>
        </p:nvCxnSpPr>
        <p:spPr>
          <a:xfrm>
            <a:off x="7250348" y="2197067"/>
            <a:ext cx="3456562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feld 9">
            <a:extLst>
              <a:ext uri="{FF2B5EF4-FFF2-40B4-BE49-F238E27FC236}">
                <a16:creationId xmlns:a16="http://schemas.microsoft.com/office/drawing/2014/main" id="{2C33605F-AAFE-A307-1E6A-EA91D3B220D1}"/>
              </a:ext>
            </a:extLst>
          </p:cNvPr>
          <p:cNvSpPr txBox="1"/>
          <p:nvPr/>
        </p:nvSpPr>
        <p:spPr>
          <a:xfrm>
            <a:off x="8187258" y="1803278"/>
            <a:ext cx="15827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Heap Memory</a:t>
            </a:r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133AD1D6-9CC1-E4D2-7D4F-E13E48964472}"/>
              </a:ext>
            </a:extLst>
          </p:cNvPr>
          <p:cNvSpPr/>
          <p:nvPr/>
        </p:nvSpPr>
        <p:spPr>
          <a:xfrm>
            <a:off x="5152560" y="4379338"/>
            <a:ext cx="1687606" cy="56318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bufferPtr1</a:t>
            </a:r>
          </a:p>
        </p:txBody>
      </p:sp>
      <p:pic>
        <p:nvPicPr>
          <p:cNvPr id="12" name="Grafik 11" descr="Marke 1 Silhouette">
            <a:extLst>
              <a:ext uri="{FF2B5EF4-FFF2-40B4-BE49-F238E27FC236}">
                <a16:creationId xmlns:a16="http://schemas.microsoft.com/office/drawing/2014/main" id="{59CC9915-46C3-AD07-2723-95471717D3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79174" y="4106578"/>
            <a:ext cx="305740" cy="305740"/>
          </a:xfrm>
          <a:prstGeom prst="rect">
            <a:avLst/>
          </a:prstGeom>
        </p:spPr>
      </p:pic>
      <p:sp>
        <p:nvSpPr>
          <p:cNvPr id="13" name="Textfeld 12">
            <a:extLst>
              <a:ext uri="{FF2B5EF4-FFF2-40B4-BE49-F238E27FC236}">
                <a16:creationId xmlns:a16="http://schemas.microsoft.com/office/drawing/2014/main" id="{C3D40D18-2D5A-1C78-8846-0A4A2019D1FD}"/>
              </a:ext>
            </a:extLst>
          </p:cNvPr>
          <p:cNvSpPr txBox="1"/>
          <p:nvPr/>
        </p:nvSpPr>
        <p:spPr>
          <a:xfrm>
            <a:off x="8237898" y="4074782"/>
            <a:ext cx="23235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Allocate Memory Unit</a:t>
            </a:r>
          </a:p>
        </p:txBody>
      </p:sp>
      <p:pic>
        <p:nvPicPr>
          <p:cNvPr id="14" name="Grafik 13" descr="Ein Bild, das Text, Screenshot, Schrift enthält.">
            <a:extLst>
              <a:ext uri="{FF2B5EF4-FFF2-40B4-BE49-F238E27FC236}">
                <a16:creationId xmlns:a16="http://schemas.microsoft.com/office/drawing/2014/main" id="{F0F97ED0-A841-0295-8073-D0A001B23AB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885" t="4673" r="4473" b="51864"/>
          <a:stretch>
            <a:fillRect/>
          </a:stretch>
        </p:blipFill>
        <p:spPr>
          <a:xfrm>
            <a:off x="1204801" y="1783336"/>
            <a:ext cx="5289774" cy="1867780"/>
          </a:xfrm>
          <a:prstGeom prst="rect">
            <a:avLst/>
          </a:prstGeom>
        </p:spPr>
      </p:pic>
      <p:sp>
        <p:nvSpPr>
          <p:cNvPr id="15" name="Pfeil: nach rechts 14">
            <a:extLst>
              <a:ext uri="{FF2B5EF4-FFF2-40B4-BE49-F238E27FC236}">
                <a16:creationId xmlns:a16="http://schemas.microsoft.com/office/drawing/2014/main" id="{4353FCD0-7531-2996-C507-9639E50CD60A}"/>
              </a:ext>
            </a:extLst>
          </p:cNvPr>
          <p:cNvSpPr/>
          <p:nvPr/>
        </p:nvSpPr>
        <p:spPr>
          <a:xfrm>
            <a:off x="835578" y="3438783"/>
            <a:ext cx="349353" cy="153891"/>
          </a:xfrm>
          <a:prstGeom prst="rightArrow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0388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D39F4A-4F85-98B3-F5B6-2D61F080D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31A50CFA-D417-9F52-F170-F64F0F5C3FA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>
                <a:solidFill>
                  <a:srgbClr val="64378C"/>
                </a:solidFill>
              </a:rPr>
              <a:t>Rust's Approach to Memory Safety</a:t>
            </a:r>
            <a:endParaRPr lang="en-US" dirty="0">
              <a:solidFill>
                <a:srgbClr val="64378C"/>
              </a:solidFill>
            </a:endParaRP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C0025BB4-3A7A-4809-1665-C2C20535E5A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ctr"/>
            <a:fld id="{5F85D455-7770-4F98-B944-71C158B4E906}" type="slidenum">
              <a:rPr lang="en-US" smtClean="0"/>
              <a:pPr algn="ctr"/>
              <a:t>7</a:t>
            </a:fld>
            <a:endParaRPr lang="en-US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D51957F-DAB3-3177-D11A-7DD386991F5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Memory Safety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89A39201-66D9-E87E-4FEA-1529ED08043B}"/>
              </a:ext>
            </a:extLst>
          </p:cNvPr>
          <p:cNvSpPr txBox="1">
            <a:spLocks/>
          </p:cNvSpPr>
          <p:nvPr/>
        </p:nvSpPr>
        <p:spPr>
          <a:xfrm>
            <a:off x="1203513" y="941293"/>
            <a:ext cx="9856694" cy="563187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3600"/>
              <a:t>Use After Free</a:t>
            </a:r>
            <a:endParaRPr lang="en-US" sz="3600" dirty="0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4A04B1F7-0422-999F-2825-B451F11D3ED4}"/>
              </a:ext>
            </a:extLst>
          </p:cNvPr>
          <p:cNvSpPr/>
          <p:nvPr/>
        </p:nvSpPr>
        <p:spPr>
          <a:xfrm>
            <a:off x="7250348" y="2406191"/>
            <a:ext cx="3456562" cy="9144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53FF356F-080E-F2A4-9F6E-83A41812F700}"/>
              </a:ext>
            </a:extLst>
          </p:cNvPr>
          <p:cNvSpPr/>
          <p:nvPr/>
        </p:nvSpPr>
        <p:spPr>
          <a:xfrm>
            <a:off x="7585952" y="2406191"/>
            <a:ext cx="1530485" cy="914400"/>
          </a:xfrm>
          <a:prstGeom prst="rect">
            <a:avLst/>
          </a:prstGeom>
          <a:solidFill>
            <a:srgbClr val="64378C">
              <a:alpha val="80000"/>
            </a:srgb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Memory Unit</a:t>
            </a:r>
          </a:p>
          <a:p>
            <a:pPr algn="ctr"/>
            <a:r>
              <a:rPr lang="en-US" dirty="0"/>
              <a:t>512 Byte</a:t>
            </a:r>
          </a:p>
        </p:txBody>
      </p:sp>
      <p:cxnSp>
        <p:nvCxnSpPr>
          <p:cNvPr id="8" name="Verbinder: gekrümmt 7">
            <a:extLst>
              <a:ext uri="{FF2B5EF4-FFF2-40B4-BE49-F238E27FC236}">
                <a16:creationId xmlns:a16="http://schemas.microsoft.com/office/drawing/2014/main" id="{3D11CC50-7F67-102A-062F-B0A1C22732D7}"/>
              </a:ext>
            </a:extLst>
          </p:cNvPr>
          <p:cNvCxnSpPr>
            <a:cxnSpLocks/>
            <a:endCxn id="7" idx="2"/>
          </p:cNvCxnSpPr>
          <p:nvPr/>
        </p:nvCxnSpPr>
        <p:spPr>
          <a:xfrm flipV="1">
            <a:off x="6840166" y="3320591"/>
            <a:ext cx="1511029" cy="1340341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9139CB1D-B3CA-E3F8-60F4-D5C198C7425C}"/>
              </a:ext>
            </a:extLst>
          </p:cNvPr>
          <p:cNvCxnSpPr>
            <a:cxnSpLocks/>
          </p:cNvCxnSpPr>
          <p:nvPr/>
        </p:nvCxnSpPr>
        <p:spPr>
          <a:xfrm>
            <a:off x="7250348" y="2197067"/>
            <a:ext cx="3456562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feld 9">
            <a:extLst>
              <a:ext uri="{FF2B5EF4-FFF2-40B4-BE49-F238E27FC236}">
                <a16:creationId xmlns:a16="http://schemas.microsoft.com/office/drawing/2014/main" id="{8A357B7F-3BB2-AA46-76F7-12CD41BD26F5}"/>
              </a:ext>
            </a:extLst>
          </p:cNvPr>
          <p:cNvSpPr txBox="1"/>
          <p:nvPr/>
        </p:nvSpPr>
        <p:spPr>
          <a:xfrm>
            <a:off x="8187258" y="1803278"/>
            <a:ext cx="15827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Heap Memory</a:t>
            </a:r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FA150D79-3681-4814-0219-538381D1B10D}"/>
              </a:ext>
            </a:extLst>
          </p:cNvPr>
          <p:cNvSpPr/>
          <p:nvPr/>
        </p:nvSpPr>
        <p:spPr>
          <a:xfrm>
            <a:off x="5152560" y="4379338"/>
            <a:ext cx="1687606" cy="56318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bufferPtr1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EFEDBD31-4745-8AE7-D133-EF48B615AF01}"/>
              </a:ext>
            </a:extLst>
          </p:cNvPr>
          <p:cNvSpPr txBox="1"/>
          <p:nvPr/>
        </p:nvSpPr>
        <p:spPr>
          <a:xfrm>
            <a:off x="8237898" y="4074782"/>
            <a:ext cx="19414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Free Memory Unit</a:t>
            </a:r>
          </a:p>
        </p:txBody>
      </p:sp>
      <p:pic>
        <p:nvPicPr>
          <p:cNvPr id="14" name="Grafik 13" descr="Ein Bild, das Text, Screenshot, Schrift enthält.">
            <a:extLst>
              <a:ext uri="{FF2B5EF4-FFF2-40B4-BE49-F238E27FC236}">
                <a16:creationId xmlns:a16="http://schemas.microsoft.com/office/drawing/2014/main" id="{57A16302-EFF8-3699-D060-F13C18882AA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85" t="4673" r="4473" b="42006"/>
          <a:stretch>
            <a:fillRect/>
          </a:stretch>
        </p:blipFill>
        <p:spPr>
          <a:xfrm>
            <a:off x="1204801" y="1783335"/>
            <a:ext cx="5289774" cy="2291447"/>
          </a:xfrm>
          <a:prstGeom prst="rect">
            <a:avLst/>
          </a:prstGeom>
        </p:spPr>
      </p:pic>
      <p:sp>
        <p:nvSpPr>
          <p:cNvPr id="15" name="Pfeil: nach rechts 14">
            <a:extLst>
              <a:ext uri="{FF2B5EF4-FFF2-40B4-BE49-F238E27FC236}">
                <a16:creationId xmlns:a16="http://schemas.microsoft.com/office/drawing/2014/main" id="{8FB16FDB-AEF2-BDDC-DB75-D4E246B3D243}"/>
              </a:ext>
            </a:extLst>
          </p:cNvPr>
          <p:cNvSpPr/>
          <p:nvPr/>
        </p:nvSpPr>
        <p:spPr>
          <a:xfrm>
            <a:off x="835578" y="3879768"/>
            <a:ext cx="349353" cy="153891"/>
          </a:xfrm>
          <a:prstGeom prst="rightArrow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Grafik 16" descr="Abzeichen Silhouette">
            <a:extLst>
              <a:ext uri="{FF2B5EF4-FFF2-40B4-BE49-F238E27FC236}">
                <a16:creationId xmlns:a16="http://schemas.microsoft.com/office/drawing/2014/main" id="{F0A3C2E9-84A6-9806-9DB9-42376BCCA4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34388" y="4106578"/>
            <a:ext cx="305740" cy="305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07516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86CDA5-446E-5811-5A62-AA968847AF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82B445DB-5042-F219-E856-B298315D397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>
                <a:solidFill>
                  <a:srgbClr val="64378C"/>
                </a:solidFill>
              </a:rPr>
              <a:t>Rust's Approach to Memory Safety</a:t>
            </a:r>
            <a:endParaRPr lang="en-US" dirty="0">
              <a:solidFill>
                <a:srgbClr val="64378C"/>
              </a:solidFill>
            </a:endParaRP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65F11FFB-3389-C4DA-F552-56EE76216B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ctr"/>
            <a:fld id="{5F85D455-7770-4F98-B944-71C158B4E906}" type="slidenum">
              <a:rPr lang="en-US" smtClean="0"/>
              <a:pPr algn="ctr"/>
              <a:t>8</a:t>
            </a:fld>
            <a:endParaRPr lang="en-US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873C4C1-80FC-928F-07D0-CA16660C3BA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Memory Safety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AFF51285-487A-0AF5-2AE3-61B06A439480}"/>
              </a:ext>
            </a:extLst>
          </p:cNvPr>
          <p:cNvSpPr txBox="1">
            <a:spLocks/>
          </p:cNvSpPr>
          <p:nvPr/>
        </p:nvSpPr>
        <p:spPr>
          <a:xfrm>
            <a:off x="1203513" y="941293"/>
            <a:ext cx="9856694" cy="563187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3600"/>
              <a:t>Use After Free</a:t>
            </a:r>
            <a:endParaRPr lang="en-US" sz="3600" dirty="0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4550D060-601D-A581-BC63-465860563131}"/>
              </a:ext>
            </a:extLst>
          </p:cNvPr>
          <p:cNvSpPr/>
          <p:nvPr/>
        </p:nvSpPr>
        <p:spPr>
          <a:xfrm>
            <a:off x="7250348" y="2406191"/>
            <a:ext cx="3456562" cy="9144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1EFE90CB-7E96-5861-977D-E330983CB7F0}"/>
              </a:ext>
            </a:extLst>
          </p:cNvPr>
          <p:cNvSpPr/>
          <p:nvPr/>
        </p:nvSpPr>
        <p:spPr>
          <a:xfrm>
            <a:off x="7585952" y="2406191"/>
            <a:ext cx="1530485" cy="914400"/>
          </a:xfrm>
          <a:prstGeom prst="rect">
            <a:avLst/>
          </a:prstGeom>
          <a:solidFill>
            <a:srgbClr val="64378C">
              <a:alpha val="80000"/>
            </a:srgb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Memory Unit</a:t>
            </a:r>
          </a:p>
          <a:p>
            <a:pPr algn="ctr"/>
            <a:r>
              <a:rPr lang="en-US" dirty="0"/>
              <a:t>512 Byte</a:t>
            </a:r>
          </a:p>
        </p:txBody>
      </p:sp>
      <p:cxnSp>
        <p:nvCxnSpPr>
          <p:cNvPr id="8" name="Verbinder: gekrümmt 7">
            <a:extLst>
              <a:ext uri="{FF2B5EF4-FFF2-40B4-BE49-F238E27FC236}">
                <a16:creationId xmlns:a16="http://schemas.microsoft.com/office/drawing/2014/main" id="{0D3E788D-F89A-6935-B690-12E730478A85}"/>
              </a:ext>
            </a:extLst>
          </p:cNvPr>
          <p:cNvCxnSpPr>
            <a:cxnSpLocks/>
            <a:stCxn id="11" idx="6"/>
            <a:endCxn id="7" idx="2"/>
          </p:cNvCxnSpPr>
          <p:nvPr/>
        </p:nvCxnSpPr>
        <p:spPr>
          <a:xfrm flipV="1">
            <a:off x="7683969" y="3320591"/>
            <a:ext cx="667226" cy="2185250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15DA25F7-1DC7-91D7-B692-26AE514DA6B3}"/>
              </a:ext>
            </a:extLst>
          </p:cNvPr>
          <p:cNvCxnSpPr>
            <a:cxnSpLocks/>
          </p:cNvCxnSpPr>
          <p:nvPr/>
        </p:nvCxnSpPr>
        <p:spPr>
          <a:xfrm>
            <a:off x="7250348" y="2197067"/>
            <a:ext cx="3456562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feld 9">
            <a:extLst>
              <a:ext uri="{FF2B5EF4-FFF2-40B4-BE49-F238E27FC236}">
                <a16:creationId xmlns:a16="http://schemas.microsoft.com/office/drawing/2014/main" id="{A33F1C53-5F51-DFAE-7DCE-BC35BEC83609}"/>
              </a:ext>
            </a:extLst>
          </p:cNvPr>
          <p:cNvSpPr txBox="1"/>
          <p:nvPr/>
        </p:nvSpPr>
        <p:spPr>
          <a:xfrm>
            <a:off x="8187258" y="1803278"/>
            <a:ext cx="15827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Heap Memory</a:t>
            </a:r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22EB540A-6C2C-0C8F-DF05-3ADEF047A534}"/>
              </a:ext>
            </a:extLst>
          </p:cNvPr>
          <p:cNvSpPr/>
          <p:nvPr/>
        </p:nvSpPr>
        <p:spPr>
          <a:xfrm>
            <a:off x="5996363" y="5224247"/>
            <a:ext cx="1687606" cy="56318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bufferPtr2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898D8A95-3B81-174F-64AE-384649624289}"/>
              </a:ext>
            </a:extLst>
          </p:cNvPr>
          <p:cNvSpPr txBox="1"/>
          <p:nvPr/>
        </p:nvSpPr>
        <p:spPr>
          <a:xfrm>
            <a:off x="8496622" y="4330252"/>
            <a:ext cx="23235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Allocate Memory Unit</a:t>
            </a:r>
          </a:p>
        </p:txBody>
      </p:sp>
      <p:pic>
        <p:nvPicPr>
          <p:cNvPr id="14" name="Grafik 13" descr="Ein Bild, das Text, Screenshot, Schrift enthält.">
            <a:extLst>
              <a:ext uri="{FF2B5EF4-FFF2-40B4-BE49-F238E27FC236}">
                <a16:creationId xmlns:a16="http://schemas.microsoft.com/office/drawing/2014/main" id="{70770C07-5249-A8F7-0854-8F3273D831D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85" t="4673" r="4473" b="31374"/>
          <a:stretch>
            <a:fillRect/>
          </a:stretch>
        </p:blipFill>
        <p:spPr>
          <a:xfrm>
            <a:off x="1203513" y="1783335"/>
            <a:ext cx="5289774" cy="2748324"/>
          </a:xfrm>
          <a:prstGeom prst="rect">
            <a:avLst/>
          </a:prstGeom>
        </p:spPr>
      </p:pic>
      <p:sp>
        <p:nvSpPr>
          <p:cNvPr id="15" name="Pfeil: nach rechts 14">
            <a:extLst>
              <a:ext uri="{FF2B5EF4-FFF2-40B4-BE49-F238E27FC236}">
                <a16:creationId xmlns:a16="http://schemas.microsoft.com/office/drawing/2014/main" id="{437ED8FD-8BE4-58EC-2C8C-18C6D28E322B}"/>
              </a:ext>
            </a:extLst>
          </p:cNvPr>
          <p:cNvSpPr/>
          <p:nvPr/>
        </p:nvSpPr>
        <p:spPr>
          <a:xfrm>
            <a:off x="835578" y="4330252"/>
            <a:ext cx="349353" cy="153891"/>
          </a:xfrm>
          <a:prstGeom prst="rightArrow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Grafik 19" descr="Marke 3 Silhouette">
            <a:extLst>
              <a:ext uri="{FF2B5EF4-FFF2-40B4-BE49-F238E27FC236}">
                <a16:creationId xmlns:a16="http://schemas.microsoft.com/office/drawing/2014/main" id="{DB314DBA-EE41-D204-9597-67B7074AFA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71039" y="4362048"/>
            <a:ext cx="305740" cy="305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52364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BD61C2-B478-5FF1-DC5D-88C0D9BB7D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3AE9E35E-64A3-AD17-9BEC-E840E569483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>
                <a:solidFill>
                  <a:srgbClr val="64378C"/>
                </a:solidFill>
              </a:rPr>
              <a:t>Rust's Approach to Memory Safety</a:t>
            </a:r>
            <a:endParaRPr lang="en-US" dirty="0">
              <a:solidFill>
                <a:srgbClr val="64378C"/>
              </a:solidFill>
            </a:endParaRP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5C97A29F-364D-16F3-D887-E9CFC1E744B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ctr"/>
            <a:fld id="{5F85D455-7770-4F98-B944-71C158B4E906}" type="slidenum">
              <a:rPr lang="en-US" smtClean="0"/>
              <a:pPr algn="ctr"/>
              <a:t>9</a:t>
            </a:fld>
            <a:endParaRPr lang="en-US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92EC43D-3F35-FD98-0D84-EDA9D6A09FC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Memory Safety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5E3AB291-8EAE-2E34-9B07-5C12A89F5616}"/>
              </a:ext>
            </a:extLst>
          </p:cNvPr>
          <p:cNvSpPr txBox="1">
            <a:spLocks/>
          </p:cNvSpPr>
          <p:nvPr/>
        </p:nvSpPr>
        <p:spPr>
          <a:xfrm>
            <a:off x="1203513" y="941293"/>
            <a:ext cx="9856694" cy="563187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3600"/>
              <a:t>Use After Free</a:t>
            </a:r>
            <a:endParaRPr lang="en-US" sz="3600" dirty="0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6C32A799-F4A0-D95D-97A1-28AFF8A30EF7}"/>
              </a:ext>
            </a:extLst>
          </p:cNvPr>
          <p:cNvSpPr/>
          <p:nvPr/>
        </p:nvSpPr>
        <p:spPr>
          <a:xfrm>
            <a:off x="7250348" y="2406191"/>
            <a:ext cx="3456562" cy="9144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A8D63E6B-18CF-88D2-CC5B-470858B5DC6F}"/>
              </a:ext>
            </a:extLst>
          </p:cNvPr>
          <p:cNvSpPr/>
          <p:nvPr/>
        </p:nvSpPr>
        <p:spPr>
          <a:xfrm>
            <a:off x="7585952" y="2406191"/>
            <a:ext cx="1530485" cy="914400"/>
          </a:xfrm>
          <a:prstGeom prst="rect">
            <a:avLst/>
          </a:prstGeom>
          <a:solidFill>
            <a:srgbClr val="64378C">
              <a:alpha val="80000"/>
            </a:srgb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Memory Unit</a:t>
            </a:r>
          </a:p>
          <a:p>
            <a:pPr algn="ctr"/>
            <a:r>
              <a:rPr lang="en-US" dirty="0"/>
              <a:t>512 Byte</a:t>
            </a:r>
          </a:p>
        </p:txBody>
      </p:sp>
      <p:cxnSp>
        <p:nvCxnSpPr>
          <p:cNvPr id="8" name="Verbinder: gekrümmt 7">
            <a:extLst>
              <a:ext uri="{FF2B5EF4-FFF2-40B4-BE49-F238E27FC236}">
                <a16:creationId xmlns:a16="http://schemas.microsoft.com/office/drawing/2014/main" id="{1B0F8CD4-0E79-9247-F2F1-1A99FAF86A91}"/>
              </a:ext>
            </a:extLst>
          </p:cNvPr>
          <p:cNvCxnSpPr>
            <a:cxnSpLocks/>
            <a:stCxn id="11" idx="6"/>
            <a:endCxn id="7" idx="2"/>
          </p:cNvCxnSpPr>
          <p:nvPr/>
        </p:nvCxnSpPr>
        <p:spPr>
          <a:xfrm flipV="1">
            <a:off x="7149828" y="3320591"/>
            <a:ext cx="1201367" cy="2111188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1CCF6585-9F0C-CC5A-E84D-E25FF18D7CC7}"/>
              </a:ext>
            </a:extLst>
          </p:cNvPr>
          <p:cNvCxnSpPr>
            <a:cxnSpLocks/>
          </p:cNvCxnSpPr>
          <p:nvPr/>
        </p:nvCxnSpPr>
        <p:spPr>
          <a:xfrm>
            <a:off x="7250348" y="2197067"/>
            <a:ext cx="3456562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feld 9">
            <a:extLst>
              <a:ext uri="{FF2B5EF4-FFF2-40B4-BE49-F238E27FC236}">
                <a16:creationId xmlns:a16="http://schemas.microsoft.com/office/drawing/2014/main" id="{35625CA1-301A-299A-5A7B-A8E7410070D8}"/>
              </a:ext>
            </a:extLst>
          </p:cNvPr>
          <p:cNvSpPr txBox="1"/>
          <p:nvPr/>
        </p:nvSpPr>
        <p:spPr>
          <a:xfrm>
            <a:off x="8187258" y="1803278"/>
            <a:ext cx="15827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Heap Memory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B1183F02-B9C4-AE3F-5353-7B82AC1429A2}"/>
              </a:ext>
            </a:extLst>
          </p:cNvPr>
          <p:cNvSpPr txBox="1"/>
          <p:nvPr/>
        </p:nvSpPr>
        <p:spPr>
          <a:xfrm>
            <a:off x="7650123" y="5340066"/>
            <a:ext cx="30676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Store “</a:t>
            </a:r>
            <a:r>
              <a:rPr lang="en-US" i="1" dirty="0" err="1"/>
              <a:t>blubb</a:t>
            </a:r>
            <a:r>
              <a:rPr lang="en-US" dirty="0"/>
              <a:t>” in Memory Unit</a:t>
            </a:r>
          </a:p>
        </p:txBody>
      </p:sp>
      <p:pic>
        <p:nvPicPr>
          <p:cNvPr id="14" name="Grafik 13" descr="Ein Bild, das Text, Screenshot, Schrift enthält.">
            <a:extLst>
              <a:ext uri="{FF2B5EF4-FFF2-40B4-BE49-F238E27FC236}">
                <a16:creationId xmlns:a16="http://schemas.microsoft.com/office/drawing/2014/main" id="{F120F1BC-DBCA-A5CF-F386-BD78A272571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85" t="4673" r="4473" b="3876"/>
          <a:stretch>
            <a:fillRect/>
          </a:stretch>
        </p:blipFill>
        <p:spPr>
          <a:xfrm>
            <a:off x="1204801" y="1783335"/>
            <a:ext cx="5289774" cy="3930037"/>
          </a:xfrm>
          <a:prstGeom prst="rect">
            <a:avLst/>
          </a:prstGeom>
        </p:spPr>
      </p:pic>
      <p:sp>
        <p:nvSpPr>
          <p:cNvPr id="15" name="Pfeil: nach rechts 14">
            <a:extLst>
              <a:ext uri="{FF2B5EF4-FFF2-40B4-BE49-F238E27FC236}">
                <a16:creationId xmlns:a16="http://schemas.microsoft.com/office/drawing/2014/main" id="{1D330DE2-CEB3-614E-5D6A-13CF96FF2E64}"/>
              </a:ext>
            </a:extLst>
          </p:cNvPr>
          <p:cNvSpPr/>
          <p:nvPr/>
        </p:nvSpPr>
        <p:spPr>
          <a:xfrm>
            <a:off x="835578" y="4787449"/>
            <a:ext cx="349353" cy="153891"/>
          </a:xfrm>
          <a:prstGeom prst="rightArrow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Pfeil: nach rechts 15">
            <a:extLst>
              <a:ext uri="{FF2B5EF4-FFF2-40B4-BE49-F238E27FC236}">
                <a16:creationId xmlns:a16="http://schemas.microsoft.com/office/drawing/2014/main" id="{E53077D7-79B4-A459-8BF1-B928212DF2A2}"/>
              </a:ext>
            </a:extLst>
          </p:cNvPr>
          <p:cNvSpPr/>
          <p:nvPr/>
        </p:nvSpPr>
        <p:spPr>
          <a:xfrm>
            <a:off x="835577" y="5243899"/>
            <a:ext cx="349353" cy="153891"/>
          </a:xfrm>
          <a:prstGeom prst="rightArrow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B760FC3B-167E-464A-A8DE-F28CBDBCF377}"/>
              </a:ext>
            </a:extLst>
          </p:cNvPr>
          <p:cNvSpPr/>
          <p:nvPr/>
        </p:nvSpPr>
        <p:spPr>
          <a:xfrm>
            <a:off x="5462222" y="5150185"/>
            <a:ext cx="1687606" cy="56318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bufferPtr2</a:t>
            </a:r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71AB5639-2F6B-9611-B135-A17CC3B4ADB9}"/>
              </a:ext>
            </a:extLst>
          </p:cNvPr>
          <p:cNvSpPr/>
          <p:nvPr/>
        </p:nvSpPr>
        <p:spPr>
          <a:xfrm>
            <a:off x="9453757" y="4048735"/>
            <a:ext cx="1687606" cy="56318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bufferPtr1</a:t>
            </a:r>
          </a:p>
        </p:txBody>
      </p:sp>
      <p:cxnSp>
        <p:nvCxnSpPr>
          <p:cNvPr id="19" name="Verbinder: gekrümmt 18">
            <a:extLst>
              <a:ext uri="{FF2B5EF4-FFF2-40B4-BE49-F238E27FC236}">
                <a16:creationId xmlns:a16="http://schemas.microsoft.com/office/drawing/2014/main" id="{16B18883-C811-D5F7-2D93-821676ECE62A}"/>
              </a:ext>
            </a:extLst>
          </p:cNvPr>
          <p:cNvCxnSpPr>
            <a:cxnSpLocks/>
            <a:stCxn id="18" idx="2"/>
          </p:cNvCxnSpPr>
          <p:nvPr/>
        </p:nvCxnSpPr>
        <p:spPr>
          <a:xfrm rot="10800000">
            <a:off x="8545607" y="3320591"/>
            <a:ext cx="908151" cy="1009738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feld 22">
            <a:extLst>
              <a:ext uri="{FF2B5EF4-FFF2-40B4-BE49-F238E27FC236}">
                <a16:creationId xmlns:a16="http://schemas.microsoft.com/office/drawing/2014/main" id="{BEB07365-B051-3CF5-D708-D3F5703CD590}"/>
              </a:ext>
            </a:extLst>
          </p:cNvPr>
          <p:cNvSpPr txBox="1"/>
          <p:nvPr/>
        </p:nvSpPr>
        <p:spPr>
          <a:xfrm>
            <a:off x="8939879" y="3499997"/>
            <a:ext cx="25086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Use Freed Memory Unit</a:t>
            </a:r>
          </a:p>
        </p:txBody>
      </p:sp>
      <p:pic>
        <p:nvPicPr>
          <p:cNvPr id="25" name="Grafik 24" descr="Marke 5 Silhouette">
            <a:extLst>
              <a:ext uri="{FF2B5EF4-FFF2-40B4-BE49-F238E27FC236}">
                <a16:creationId xmlns:a16="http://schemas.microsoft.com/office/drawing/2014/main" id="{DA0CE5D6-C592-CC36-BD34-FF08ED1654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09242" y="3531793"/>
            <a:ext cx="305740" cy="305740"/>
          </a:xfrm>
          <a:prstGeom prst="rect">
            <a:avLst/>
          </a:prstGeom>
        </p:spPr>
      </p:pic>
      <p:pic>
        <p:nvPicPr>
          <p:cNvPr id="27" name="Grafik 26" descr="Marke 4 Silhouette">
            <a:extLst>
              <a:ext uri="{FF2B5EF4-FFF2-40B4-BE49-F238E27FC236}">
                <a16:creationId xmlns:a16="http://schemas.microsoft.com/office/drawing/2014/main" id="{C0DEA982-81E0-C3BC-FD18-867B03E63A1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95369" y="5371862"/>
            <a:ext cx="305740" cy="305740"/>
          </a:xfrm>
          <a:prstGeom prst="rect">
            <a:avLst/>
          </a:prstGeom>
        </p:spPr>
      </p:pic>
      <p:sp>
        <p:nvSpPr>
          <p:cNvPr id="28" name="Rechteck: abgerundete Ecken 27">
            <a:extLst>
              <a:ext uri="{FF2B5EF4-FFF2-40B4-BE49-F238E27FC236}">
                <a16:creationId xmlns:a16="http://schemas.microsoft.com/office/drawing/2014/main" id="{2B5A0665-A8F2-E852-7B73-FEC584212356}"/>
              </a:ext>
            </a:extLst>
          </p:cNvPr>
          <p:cNvSpPr/>
          <p:nvPr/>
        </p:nvSpPr>
        <p:spPr>
          <a:xfrm>
            <a:off x="1203513" y="5815039"/>
            <a:ext cx="2978522" cy="43964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&gt;</a:t>
            </a:r>
            <a:r>
              <a:rPr lang="en-US" dirty="0" err="1">
                <a:solidFill>
                  <a:schemeClr val="tx1"/>
                </a:solidFill>
              </a:rPr>
              <a:t>blubb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29" name="Grafik 28" descr="Blitz Silhouette">
            <a:extLst>
              <a:ext uri="{FF2B5EF4-FFF2-40B4-BE49-F238E27FC236}">
                <a16:creationId xmlns:a16="http://schemas.microsoft.com/office/drawing/2014/main" id="{AA92466C-6092-B195-26B1-B9660A0FC88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260855" y="5188924"/>
            <a:ext cx="365125" cy="365125"/>
          </a:xfrm>
          <a:prstGeom prst="rect">
            <a:avLst/>
          </a:prstGeom>
          <a:effectLst>
            <a:outerShdw blurRad="50800" dist="50800" dir="5400000" algn="ctr" rotWithShape="0">
              <a:srgbClr val="FF0000"/>
            </a:outerShdw>
          </a:effectLst>
        </p:spPr>
      </p:pic>
    </p:spTree>
    <p:extLst>
      <p:ext uri="{BB962C8B-B14F-4D97-AF65-F5344CB8AC3E}">
        <p14:creationId xmlns:p14="http://schemas.microsoft.com/office/powerpoint/2010/main" val="7292119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8" grpId="0" animBg="1"/>
      <p:bldP spid="23" grpId="0"/>
      <p:bldP spid="2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CFC18A-1268-A298-47B0-6A616C5D98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F12E66BC-A753-DEC9-4BBE-7FF9DF756C8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>
                <a:solidFill>
                  <a:srgbClr val="64378C"/>
                </a:solidFill>
              </a:rPr>
              <a:t>Rust's Approach to Memory Safety</a:t>
            </a:r>
            <a:endParaRPr lang="en-US" dirty="0">
              <a:solidFill>
                <a:srgbClr val="64378C"/>
              </a:solidFill>
            </a:endParaRP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44CA94E3-9B78-E550-5BBC-5C01D4B8E19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ctr"/>
            <a:fld id="{5F85D455-7770-4F98-B944-71C158B4E906}" type="slidenum">
              <a:rPr lang="en-US" smtClean="0"/>
              <a:pPr algn="ctr"/>
              <a:t>10</a:t>
            </a:fld>
            <a:endParaRPr lang="en-US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A6662FA-B02C-D652-9C77-867E3B41D26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Memory Safety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D3E36E59-7E3F-6F0F-FAFD-5E3CFC7B0EB0}"/>
              </a:ext>
            </a:extLst>
          </p:cNvPr>
          <p:cNvSpPr txBox="1">
            <a:spLocks/>
          </p:cNvSpPr>
          <p:nvPr/>
        </p:nvSpPr>
        <p:spPr>
          <a:xfrm>
            <a:off x="1203513" y="941293"/>
            <a:ext cx="9856694" cy="563187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3600" dirty="0"/>
              <a:t>Out-of-bounds Write</a:t>
            </a: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E6820A03-6D07-1808-8E58-9090672CB769}"/>
              </a:ext>
            </a:extLst>
          </p:cNvPr>
          <p:cNvSpPr/>
          <p:nvPr/>
        </p:nvSpPr>
        <p:spPr>
          <a:xfrm>
            <a:off x="8161774" y="2086453"/>
            <a:ext cx="1171843" cy="314661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Grafik 17" descr="Ein Bild, das Text, Screenshot, Schrift, Zahl enthält.">
            <a:extLst>
              <a:ext uri="{FF2B5EF4-FFF2-40B4-BE49-F238E27FC236}">
                <a16:creationId xmlns:a16="http://schemas.microsoft.com/office/drawing/2014/main" id="{B6CAF56E-241D-5218-34C7-B52FDFDC3FC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868" t="5815" r="5970" b="53338"/>
          <a:stretch>
            <a:fillRect/>
          </a:stretch>
        </p:blipFill>
        <p:spPr>
          <a:xfrm>
            <a:off x="1305111" y="1783335"/>
            <a:ext cx="4940674" cy="1645665"/>
          </a:xfrm>
          <a:prstGeom prst="rect">
            <a:avLst/>
          </a:prstGeom>
        </p:spPr>
      </p:pic>
      <p:sp>
        <p:nvSpPr>
          <p:cNvPr id="21" name="Rechteck 20">
            <a:extLst>
              <a:ext uri="{FF2B5EF4-FFF2-40B4-BE49-F238E27FC236}">
                <a16:creationId xmlns:a16="http://schemas.microsoft.com/office/drawing/2014/main" id="{92A908D6-B3A7-67E7-4CFD-29C22A88EF09}"/>
              </a:ext>
            </a:extLst>
          </p:cNvPr>
          <p:cNvSpPr/>
          <p:nvPr/>
        </p:nvSpPr>
        <p:spPr>
          <a:xfrm>
            <a:off x="8161773" y="3425447"/>
            <a:ext cx="1171843" cy="563188"/>
          </a:xfrm>
          <a:prstGeom prst="rect">
            <a:avLst/>
          </a:prstGeom>
          <a:solidFill>
            <a:srgbClr val="64378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?</a:t>
            </a: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E4D72C27-8A35-7108-75EA-C7431CF31B2D}"/>
              </a:ext>
            </a:extLst>
          </p:cNvPr>
          <p:cNvSpPr/>
          <p:nvPr/>
        </p:nvSpPr>
        <p:spPr>
          <a:xfrm>
            <a:off x="8161773" y="2862259"/>
            <a:ext cx="1171843" cy="563188"/>
          </a:xfrm>
          <a:prstGeom prst="rect">
            <a:avLst/>
          </a:prstGeom>
          <a:solidFill>
            <a:srgbClr val="64378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?</a:t>
            </a: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7D48AE71-9A14-793A-A3DC-4CB33E9A1856}"/>
              </a:ext>
            </a:extLst>
          </p:cNvPr>
          <p:cNvSpPr/>
          <p:nvPr/>
        </p:nvSpPr>
        <p:spPr>
          <a:xfrm>
            <a:off x="8161773" y="2299071"/>
            <a:ext cx="1171843" cy="563188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cxnSp>
        <p:nvCxnSpPr>
          <p:cNvPr id="26" name="Gerade Verbindung mit Pfeil 25">
            <a:extLst>
              <a:ext uri="{FF2B5EF4-FFF2-40B4-BE49-F238E27FC236}">
                <a16:creationId xmlns:a16="http://schemas.microsoft.com/office/drawing/2014/main" id="{35CE047D-1808-1434-1D68-473A1D03276B}"/>
              </a:ext>
            </a:extLst>
          </p:cNvPr>
          <p:cNvCxnSpPr>
            <a:cxnSpLocks/>
          </p:cNvCxnSpPr>
          <p:nvPr/>
        </p:nvCxnSpPr>
        <p:spPr>
          <a:xfrm>
            <a:off x="9496741" y="2086453"/>
            <a:ext cx="0" cy="314661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feld 29">
            <a:extLst>
              <a:ext uri="{FF2B5EF4-FFF2-40B4-BE49-F238E27FC236}">
                <a16:creationId xmlns:a16="http://schemas.microsoft.com/office/drawing/2014/main" id="{108FC136-39C3-E3FB-9385-94034A54E7F2}"/>
              </a:ext>
            </a:extLst>
          </p:cNvPr>
          <p:cNvSpPr txBox="1"/>
          <p:nvPr/>
        </p:nvSpPr>
        <p:spPr>
          <a:xfrm>
            <a:off x="9578502" y="3547452"/>
            <a:ext cx="1627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Stack Memory</a:t>
            </a:r>
          </a:p>
        </p:txBody>
      </p:sp>
      <p:sp>
        <p:nvSpPr>
          <p:cNvPr id="8" name="Geschweifte Klammer links 7">
            <a:extLst>
              <a:ext uri="{FF2B5EF4-FFF2-40B4-BE49-F238E27FC236}">
                <a16:creationId xmlns:a16="http://schemas.microsoft.com/office/drawing/2014/main" id="{5ACBD522-6BA1-30F1-A590-4BD1433B3CC4}"/>
              </a:ext>
            </a:extLst>
          </p:cNvPr>
          <p:cNvSpPr/>
          <p:nvPr/>
        </p:nvSpPr>
        <p:spPr>
          <a:xfrm>
            <a:off x="7853464" y="2293977"/>
            <a:ext cx="108142" cy="563187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Geschweifte Klammer links 8">
            <a:extLst>
              <a:ext uri="{FF2B5EF4-FFF2-40B4-BE49-F238E27FC236}">
                <a16:creationId xmlns:a16="http://schemas.microsoft.com/office/drawing/2014/main" id="{D5F4C9F2-F009-6E35-DB23-09B571D8651B}"/>
              </a:ext>
            </a:extLst>
          </p:cNvPr>
          <p:cNvSpPr/>
          <p:nvPr/>
        </p:nvSpPr>
        <p:spPr>
          <a:xfrm>
            <a:off x="7853464" y="2867892"/>
            <a:ext cx="108142" cy="563187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Geschweifte Klammer links 9">
            <a:extLst>
              <a:ext uri="{FF2B5EF4-FFF2-40B4-BE49-F238E27FC236}">
                <a16:creationId xmlns:a16="http://schemas.microsoft.com/office/drawing/2014/main" id="{DF4BEB2C-A6C0-16B2-CAB9-C86E29F4B851}"/>
              </a:ext>
            </a:extLst>
          </p:cNvPr>
          <p:cNvSpPr/>
          <p:nvPr/>
        </p:nvSpPr>
        <p:spPr>
          <a:xfrm>
            <a:off x="7853464" y="3441807"/>
            <a:ext cx="108142" cy="563187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CE3899F3-E78B-E03D-9C0B-88F6B76DEBF2}"/>
              </a:ext>
            </a:extLst>
          </p:cNvPr>
          <p:cNvSpPr txBox="1"/>
          <p:nvPr/>
        </p:nvSpPr>
        <p:spPr>
          <a:xfrm>
            <a:off x="7907535" y="5233065"/>
            <a:ext cx="16882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Low Addresses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C416F9DB-FE97-9B18-ECCE-FBA23D02E50F}"/>
              </a:ext>
            </a:extLst>
          </p:cNvPr>
          <p:cNvSpPr txBox="1"/>
          <p:nvPr/>
        </p:nvSpPr>
        <p:spPr>
          <a:xfrm>
            <a:off x="7878674" y="1749183"/>
            <a:ext cx="17380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High Addresses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2C6168B6-5B9E-85D2-D8BE-9665AD30C038}"/>
              </a:ext>
            </a:extLst>
          </p:cNvPr>
          <p:cNvSpPr txBox="1"/>
          <p:nvPr/>
        </p:nvSpPr>
        <p:spPr>
          <a:xfrm>
            <a:off x="7364996" y="2390904"/>
            <a:ext cx="4884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var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74C902FC-3213-6F30-0DE8-C95A03949D98}"/>
              </a:ext>
            </a:extLst>
          </p:cNvPr>
          <p:cNvSpPr txBox="1"/>
          <p:nvPr/>
        </p:nvSpPr>
        <p:spPr>
          <a:xfrm>
            <a:off x="7158604" y="3522375"/>
            <a:ext cx="7200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arr</a:t>
            </a:r>
            <a:r>
              <a:rPr lang="en-US" dirty="0"/>
              <a:t>[0]</a:t>
            </a: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1D6992CC-7103-3611-9FF8-CABD5CB00EED}"/>
              </a:ext>
            </a:extLst>
          </p:cNvPr>
          <p:cNvSpPr txBox="1"/>
          <p:nvPr/>
        </p:nvSpPr>
        <p:spPr>
          <a:xfrm>
            <a:off x="7158605" y="2959187"/>
            <a:ext cx="7200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arr</a:t>
            </a:r>
            <a:r>
              <a:rPr lang="en-US" dirty="0"/>
              <a:t>[1]</a:t>
            </a:r>
          </a:p>
        </p:txBody>
      </p:sp>
      <p:sp>
        <p:nvSpPr>
          <p:cNvPr id="25" name="Pfeil: nach rechts 24">
            <a:extLst>
              <a:ext uri="{FF2B5EF4-FFF2-40B4-BE49-F238E27FC236}">
                <a16:creationId xmlns:a16="http://schemas.microsoft.com/office/drawing/2014/main" id="{964503C3-5B83-7F5C-25DF-8FE1CA6F8C71}"/>
              </a:ext>
            </a:extLst>
          </p:cNvPr>
          <p:cNvSpPr/>
          <p:nvPr/>
        </p:nvSpPr>
        <p:spPr>
          <a:xfrm>
            <a:off x="971763" y="2670111"/>
            <a:ext cx="349353" cy="153891"/>
          </a:xfrm>
          <a:prstGeom prst="rightArrow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Pfeil: nach rechts 26">
            <a:extLst>
              <a:ext uri="{FF2B5EF4-FFF2-40B4-BE49-F238E27FC236}">
                <a16:creationId xmlns:a16="http://schemas.microsoft.com/office/drawing/2014/main" id="{563A9AA9-2577-210D-AF55-8C9478B5BF48}"/>
              </a:ext>
            </a:extLst>
          </p:cNvPr>
          <p:cNvSpPr/>
          <p:nvPr/>
        </p:nvSpPr>
        <p:spPr>
          <a:xfrm>
            <a:off x="971763" y="3227829"/>
            <a:ext cx="349353" cy="153891"/>
          </a:xfrm>
          <a:prstGeom prst="rightArrow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814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9" grpId="0" animBg="1"/>
      <p:bldP spid="10" grpId="0" animBg="1"/>
      <p:bldP spid="20" grpId="0"/>
      <p:bldP spid="24" grpId="0"/>
      <p:bldP spid="2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183EB0-90EC-A068-D7F6-DEA335FA9A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E4FDE0BF-AA59-C4D7-DFD8-0933E38069E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>
                <a:solidFill>
                  <a:srgbClr val="64378C"/>
                </a:solidFill>
              </a:rPr>
              <a:t>Rust's Approach to Memory Safety</a:t>
            </a:r>
            <a:endParaRPr lang="en-US" dirty="0">
              <a:solidFill>
                <a:srgbClr val="64378C"/>
              </a:solidFill>
            </a:endParaRP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579A83FC-11CD-B5C4-D5DE-D1D3E61CA4D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ctr"/>
            <a:fld id="{5F85D455-7770-4F98-B944-71C158B4E906}" type="slidenum">
              <a:rPr lang="en-US" smtClean="0"/>
              <a:pPr algn="ctr"/>
              <a:t>11</a:t>
            </a:fld>
            <a:endParaRPr lang="en-US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542BC0A-E0AF-3372-2757-CF166B40305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Memory Safety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2B8233D4-2966-4B1A-C3F4-0A74040390EC}"/>
              </a:ext>
            </a:extLst>
          </p:cNvPr>
          <p:cNvSpPr txBox="1">
            <a:spLocks/>
          </p:cNvSpPr>
          <p:nvPr/>
        </p:nvSpPr>
        <p:spPr>
          <a:xfrm>
            <a:off x="1203513" y="941293"/>
            <a:ext cx="9856694" cy="563187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3600" dirty="0"/>
              <a:t>Out-of-bounds Write</a:t>
            </a: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F9991F62-06A7-3113-80EE-C433395E2019}"/>
              </a:ext>
            </a:extLst>
          </p:cNvPr>
          <p:cNvSpPr/>
          <p:nvPr/>
        </p:nvSpPr>
        <p:spPr>
          <a:xfrm>
            <a:off x="8161774" y="2086453"/>
            <a:ext cx="1171843" cy="314661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44DF33C4-48B3-4403-CEEB-EB1D87BDCD6C}"/>
              </a:ext>
            </a:extLst>
          </p:cNvPr>
          <p:cNvSpPr/>
          <p:nvPr/>
        </p:nvSpPr>
        <p:spPr>
          <a:xfrm>
            <a:off x="8161773" y="3425447"/>
            <a:ext cx="1171843" cy="563188"/>
          </a:xfrm>
          <a:prstGeom prst="rect">
            <a:avLst/>
          </a:prstGeom>
          <a:solidFill>
            <a:srgbClr val="64378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2F432B7B-41AC-FFB3-4BD8-32FAF5EAC5CB}"/>
              </a:ext>
            </a:extLst>
          </p:cNvPr>
          <p:cNvSpPr/>
          <p:nvPr/>
        </p:nvSpPr>
        <p:spPr>
          <a:xfrm>
            <a:off x="8161773" y="2862259"/>
            <a:ext cx="1171843" cy="563188"/>
          </a:xfrm>
          <a:prstGeom prst="rect">
            <a:avLst/>
          </a:prstGeom>
          <a:solidFill>
            <a:srgbClr val="64378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?</a:t>
            </a: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0810B1EB-FF80-7880-433F-C3099A6840C7}"/>
              </a:ext>
            </a:extLst>
          </p:cNvPr>
          <p:cNvSpPr/>
          <p:nvPr/>
        </p:nvSpPr>
        <p:spPr>
          <a:xfrm>
            <a:off x="8161773" y="2299071"/>
            <a:ext cx="1171843" cy="563188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cxnSp>
        <p:nvCxnSpPr>
          <p:cNvPr id="26" name="Gerade Verbindung mit Pfeil 25">
            <a:extLst>
              <a:ext uri="{FF2B5EF4-FFF2-40B4-BE49-F238E27FC236}">
                <a16:creationId xmlns:a16="http://schemas.microsoft.com/office/drawing/2014/main" id="{D7C6382B-CEF1-06B7-9E90-97E9663249EE}"/>
              </a:ext>
            </a:extLst>
          </p:cNvPr>
          <p:cNvCxnSpPr>
            <a:cxnSpLocks/>
          </p:cNvCxnSpPr>
          <p:nvPr/>
        </p:nvCxnSpPr>
        <p:spPr>
          <a:xfrm>
            <a:off x="9496741" y="2086453"/>
            <a:ext cx="0" cy="314661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feld 29">
            <a:extLst>
              <a:ext uri="{FF2B5EF4-FFF2-40B4-BE49-F238E27FC236}">
                <a16:creationId xmlns:a16="http://schemas.microsoft.com/office/drawing/2014/main" id="{BA08DFA3-8C4C-369B-D667-58B18D56D161}"/>
              </a:ext>
            </a:extLst>
          </p:cNvPr>
          <p:cNvSpPr txBox="1"/>
          <p:nvPr/>
        </p:nvSpPr>
        <p:spPr>
          <a:xfrm>
            <a:off x="9578502" y="3547452"/>
            <a:ext cx="1627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Stack Memory</a:t>
            </a:r>
          </a:p>
        </p:txBody>
      </p:sp>
      <p:sp>
        <p:nvSpPr>
          <p:cNvPr id="8" name="Geschweifte Klammer links 7">
            <a:extLst>
              <a:ext uri="{FF2B5EF4-FFF2-40B4-BE49-F238E27FC236}">
                <a16:creationId xmlns:a16="http://schemas.microsoft.com/office/drawing/2014/main" id="{9BDDCB3F-2171-DDFB-7945-CC0F3129BCA7}"/>
              </a:ext>
            </a:extLst>
          </p:cNvPr>
          <p:cNvSpPr/>
          <p:nvPr/>
        </p:nvSpPr>
        <p:spPr>
          <a:xfrm>
            <a:off x="7853464" y="2293977"/>
            <a:ext cx="108142" cy="563187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Geschweifte Klammer links 8">
            <a:extLst>
              <a:ext uri="{FF2B5EF4-FFF2-40B4-BE49-F238E27FC236}">
                <a16:creationId xmlns:a16="http://schemas.microsoft.com/office/drawing/2014/main" id="{37775638-BFF7-E7D0-0C0F-8F1A33429921}"/>
              </a:ext>
            </a:extLst>
          </p:cNvPr>
          <p:cNvSpPr/>
          <p:nvPr/>
        </p:nvSpPr>
        <p:spPr>
          <a:xfrm>
            <a:off x="7853464" y="2867892"/>
            <a:ext cx="108142" cy="563187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Geschweifte Klammer links 9">
            <a:extLst>
              <a:ext uri="{FF2B5EF4-FFF2-40B4-BE49-F238E27FC236}">
                <a16:creationId xmlns:a16="http://schemas.microsoft.com/office/drawing/2014/main" id="{F62911D1-883D-EE00-D1B6-BE95A4743D96}"/>
              </a:ext>
            </a:extLst>
          </p:cNvPr>
          <p:cNvSpPr/>
          <p:nvPr/>
        </p:nvSpPr>
        <p:spPr>
          <a:xfrm>
            <a:off x="7853464" y="3441807"/>
            <a:ext cx="108142" cy="563187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D6D8F283-275D-E3C5-473D-EEDE89B0A825}"/>
              </a:ext>
            </a:extLst>
          </p:cNvPr>
          <p:cNvSpPr txBox="1"/>
          <p:nvPr/>
        </p:nvSpPr>
        <p:spPr>
          <a:xfrm>
            <a:off x="7907535" y="5233065"/>
            <a:ext cx="16882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Low Addresses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22CB9EEB-9D63-CEC0-20B1-2E6B9B59E119}"/>
              </a:ext>
            </a:extLst>
          </p:cNvPr>
          <p:cNvSpPr txBox="1"/>
          <p:nvPr/>
        </p:nvSpPr>
        <p:spPr>
          <a:xfrm>
            <a:off x="7878674" y="1749183"/>
            <a:ext cx="17380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High Addresses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6B2CA30D-2BBB-E15A-857A-3C82197F4705}"/>
              </a:ext>
            </a:extLst>
          </p:cNvPr>
          <p:cNvSpPr txBox="1"/>
          <p:nvPr/>
        </p:nvSpPr>
        <p:spPr>
          <a:xfrm>
            <a:off x="7364996" y="2390904"/>
            <a:ext cx="4884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var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E2DF7B1B-4C74-E9CC-F52E-E426DFB7F04F}"/>
              </a:ext>
            </a:extLst>
          </p:cNvPr>
          <p:cNvSpPr txBox="1"/>
          <p:nvPr/>
        </p:nvSpPr>
        <p:spPr>
          <a:xfrm>
            <a:off x="7158604" y="3522375"/>
            <a:ext cx="7200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arr</a:t>
            </a:r>
            <a:r>
              <a:rPr lang="en-US" dirty="0"/>
              <a:t>[0]</a:t>
            </a: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3E6CECF2-3653-AF4A-E6E8-6F70EB1E51C1}"/>
              </a:ext>
            </a:extLst>
          </p:cNvPr>
          <p:cNvSpPr txBox="1"/>
          <p:nvPr/>
        </p:nvSpPr>
        <p:spPr>
          <a:xfrm>
            <a:off x="7158605" y="2959187"/>
            <a:ext cx="7200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arr</a:t>
            </a:r>
            <a:r>
              <a:rPr lang="en-US" dirty="0"/>
              <a:t>[1]</a:t>
            </a:r>
          </a:p>
        </p:txBody>
      </p:sp>
      <p:pic>
        <p:nvPicPr>
          <p:cNvPr id="13" name="Grafik 12" descr="Ein Bild, das Text, Screenshot, Schrift, Zahl enthält.">
            <a:extLst>
              <a:ext uri="{FF2B5EF4-FFF2-40B4-BE49-F238E27FC236}">
                <a16:creationId xmlns:a16="http://schemas.microsoft.com/office/drawing/2014/main" id="{B538A198-6354-7166-AF2B-BBA2B7AB327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868" t="5815" r="5970" b="39446"/>
          <a:stretch>
            <a:fillRect/>
          </a:stretch>
        </p:blipFill>
        <p:spPr>
          <a:xfrm>
            <a:off x="1305111" y="1783336"/>
            <a:ext cx="4940674" cy="2205300"/>
          </a:xfrm>
          <a:prstGeom prst="rect">
            <a:avLst/>
          </a:prstGeom>
        </p:spPr>
      </p:pic>
      <p:sp>
        <p:nvSpPr>
          <p:cNvPr id="15" name="Pfeil: nach rechts 14">
            <a:extLst>
              <a:ext uri="{FF2B5EF4-FFF2-40B4-BE49-F238E27FC236}">
                <a16:creationId xmlns:a16="http://schemas.microsoft.com/office/drawing/2014/main" id="{339E3EA1-1386-B758-4021-00046AA52D2A}"/>
              </a:ext>
            </a:extLst>
          </p:cNvPr>
          <p:cNvSpPr/>
          <p:nvPr/>
        </p:nvSpPr>
        <p:spPr>
          <a:xfrm>
            <a:off x="971763" y="3753126"/>
            <a:ext cx="349353" cy="153891"/>
          </a:xfrm>
          <a:prstGeom prst="rightArrow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60354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E9DCA2-DE1F-B00B-27A3-71F84436AD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E3839FFE-1CEB-9438-859B-6A216DF4C36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>
                <a:solidFill>
                  <a:srgbClr val="64378C"/>
                </a:solidFill>
              </a:rPr>
              <a:t>Rust's Approach to Memory Safety</a:t>
            </a:r>
            <a:endParaRPr lang="en-US" dirty="0">
              <a:solidFill>
                <a:srgbClr val="64378C"/>
              </a:solidFill>
            </a:endParaRP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D3910511-5266-F60A-EDEA-8A71C6D5353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ctr"/>
            <a:fld id="{5F85D455-7770-4F98-B944-71C158B4E906}" type="slidenum">
              <a:rPr lang="en-US" smtClean="0"/>
              <a:pPr algn="ctr"/>
              <a:t>12</a:t>
            </a:fld>
            <a:endParaRPr lang="en-US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D1E2B06-866E-6E3A-13A6-B7D05352AAD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Memory Safety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9D536640-0DE0-098C-0180-13E63CDEA06D}"/>
              </a:ext>
            </a:extLst>
          </p:cNvPr>
          <p:cNvSpPr txBox="1">
            <a:spLocks/>
          </p:cNvSpPr>
          <p:nvPr/>
        </p:nvSpPr>
        <p:spPr>
          <a:xfrm>
            <a:off x="1203513" y="941293"/>
            <a:ext cx="9856694" cy="563187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3600" dirty="0"/>
              <a:t>Out-of-bounds Write</a:t>
            </a: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AB354E0E-EB99-F3E1-165B-200B25908CF8}"/>
              </a:ext>
            </a:extLst>
          </p:cNvPr>
          <p:cNvSpPr/>
          <p:nvPr/>
        </p:nvSpPr>
        <p:spPr>
          <a:xfrm>
            <a:off x="8161774" y="2086453"/>
            <a:ext cx="1171843" cy="314661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ECFFCAEA-E760-9D8A-2D40-CF8015CAAB91}"/>
              </a:ext>
            </a:extLst>
          </p:cNvPr>
          <p:cNvSpPr/>
          <p:nvPr/>
        </p:nvSpPr>
        <p:spPr>
          <a:xfrm>
            <a:off x="8161773" y="3425447"/>
            <a:ext cx="1171843" cy="563188"/>
          </a:xfrm>
          <a:prstGeom prst="rect">
            <a:avLst/>
          </a:prstGeom>
          <a:solidFill>
            <a:srgbClr val="64378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1FB33F8A-8A97-C7A6-9B3B-80CC59442EC5}"/>
              </a:ext>
            </a:extLst>
          </p:cNvPr>
          <p:cNvSpPr/>
          <p:nvPr/>
        </p:nvSpPr>
        <p:spPr>
          <a:xfrm>
            <a:off x="8161773" y="2862259"/>
            <a:ext cx="1171843" cy="563188"/>
          </a:xfrm>
          <a:prstGeom prst="rect">
            <a:avLst/>
          </a:prstGeom>
          <a:solidFill>
            <a:srgbClr val="64378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0891EE1A-F880-D82E-379B-A6ECE226BE76}"/>
              </a:ext>
            </a:extLst>
          </p:cNvPr>
          <p:cNvSpPr/>
          <p:nvPr/>
        </p:nvSpPr>
        <p:spPr>
          <a:xfrm>
            <a:off x="8161773" y="2299071"/>
            <a:ext cx="1171843" cy="563188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cxnSp>
        <p:nvCxnSpPr>
          <p:cNvPr id="26" name="Gerade Verbindung mit Pfeil 25">
            <a:extLst>
              <a:ext uri="{FF2B5EF4-FFF2-40B4-BE49-F238E27FC236}">
                <a16:creationId xmlns:a16="http://schemas.microsoft.com/office/drawing/2014/main" id="{F141C258-C082-2CCF-23AD-8643DC1FDA97}"/>
              </a:ext>
            </a:extLst>
          </p:cNvPr>
          <p:cNvCxnSpPr>
            <a:cxnSpLocks/>
          </p:cNvCxnSpPr>
          <p:nvPr/>
        </p:nvCxnSpPr>
        <p:spPr>
          <a:xfrm>
            <a:off x="9496741" y="2086453"/>
            <a:ext cx="0" cy="314661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feld 29">
            <a:extLst>
              <a:ext uri="{FF2B5EF4-FFF2-40B4-BE49-F238E27FC236}">
                <a16:creationId xmlns:a16="http://schemas.microsoft.com/office/drawing/2014/main" id="{250674B0-247C-7335-E62D-067DF79D69D9}"/>
              </a:ext>
            </a:extLst>
          </p:cNvPr>
          <p:cNvSpPr txBox="1"/>
          <p:nvPr/>
        </p:nvSpPr>
        <p:spPr>
          <a:xfrm>
            <a:off x="9578502" y="3547452"/>
            <a:ext cx="1627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Stack Memory</a:t>
            </a:r>
          </a:p>
        </p:txBody>
      </p:sp>
      <p:sp>
        <p:nvSpPr>
          <p:cNvPr id="8" name="Geschweifte Klammer links 7">
            <a:extLst>
              <a:ext uri="{FF2B5EF4-FFF2-40B4-BE49-F238E27FC236}">
                <a16:creationId xmlns:a16="http://schemas.microsoft.com/office/drawing/2014/main" id="{F748702E-6FF9-1AAB-2E3E-E1E2B01207AD}"/>
              </a:ext>
            </a:extLst>
          </p:cNvPr>
          <p:cNvSpPr/>
          <p:nvPr/>
        </p:nvSpPr>
        <p:spPr>
          <a:xfrm>
            <a:off x="7853464" y="2293977"/>
            <a:ext cx="108142" cy="563187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Geschweifte Klammer links 8">
            <a:extLst>
              <a:ext uri="{FF2B5EF4-FFF2-40B4-BE49-F238E27FC236}">
                <a16:creationId xmlns:a16="http://schemas.microsoft.com/office/drawing/2014/main" id="{8E3E989C-EA60-391F-55C7-5A5F28C077E8}"/>
              </a:ext>
            </a:extLst>
          </p:cNvPr>
          <p:cNvSpPr/>
          <p:nvPr/>
        </p:nvSpPr>
        <p:spPr>
          <a:xfrm>
            <a:off x="7853464" y="2867892"/>
            <a:ext cx="108142" cy="563187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Geschweifte Klammer links 9">
            <a:extLst>
              <a:ext uri="{FF2B5EF4-FFF2-40B4-BE49-F238E27FC236}">
                <a16:creationId xmlns:a16="http://schemas.microsoft.com/office/drawing/2014/main" id="{381D63C5-AF34-A8FE-876F-03B621DCFD2A}"/>
              </a:ext>
            </a:extLst>
          </p:cNvPr>
          <p:cNvSpPr/>
          <p:nvPr/>
        </p:nvSpPr>
        <p:spPr>
          <a:xfrm>
            <a:off x="7853464" y="3441807"/>
            <a:ext cx="108142" cy="563187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C2DCFB07-C298-85C4-0558-573E6856A420}"/>
              </a:ext>
            </a:extLst>
          </p:cNvPr>
          <p:cNvSpPr txBox="1"/>
          <p:nvPr/>
        </p:nvSpPr>
        <p:spPr>
          <a:xfrm>
            <a:off x="7907535" y="5233065"/>
            <a:ext cx="16882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Low Addresses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182F9A28-FD9C-4D35-896F-6C54CCC5B4DB}"/>
              </a:ext>
            </a:extLst>
          </p:cNvPr>
          <p:cNvSpPr txBox="1"/>
          <p:nvPr/>
        </p:nvSpPr>
        <p:spPr>
          <a:xfrm>
            <a:off x="7878674" y="1749183"/>
            <a:ext cx="17380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High Addresses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2CF8889B-2EC4-7931-B5CE-33EF8132B41E}"/>
              </a:ext>
            </a:extLst>
          </p:cNvPr>
          <p:cNvSpPr txBox="1"/>
          <p:nvPr/>
        </p:nvSpPr>
        <p:spPr>
          <a:xfrm>
            <a:off x="7364996" y="2390904"/>
            <a:ext cx="4884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var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223D47FF-0298-7C44-53E6-CCB973945FC7}"/>
              </a:ext>
            </a:extLst>
          </p:cNvPr>
          <p:cNvSpPr txBox="1"/>
          <p:nvPr/>
        </p:nvSpPr>
        <p:spPr>
          <a:xfrm>
            <a:off x="7158604" y="3522375"/>
            <a:ext cx="7200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arr</a:t>
            </a:r>
            <a:r>
              <a:rPr lang="en-US" dirty="0"/>
              <a:t>[0]</a:t>
            </a: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8B6DF543-6F35-4E52-D759-79ECE6167C19}"/>
              </a:ext>
            </a:extLst>
          </p:cNvPr>
          <p:cNvSpPr txBox="1"/>
          <p:nvPr/>
        </p:nvSpPr>
        <p:spPr>
          <a:xfrm>
            <a:off x="7158605" y="2959187"/>
            <a:ext cx="7200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arr</a:t>
            </a:r>
            <a:r>
              <a:rPr lang="en-US" dirty="0"/>
              <a:t>[1]</a:t>
            </a:r>
          </a:p>
        </p:txBody>
      </p:sp>
      <p:pic>
        <p:nvPicPr>
          <p:cNvPr id="6" name="Grafik 5" descr="Ein Bild, das Text, Screenshot, Schrift, Zahl enthält.">
            <a:extLst>
              <a:ext uri="{FF2B5EF4-FFF2-40B4-BE49-F238E27FC236}">
                <a16:creationId xmlns:a16="http://schemas.microsoft.com/office/drawing/2014/main" id="{D8526DB9-4BB6-83D1-F28E-4AD1ECC3A86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868" t="5815" r="5970" b="32854"/>
          <a:stretch>
            <a:fillRect/>
          </a:stretch>
        </p:blipFill>
        <p:spPr>
          <a:xfrm>
            <a:off x="1305111" y="1783335"/>
            <a:ext cx="4940674" cy="2470895"/>
          </a:xfrm>
          <a:prstGeom prst="rect">
            <a:avLst/>
          </a:prstGeom>
        </p:spPr>
      </p:pic>
      <p:sp>
        <p:nvSpPr>
          <p:cNvPr id="7" name="Pfeil: nach rechts 6">
            <a:extLst>
              <a:ext uri="{FF2B5EF4-FFF2-40B4-BE49-F238E27FC236}">
                <a16:creationId xmlns:a16="http://schemas.microsoft.com/office/drawing/2014/main" id="{6C0D447A-4B82-E8B3-EBDA-6098F8F6F5D0}"/>
              </a:ext>
            </a:extLst>
          </p:cNvPr>
          <p:cNvSpPr/>
          <p:nvPr/>
        </p:nvSpPr>
        <p:spPr>
          <a:xfrm>
            <a:off x="971763" y="4025499"/>
            <a:ext cx="349353" cy="153891"/>
          </a:xfrm>
          <a:prstGeom prst="rightArrow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08692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91BE62-29AE-7D7D-41F6-7BBF536C47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 descr="Ein Bild, das Text, Screenshot, Schrift, Zahl enthält.">
            <a:extLst>
              <a:ext uri="{FF2B5EF4-FFF2-40B4-BE49-F238E27FC236}">
                <a16:creationId xmlns:a16="http://schemas.microsoft.com/office/drawing/2014/main" id="{2009A6FC-4FE7-5338-02BB-23097E7558D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868" t="5815" r="5970" b="5569"/>
          <a:stretch>
            <a:fillRect/>
          </a:stretch>
        </p:blipFill>
        <p:spPr>
          <a:xfrm>
            <a:off x="1305111" y="1783335"/>
            <a:ext cx="4940674" cy="3570185"/>
          </a:xfrm>
          <a:prstGeom prst="rect">
            <a:avLst/>
          </a:prstGeom>
        </p:spPr>
      </p:pic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5130168C-7BDA-FB9E-E6D9-BCF617F70FA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>
                <a:solidFill>
                  <a:srgbClr val="64378C"/>
                </a:solidFill>
              </a:rPr>
              <a:t>Rust's Approach to Memory Safety</a:t>
            </a:r>
            <a:endParaRPr lang="en-US" dirty="0">
              <a:solidFill>
                <a:srgbClr val="64378C"/>
              </a:solidFill>
            </a:endParaRP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BC999795-F7EF-352E-204C-283EF2E8096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ctr"/>
            <a:fld id="{5F85D455-7770-4F98-B944-71C158B4E906}" type="slidenum">
              <a:rPr lang="en-US" smtClean="0"/>
              <a:pPr algn="ctr"/>
              <a:t>13</a:t>
            </a:fld>
            <a:endParaRPr lang="en-US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127EC0C-BE0C-4B87-F618-C976B6576BF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Memory Safety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2D105AB4-B1AE-DAD6-3115-67F201C7AE0A}"/>
              </a:ext>
            </a:extLst>
          </p:cNvPr>
          <p:cNvSpPr txBox="1">
            <a:spLocks/>
          </p:cNvSpPr>
          <p:nvPr/>
        </p:nvSpPr>
        <p:spPr>
          <a:xfrm>
            <a:off x="1203513" y="941293"/>
            <a:ext cx="9856694" cy="563187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3600" dirty="0"/>
              <a:t>Out-of-bounds Write</a:t>
            </a: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D7A707F9-C88D-E64A-B71C-BD93AAE54731}"/>
              </a:ext>
            </a:extLst>
          </p:cNvPr>
          <p:cNvSpPr/>
          <p:nvPr/>
        </p:nvSpPr>
        <p:spPr>
          <a:xfrm>
            <a:off x="8161774" y="2086453"/>
            <a:ext cx="1171843" cy="314661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08310B3F-3D23-CE0B-DC40-C25565609354}"/>
              </a:ext>
            </a:extLst>
          </p:cNvPr>
          <p:cNvSpPr/>
          <p:nvPr/>
        </p:nvSpPr>
        <p:spPr>
          <a:xfrm>
            <a:off x="8161773" y="3425447"/>
            <a:ext cx="1171843" cy="563188"/>
          </a:xfrm>
          <a:prstGeom prst="rect">
            <a:avLst/>
          </a:prstGeom>
          <a:solidFill>
            <a:srgbClr val="64378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7BA3BBE6-B393-1B96-221B-13EB593CB7F2}"/>
              </a:ext>
            </a:extLst>
          </p:cNvPr>
          <p:cNvSpPr/>
          <p:nvPr/>
        </p:nvSpPr>
        <p:spPr>
          <a:xfrm>
            <a:off x="8161773" y="2862259"/>
            <a:ext cx="1171843" cy="563188"/>
          </a:xfrm>
          <a:prstGeom prst="rect">
            <a:avLst/>
          </a:prstGeom>
          <a:solidFill>
            <a:srgbClr val="64378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CC8F4FB5-E55C-3F28-8818-68781B00C671}"/>
              </a:ext>
            </a:extLst>
          </p:cNvPr>
          <p:cNvSpPr/>
          <p:nvPr/>
        </p:nvSpPr>
        <p:spPr>
          <a:xfrm>
            <a:off x="8161773" y="2299071"/>
            <a:ext cx="1171843" cy="563188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cxnSp>
        <p:nvCxnSpPr>
          <p:cNvPr id="26" name="Gerade Verbindung mit Pfeil 25">
            <a:extLst>
              <a:ext uri="{FF2B5EF4-FFF2-40B4-BE49-F238E27FC236}">
                <a16:creationId xmlns:a16="http://schemas.microsoft.com/office/drawing/2014/main" id="{A1C689EA-0737-321D-6B09-FF53A3479353}"/>
              </a:ext>
            </a:extLst>
          </p:cNvPr>
          <p:cNvCxnSpPr>
            <a:cxnSpLocks/>
          </p:cNvCxnSpPr>
          <p:nvPr/>
        </p:nvCxnSpPr>
        <p:spPr>
          <a:xfrm>
            <a:off x="9496741" y="2086453"/>
            <a:ext cx="0" cy="314661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feld 29">
            <a:extLst>
              <a:ext uri="{FF2B5EF4-FFF2-40B4-BE49-F238E27FC236}">
                <a16:creationId xmlns:a16="http://schemas.microsoft.com/office/drawing/2014/main" id="{DC6E9B79-416D-A409-3A92-913B31F35EF7}"/>
              </a:ext>
            </a:extLst>
          </p:cNvPr>
          <p:cNvSpPr txBox="1"/>
          <p:nvPr/>
        </p:nvSpPr>
        <p:spPr>
          <a:xfrm>
            <a:off x="9578502" y="3547452"/>
            <a:ext cx="1627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Stack Memory</a:t>
            </a:r>
          </a:p>
        </p:txBody>
      </p:sp>
      <p:sp>
        <p:nvSpPr>
          <p:cNvPr id="8" name="Geschweifte Klammer links 7">
            <a:extLst>
              <a:ext uri="{FF2B5EF4-FFF2-40B4-BE49-F238E27FC236}">
                <a16:creationId xmlns:a16="http://schemas.microsoft.com/office/drawing/2014/main" id="{B3428522-8E47-E2A3-F393-D0AFF666BEC2}"/>
              </a:ext>
            </a:extLst>
          </p:cNvPr>
          <p:cNvSpPr/>
          <p:nvPr/>
        </p:nvSpPr>
        <p:spPr>
          <a:xfrm>
            <a:off x="7853464" y="2293977"/>
            <a:ext cx="108142" cy="563187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Geschweifte Klammer links 8">
            <a:extLst>
              <a:ext uri="{FF2B5EF4-FFF2-40B4-BE49-F238E27FC236}">
                <a16:creationId xmlns:a16="http://schemas.microsoft.com/office/drawing/2014/main" id="{23DF7CD7-543D-65D0-E1CE-EEF9953F885A}"/>
              </a:ext>
            </a:extLst>
          </p:cNvPr>
          <p:cNvSpPr/>
          <p:nvPr/>
        </p:nvSpPr>
        <p:spPr>
          <a:xfrm>
            <a:off x="7853464" y="2867892"/>
            <a:ext cx="108142" cy="563187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Geschweifte Klammer links 9">
            <a:extLst>
              <a:ext uri="{FF2B5EF4-FFF2-40B4-BE49-F238E27FC236}">
                <a16:creationId xmlns:a16="http://schemas.microsoft.com/office/drawing/2014/main" id="{8FDB726D-C52B-578E-DDC8-3B794E3FC739}"/>
              </a:ext>
            </a:extLst>
          </p:cNvPr>
          <p:cNvSpPr/>
          <p:nvPr/>
        </p:nvSpPr>
        <p:spPr>
          <a:xfrm>
            <a:off x="7853464" y="3441807"/>
            <a:ext cx="108142" cy="563187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C8CE5371-A70F-5AF8-2741-8631D5787B23}"/>
              </a:ext>
            </a:extLst>
          </p:cNvPr>
          <p:cNvSpPr txBox="1"/>
          <p:nvPr/>
        </p:nvSpPr>
        <p:spPr>
          <a:xfrm>
            <a:off x="7907535" y="5233065"/>
            <a:ext cx="16882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Low Addresses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273CC5A2-9900-157B-6B9B-6FECDA0ABD5D}"/>
              </a:ext>
            </a:extLst>
          </p:cNvPr>
          <p:cNvSpPr txBox="1"/>
          <p:nvPr/>
        </p:nvSpPr>
        <p:spPr>
          <a:xfrm>
            <a:off x="7878674" y="1749183"/>
            <a:ext cx="17380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High Addresses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83E217EA-6A6D-7402-B848-F1A15E6A539D}"/>
              </a:ext>
            </a:extLst>
          </p:cNvPr>
          <p:cNvSpPr txBox="1"/>
          <p:nvPr/>
        </p:nvSpPr>
        <p:spPr>
          <a:xfrm>
            <a:off x="7364996" y="2390904"/>
            <a:ext cx="4884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var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0CF684C5-D9B1-4529-08C8-661FF69089E0}"/>
              </a:ext>
            </a:extLst>
          </p:cNvPr>
          <p:cNvSpPr txBox="1"/>
          <p:nvPr/>
        </p:nvSpPr>
        <p:spPr>
          <a:xfrm>
            <a:off x="7158604" y="3522375"/>
            <a:ext cx="7200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arr</a:t>
            </a:r>
            <a:r>
              <a:rPr lang="en-US" dirty="0"/>
              <a:t>[0]</a:t>
            </a: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4AAB8F37-5B9E-DF55-E019-9B460A8A7A72}"/>
              </a:ext>
            </a:extLst>
          </p:cNvPr>
          <p:cNvSpPr txBox="1"/>
          <p:nvPr/>
        </p:nvSpPr>
        <p:spPr>
          <a:xfrm>
            <a:off x="7158605" y="2959187"/>
            <a:ext cx="7200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arr</a:t>
            </a:r>
            <a:r>
              <a:rPr lang="en-US" dirty="0"/>
              <a:t>[1]</a:t>
            </a:r>
          </a:p>
        </p:txBody>
      </p:sp>
      <p:sp>
        <p:nvSpPr>
          <p:cNvPr id="14" name="Pfeil: nach rechts 13">
            <a:extLst>
              <a:ext uri="{FF2B5EF4-FFF2-40B4-BE49-F238E27FC236}">
                <a16:creationId xmlns:a16="http://schemas.microsoft.com/office/drawing/2014/main" id="{EF68D89F-23B6-E411-911E-AF581EED805A}"/>
              </a:ext>
            </a:extLst>
          </p:cNvPr>
          <p:cNvSpPr/>
          <p:nvPr/>
        </p:nvSpPr>
        <p:spPr>
          <a:xfrm>
            <a:off x="971763" y="4284901"/>
            <a:ext cx="349353" cy="153891"/>
          </a:xfrm>
          <a:prstGeom prst="rightArrow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2B29505B-214A-2873-FDE3-CC10B5247AF3}"/>
              </a:ext>
            </a:extLst>
          </p:cNvPr>
          <p:cNvSpPr/>
          <p:nvPr/>
        </p:nvSpPr>
        <p:spPr>
          <a:xfrm>
            <a:off x="1203513" y="5815039"/>
            <a:ext cx="2978522" cy="43964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&gt;2</a:t>
            </a:r>
          </a:p>
        </p:txBody>
      </p:sp>
      <p:sp>
        <p:nvSpPr>
          <p:cNvPr id="15" name="Pfeil: nach rechts 14">
            <a:extLst>
              <a:ext uri="{FF2B5EF4-FFF2-40B4-BE49-F238E27FC236}">
                <a16:creationId xmlns:a16="http://schemas.microsoft.com/office/drawing/2014/main" id="{9FECFC49-E58C-8988-B585-0BD605F0977A}"/>
              </a:ext>
            </a:extLst>
          </p:cNvPr>
          <p:cNvSpPr/>
          <p:nvPr/>
        </p:nvSpPr>
        <p:spPr>
          <a:xfrm>
            <a:off x="967310" y="4841946"/>
            <a:ext cx="349353" cy="153891"/>
          </a:xfrm>
          <a:prstGeom prst="rightArrow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5" name="Grafik 24" descr="Blitz Silhouette">
            <a:extLst>
              <a:ext uri="{FF2B5EF4-FFF2-40B4-BE49-F238E27FC236}">
                <a16:creationId xmlns:a16="http://schemas.microsoft.com/office/drawing/2014/main" id="{0940E8D9-8DDE-2FF8-3CD2-A79F322E50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75448" y="4256229"/>
            <a:ext cx="365125" cy="365125"/>
          </a:xfrm>
          <a:prstGeom prst="rect">
            <a:avLst/>
          </a:prstGeom>
          <a:effectLst>
            <a:outerShdw blurRad="50800" dist="50800" dir="5400000" algn="ctr" rotWithShape="0">
              <a:srgbClr val="FF0000"/>
            </a:outerShdw>
          </a:effectLst>
        </p:spPr>
      </p:pic>
    </p:spTree>
    <p:extLst>
      <p:ext uri="{BB962C8B-B14F-4D97-AF65-F5344CB8AC3E}">
        <p14:creationId xmlns:p14="http://schemas.microsoft.com/office/powerpoint/2010/main" val="2872072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7D8F18-65F3-D852-76B4-FD39683F28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016BFE0C-E54E-31A5-B1EF-A78E93DB92F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>
                <a:solidFill>
                  <a:srgbClr val="64378C"/>
                </a:solidFill>
              </a:rPr>
              <a:t>Rust's Approach to Memory Safety</a:t>
            </a:r>
            <a:endParaRPr lang="en-US" dirty="0">
              <a:solidFill>
                <a:srgbClr val="64378C"/>
              </a:solidFill>
            </a:endParaRP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CC1760FE-10D8-E071-8A1C-8F99E12EE26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ctr"/>
            <a:fld id="{5F85D455-7770-4F98-B944-71C158B4E906}" type="slidenum">
              <a:rPr lang="en-US" smtClean="0"/>
              <a:pPr algn="ctr"/>
              <a:t>14</a:t>
            </a:fld>
            <a:endParaRPr lang="en-US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7D4A55C-81E8-25A9-FD4E-5B288D09486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Memory Safety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06989FF3-7089-5B87-8E78-25BFC8206D6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203513" y="941293"/>
            <a:ext cx="9856694" cy="55676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3600" dirty="0"/>
              <a:t>Consequences of this Behavior</a:t>
            </a:r>
            <a:r>
              <a:rPr lang="en-US" sz="3600" baseline="-25000" dirty="0"/>
              <a:t>[5]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B3EC41C0-68E9-8151-D0D8-23130577AC3E}"/>
              </a:ext>
            </a:extLst>
          </p:cNvPr>
          <p:cNvSpPr txBox="1"/>
          <p:nvPr/>
        </p:nvSpPr>
        <p:spPr>
          <a:xfrm>
            <a:off x="2049294" y="1919591"/>
            <a:ext cx="8527915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Data integrity </a:t>
            </a:r>
            <a:r>
              <a:rPr lang="en-US" sz="2400" dirty="0"/>
              <a:t>is lost: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i="1" dirty="0"/>
              <a:t>bufferPtr1</a:t>
            </a:r>
            <a:r>
              <a:rPr lang="en-US" dirty="0"/>
              <a:t> can also be used to manipulate the content of the Memory Unit in exactly the same way.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/>
              <a:t>The same applies to changing memory on the stack via Out-of-bounds Writes.</a:t>
            </a:r>
          </a:p>
          <a:p>
            <a:pPr lvl="1"/>
            <a:endParaRPr lang="en-US" dirty="0"/>
          </a:p>
          <a:p>
            <a:r>
              <a:rPr lang="en-US" sz="2400" b="1" dirty="0"/>
              <a:t>Availability</a:t>
            </a:r>
            <a:r>
              <a:rPr lang="en-US" sz="2400" dirty="0"/>
              <a:t> of a service may be limited due to software crashes: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/>
              <a:t>If chunk consolidation occurs after a free, the program will crash the next time memory is accessed via </a:t>
            </a:r>
            <a:r>
              <a:rPr lang="en-US" i="1" dirty="0"/>
              <a:t>bufferPtr1</a:t>
            </a:r>
            <a:r>
              <a:rPr lang="en-US" dirty="0"/>
              <a:t>, as the chunk information is no longer valid.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/>
              <a:t>If the Out-of-bounds Write accidentally overwrites a return address of a function, this can also cause the program to crash.</a:t>
            </a:r>
          </a:p>
        </p:txBody>
      </p:sp>
      <p:pic>
        <p:nvPicPr>
          <p:cNvPr id="10" name="Grafik 9" descr="Uhr Silhouette">
            <a:extLst>
              <a:ext uri="{FF2B5EF4-FFF2-40B4-BE49-F238E27FC236}">
                <a16:creationId xmlns:a16="http://schemas.microsoft.com/office/drawing/2014/main" id="{A6C907EB-9FC3-E49A-4BF1-F8D1AB53FD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2998" y="3315012"/>
            <a:ext cx="914400" cy="914400"/>
          </a:xfrm>
          <a:prstGeom prst="rect">
            <a:avLst/>
          </a:prstGeom>
        </p:spPr>
      </p:pic>
      <p:pic>
        <p:nvPicPr>
          <p:cNvPr id="14" name="Grafik 13" descr="Datenbank Silhouette">
            <a:extLst>
              <a:ext uri="{FF2B5EF4-FFF2-40B4-BE49-F238E27FC236}">
                <a16:creationId xmlns:a16="http://schemas.microsoft.com/office/drawing/2014/main" id="{31B368F1-8D6C-57E8-B5EC-9014EEBDBD7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42998" y="1714189"/>
            <a:ext cx="914400" cy="914400"/>
          </a:xfrm>
          <a:prstGeom prst="rect">
            <a:avLst/>
          </a:prstGeom>
        </p:spPr>
      </p:pic>
      <p:pic>
        <p:nvPicPr>
          <p:cNvPr id="16" name="Grafik 15" descr="Schild mit einfarbiger Füllung">
            <a:extLst>
              <a:ext uri="{FF2B5EF4-FFF2-40B4-BE49-F238E27FC236}">
                <a16:creationId xmlns:a16="http://schemas.microsoft.com/office/drawing/2014/main" id="{BC59D99C-A5BB-8314-436E-EE29CB80B05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571296" y="2142487"/>
            <a:ext cx="486102" cy="486102"/>
          </a:xfrm>
          <a:prstGeom prst="rect">
            <a:avLst/>
          </a:prstGeom>
        </p:spPr>
      </p:pic>
      <p:sp>
        <p:nvSpPr>
          <p:cNvPr id="17" name="Textfeld 16">
            <a:extLst>
              <a:ext uri="{FF2B5EF4-FFF2-40B4-BE49-F238E27FC236}">
                <a16:creationId xmlns:a16="http://schemas.microsoft.com/office/drawing/2014/main" id="{5B3518C4-9462-F4F6-90E0-D7C6C872C71F}"/>
              </a:ext>
            </a:extLst>
          </p:cNvPr>
          <p:cNvSpPr txBox="1"/>
          <p:nvPr/>
        </p:nvSpPr>
        <p:spPr>
          <a:xfrm>
            <a:off x="1283444" y="3587546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>
                    <a:alpha val="36000"/>
                  </a:schemeClr>
                </a:solidFill>
              </a:rPr>
              <a:t>24/7</a:t>
            </a:r>
          </a:p>
        </p:txBody>
      </p:sp>
    </p:spTree>
    <p:extLst>
      <p:ext uri="{BB962C8B-B14F-4D97-AF65-F5344CB8AC3E}">
        <p14:creationId xmlns:p14="http://schemas.microsoft.com/office/powerpoint/2010/main" val="178241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ECE9134A-6DC6-9AA5-5E12-BD8DC0D2521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>
                <a:solidFill>
                  <a:srgbClr val="64378C"/>
                </a:solidFill>
              </a:rPr>
              <a:t>Rust's Approach to Memory Safety</a:t>
            </a:r>
            <a:endParaRPr lang="en-US" dirty="0">
              <a:solidFill>
                <a:srgbClr val="64378C"/>
              </a:solidFill>
            </a:endParaRP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E279AEE0-7862-958E-9183-AA7D3D05879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ctr"/>
            <a:fld id="{5F85D455-7770-4F98-B944-71C158B4E906}" type="slidenum">
              <a:rPr lang="en-US" smtClean="0"/>
              <a:pPr algn="ctr"/>
              <a:t>15</a:t>
            </a:fld>
            <a:endParaRPr lang="en-US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21EB78F-8967-A29F-440C-0D8164EDA57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Memory Safety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24B85922-9B7C-11D6-F72A-C25793DD84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203513" y="941294"/>
            <a:ext cx="9856694" cy="673498"/>
          </a:xfrm>
        </p:spPr>
        <p:txBody>
          <a:bodyPr/>
          <a:lstStyle/>
          <a:p>
            <a:pPr marL="0" indent="0">
              <a:buNone/>
            </a:pPr>
            <a:r>
              <a:rPr lang="en-US" sz="3600" dirty="0"/>
              <a:t>Approaches</a:t>
            </a:r>
            <a:r>
              <a:rPr lang="en-US" dirty="0"/>
              <a:t> to achieving Memory Safety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589432FC-2CBA-298E-2940-DCE46464B5A8}"/>
              </a:ext>
            </a:extLst>
          </p:cNvPr>
          <p:cNvSpPr txBox="1"/>
          <p:nvPr/>
        </p:nvSpPr>
        <p:spPr>
          <a:xfrm>
            <a:off x="1963270" y="1855694"/>
            <a:ext cx="8310283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use of Programming Languages with </a:t>
            </a:r>
            <a:r>
              <a:rPr lang="en-US" b="1" dirty="0"/>
              <a:t>Automatic Memory Management: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/>
              <a:t>Developers do not have the ability to manage memory themselves.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/>
              <a:t>Memory is managed by a Garbage Collector at runtime.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/>
              <a:t>Works extremely reliably, but costs immense performance at runtime.</a:t>
            </a:r>
          </a:p>
          <a:p>
            <a:pPr lvl="1"/>
            <a:endParaRPr lang="en-US" dirty="0"/>
          </a:p>
          <a:p>
            <a:r>
              <a:rPr lang="en-US" b="1" dirty="0"/>
              <a:t>Instrumentation</a:t>
            </a:r>
            <a:r>
              <a:rPr lang="en-US" dirty="0"/>
              <a:t> of existing unsafe Programs to detect errors at runtime: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/>
              <a:t>In potentially memory-unsafe programs, instructions are inserted during compilation that can detect invalid memory accesses at runtime.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/>
              <a:t>The higher the detection rate (none of the tools achieve 100%), the higher the costs in terms of performance.</a:t>
            </a:r>
          </a:p>
          <a:p>
            <a:pPr lvl="1"/>
            <a:endParaRPr lang="en-US" dirty="0"/>
          </a:p>
          <a:p>
            <a:r>
              <a:rPr lang="en-US" dirty="0"/>
              <a:t>Programming Languages that enforce Memory Safety at </a:t>
            </a:r>
            <a:r>
              <a:rPr lang="en-US" b="1" dirty="0"/>
              <a:t>Compile Time</a:t>
            </a:r>
            <a:r>
              <a:rPr lang="en-US" dirty="0"/>
              <a:t>: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/>
              <a:t>Potential memory errors are not compiled at all.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/>
              <a:t>This requires some new rules and concepts.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/>
              <a:t>There is no runtime overhead.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/>
              <a:t>Rust offers such a solution.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9CD046D1-C3AF-2608-900F-6EBE93F147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5912" y="2317373"/>
            <a:ext cx="513231" cy="513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>
            <a:extLst>
              <a:ext uri="{FF2B5EF4-FFF2-40B4-BE49-F238E27FC236}">
                <a16:creationId xmlns:a16="http://schemas.microsoft.com/office/drawing/2014/main" id="{9D9121CF-D24E-8E3E-03E8-19514C22BC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6947" y="1693767"/>
            <a:ext cx="328906" cy="6236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8" name="Picture 8">
            <a:extLst>
              <a:ext uri="{FF2B5EF4-FFF2-40B4-BE49-F238E27FC236}">
                <a16:creationId xmlns:a16="http://schemas.microsoft.com/office/drawing/2014/main" id="{A17649BF-445B-2DC0-3281-8563BFEDA3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794" y="2219883"/>
            <a:ext cx="623606" cy="6236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F9FAF43E-4804-E4A5-185F-FEC8053E0B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8118" y="5372417"/>
            <a:ext cx="739588" cy="739588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359011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CFDD8B3B-6315-9C6D-7A4F-6D0BF313C0E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>
                <a:solidFill>
                  <a:srgbClr val="64378C"/>
                </a:solidFill>
              </a:rPr>
              <a:t>Rust's Approach to Memory Safety</a:t>
            </a:r>
            <a:endParaRPr lang="en-US" dirty="0">
              <a:solidFill>
                <a:srgbClr val="64378C"/>
              </a:solidFill>
            </a:endParaRP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8CF5934A-B2F9-B274-7329-0A0BCD4C370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ctr"/>
            <a:fld id="{5F85D455-7770-4F98-B944-71C158B4E906}" type="slidenum">
              <a:rPr lang="en-US" smtClean="0"/>
              <a:pPr algn="ctr"/>
              <a:t>16</a:t>
            </a:fld>
            <a:endParaRPr lang="en-US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1A6C0E8-77D6-E2FB-FF7C-2428D6DA17F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Sources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A2CA57A1-7E5F-E716-287E-6B6C4DA26166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>
              <a:buFont typeface="+mj-lt"/>
              <a:buAutoNum type="arabicPeriod"/>
            </a:pPr>
            <a:r>
              <a:rPr lang="en-US" sz="1200" dirty="0">
                <a:hlinkClick r:id="rId2"/>
              </a:rPr>
              <a:t>https://cwe.mitre.org/data/definitions/787.html</a:t>
            </a:r>
            <a:r>
              <a:rPr lang="en-US" sz="1200" dirty="0"/>
              <a:t> [Last Access: 09. Dec. 2025]</a:t>
            </a:r>
          </a:p>
          <a:p>
            <a:pPr>
              <a:buFont typeface="+mj-lt"/>
              <a:buAutoNum type="arabicPeriod"/>
            </a:pPr>
            <a:r>
              <a:rPr lang="en-US" sz="1200" dirty="0">
                <a:hlinkClick r:id="rId3"/>
              </a:rPr>
              <a:t>https://cwe.mitre.org/data/definitions/416.html</a:t>
            </a:r>
            <a:r>
              <a:rPr lang="en-US" sz="1200" dirty="0"/>
              <a:t> [Last Access: 09. Dec. 2025]</a:t>
            </a:r>
          </a:p>
          <a:p>
            <a:pPr>
              <a:buFont typeface="+mj-lt"/>
              <a:buAutoNum type="arabicPeriod"/>
            </a:pPr>
            <a:r>
              <a:rPr lang="en-US" sz="1200" dirty="0">
                <a:hlinkClick r:id="rId4"/>
              </a:rPr>
              <a:t>https://cwe.mitre.org/top25/archive/2024/2024_kev_insights.html</a:t>
            </a:r>
            <a:r>
              <a:rPr lang="en-US" sz="1200" dirty="0"/>
              <a:t> [Last Access: 09. Dec. 2025]</a:t>
            </a:r>
          </a:p>
          <a:p>
            <a:pPr>
              <a:buFont typeface="+mj-lt"/>
              <a:buAutoNum type="arabicPeriod"/>
            </a:pPr>
            <a:r>
              <a:rPr lang="en-US" sz="1200" dirty="0">
                <a:hlinkClick r:id="rId5"/>
              </a:rPr>
              <a:t>http://www.pl-enthusiast.net/2014/07/21/memory-safety/</a:t>
            </a:r>
            <a:r>
              <a:rPr lang="en-US" sz="1200" dirty="0"/>
              <a:t> [Last Access: 10. Dec. 2025]</a:t>
            </a:r>
          </a:p>
          <a:p>
            <a:pPr>
              <a:buFont typeface="+mj-lt"/>
              <a:buAutoNum type="arabicPeriod"/>
            </a:pPr>
            <a:r>
              <a:rPr lang="en-US" sz="1200" dirty="0">
                <a:hlinkClick r:id="rId6"/>
              </a:rPr>
              <a:t>https://cset.georgetown.edu/article/memory-safety-an-explainer/</a:t>
            </a:r>
            <a:r>
              <a:rPr lang="en-US" sz="1200" dirty="0"/>
              <a:t> [Last Access: 10. Dec. 2025]</a:t>
            </a:r>
          </a:p>
          <a:p>
            <a:pPr>
              <a:buFont typeface="+mj-lt"/>
              <a:buAutoNum type="arabicPeriod"/>
            </a:pPr>
            <a:endParaRPr lang="en-US" sz="1200" dirty="0"/>
          </a:p>
          <a:p>
            <a:pPr>
              <a:buFont typeface="+mj-lt"/>
              <a:buAutoNum type="arabicPeriod"/>
            </a:pP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402372695"/>
      </p:ext>
    </p:extLst>
  </p:cSld>
  <p:clrMapOvr>
    <a:masterClrMapping/>
  </p:clrMapOvr>
</p:sld>
</file>

<file path=ppt/theme/theme1.xml><?xml version="1.0" encoding="utf-8"?>
<a:theme xmlns:a="http://schemas.openxmlformats.org/drawingml/2006/main" name="Memory_Safety_Rust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779</Words>
  <Application>Microsoft Office PowerPoint</Application>
  <PresentationFormat>Breitbild</PresentationFormat>
  <Paragraphs>166</Paragraphs>
  <Slides>16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16</vt:i4>
      </vt:variant>
    </vt:vector>
  </HeadingPairs>
  <TitlesOfParts>
    <vt:vector size="22" baseType="lpstr">
      <vt:lpstr>Aptos</vt:lpstr>
      <vt:lpstr>Aptos Display</vt:lpstr>
      <vt:lpstr>Arial</vt:lpstr>
      <vt:lpstr>Verdana</vt:lpstr>
      <vt:lpstr>Wingdings</vt:lpstr>
      <vt:lpstr>Memory_Safety_Rust</vt:lpstr>
      <vt:lpstr>Rust’s Approach to Memory Safety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David Grandel1</dc:creator>
  <cp:lastModifiedBy>David Grandel1</cp:lastModifiedBy>
  <cp:revision>6</cp:revision>
  <dcterms:created xsi:type="dcterms:W3CDTF">2025-12-08T16:38:36Z</dcterms:created>
  <dcterms:modified xsi:type="dcterms:W3CDTF">2025-12-10T23:14:58Z</dcterms:modified>
</cp:coreProperties>
</file>