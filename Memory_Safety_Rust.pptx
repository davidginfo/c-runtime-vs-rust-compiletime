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33"/>
  </p:notesMasterIdLst>
  <p:sldIdLst>
    <p:sldId id="256" r:id="rId2"/>
    <p:sldId id="257" r:id="rId3"/>
    <p:sldId id="258" r:id="rId4"/>
    <p:sldId id="260" r:id="rId5"/>
    <p:sldId id="261" r:id="rId6"/>
    <p:sldId id="277" r:id="rId7"/>
    <p:sldId id="279" r:id="rId8"/>
    <p:sldId id="280" r:id="rId9"/>
    <p:sldId id="281" r:id="rId10"/>
    <p:sldId id="282" r:id="rId11"/>
    <p:sldId id="285" r:id="rId12"/>
    <p:sldId id="286" r:id="rId13"/>
    <p:sldId id="270" r:id="rId14"/>
    <p:sldId id="288" r:id="rId15"/>
    <p:sldId id="289" r:id="rId16"/>
    <p:sldId id="290" r:id="rId17"/>
    <p:sldId id="275" r:id="rId18"/>
    <p:sldId id="274" r:id="rId19"/>
    <p:sldId id="291" r:id="rId20"/>
    <p:sldId id="292" r:id="rId21"/>
    <p:sldId id="295" r:id="rId22"/>
    <p:sldId id="296" r:id="rId23"/>
    <p:sldId id="298" r:id="rId24"/>
    <p:sldId id="300" r:id="rId25"/>
    <p:sldId id="301" r:id="rId26"/>
    <p:sldId id="302" r:id="rId27"/>
    <p:sldId id="304" r:id="rId28"/>
    <p:sldId id="305" r:id="rId29"/>
    <p:sldId id="306" r:id="rId30"/>
    <p:sldId id="308" r:id="rId31"/>
    <p:sldId id="25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163F5B9-3F17-4B22-BCEC-9E97C88CFEE2}">
          <p14:sldIdLst>
            <p14:sldId id="256"/>
          </p14:sldIdLst>
        </p14:section>
        <p14:section name="Introduction and Motivation" id="{FEE7A2D1-4B6E-4142-9DA3-CF8F0DB5660C}">
          <p14:sldIdLst>
            <p14:sldId id="257"/>
            <p14:sldId id="258"/>
            <p14:sldId id="260"/>
          </p14:sldIdLst>
        </p14:section>
        <p14:section name="Memory Safety" id="{65F6EF3D-ACD6-4188-8AAD-5E78034F26E3}">
          <p14:sldIdLst>
            <p14:sldId id="261"/>
            <p14:sldId id="277"/>
            <p14:sldId id="279"/>
            <p14:sldId id="280"/>
            <p14:sldId id="281"/>
            <p14:sldId id="282"/>
            <p14:sldId id="285"/>
            <p14:sldId id="286"/>
            <p14:sldId id="270"/>
            <p14:sldId id="288"/>
            <p14:sldId id="289"/>
            <p14:sldId id="290"/>
            <p14:sldId id="275"/>
            <p14:sldId id="274"/>
          </p14:sldIdLst>
        </p14:section>
        <p14:section name="Rust's Approach" id="{CC0F149F-AD4B-4ECD-91BA-497C65BA172A}">
          <p14:sldIdLst>
            <p14:sldId id="291"/>
            <p14:sldId id="292"/>
            <p14:sldId id="295"/>
            <p14:sldId id="296"/>
            <p14:sldId id="298"/>
            <p14:sldId id="300"/>
            <p14:sldId id="301"/>
            <p14:sldId id="302"/>
            <p14:sldId id="304"/>
            <p14:sldId id="305"/>
            <p14:sldId id="306"/>
          </p14:sldIdLst>
        </p14:section>
        <p14:section name="Conclusion" id="{F88A5424-FC40-434F-9B6E-01A02AB2D8F6}">
          <p14:sldIdLst>
            <p14:sldId id="308"/>
          </p14:sldIdLst>
        </p14:section>
        <p14:section name="Sources" id="{3213A62E-4387-4F50-8DCC-554714B34329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A7DBAF-C7EC-7C46-E244-4E2F92C2FB56}" name="Grandel, David" initials="DG" userId="S::David.Grandel@vector.com::40bf7d28-782f-45a3-844e-42adf36c9af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35FA3"/>
    <a:srgbClr val="6437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41315" autoAdjust="0"/>
  </p:normalViewPr>
  <p:slideViewPr>
    <p:cSldViewPr snapToGrid="0">
      <p:cViewPr varScale="1">
        <p:scale>
          <a:sx n="31" d="100"/>
          <a:sy n="31" d="100"/>
        </p:scale>
        <p:origin x="2011" y="24"/>
      </p:cViewPr>
      <p:guideLst/>
    </p:cSldViewPr>
  </p:slideViewPr>
  <p:notesTextViewPr>
    <p:cViewPr>
      <p:scale>
        <a:sx n="3" d="2"/>
        <a:sy n="3" d="2"/>
      </p:scale>
      <p:origin x="0" y="-579"/>
    </p:cViewPr>
  </p:notesTextViewPr>
  <p:notesViewPr>
    <p:cSldViewPr snapToGrid="0" showGuides="1">
      <p:cViewPr varScale="1">
        <p:scale>
          <a:sx n="121" d="100"/>
          <a:sy n="121" d="100"/>
        </p:scale>
        <p:origin x="427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D40B27-32DC-4257-8536-E60282C13369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F7AC5-18AB-48B2-9359-58B3A2315671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395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Begrüßung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Titlefolie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beschäftigen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vorwegnehmen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sofort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Frage an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einsteigen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742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häufigsten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in moderner Software?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Systeme,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besonders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jemand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Idee, um was für Bugs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Antworten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abwarten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Recherche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hätte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gedacht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Ergebnisse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ausfallen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herausfinden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verursachen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releativ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schnell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"Common Weakness Enumeration"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CWE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CWE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aufgelistet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Konzerne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Microsoft und Google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rausgegeben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Masse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Beteiligungen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vermutlich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repräsentativste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zugänglich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CWE is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Injection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Command Injection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gut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genug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bösartigen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Argumente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abgesichert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5735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Platz 2 und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Ranking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Seminararbeit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motivieren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 Ein Use-After-Free Bug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Platz 2 des Rankings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3: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Platz 3,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während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Jahr 2024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Platz 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belegte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wahrscheinlich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Ihnen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etwas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Beschreibungen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anfangen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Details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8458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lohnt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Bugs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einschlägigen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gemeinsam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die Bugs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der Common Weakness Enumeration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vorlesen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Kategorie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gemessen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Danger Scores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aufsummiert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Danger Score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berechnet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Häufigkeit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Auftretens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Auswirkungen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Sicherheit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ausgehend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Bewertung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scheint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ziemlich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darzustellen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Exploits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führt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anbietet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339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heißt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Definition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offensichtlich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erst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erscheinen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mag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Speicherzugriffsfehler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bezeichnet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Out of bounds write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Out of bounds read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Use After Free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4. Use of uninitialized Memory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5. Double Free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abkürzend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gilt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nicht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zugreift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genannten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speicherfehler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Plätzen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und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Ranking von Software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praktischen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erklären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616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After Free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zustande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Use-After-Free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Zusammenhang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um Speicher, der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sein,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C++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am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verbreitet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speicher-unsicheren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Designs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angeht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kurzes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prägnantes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das Use After Free Problem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Als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9435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21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4072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Danach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174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Pointer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4341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dritter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immer der Fall und je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Allokator-Algorithmus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Heap Verwaltung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malloc()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2771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 neu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zugeteilte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42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zugewiesen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698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Pointer,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Erstellungszeitpunkt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allerdings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mittlerweile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trotzdem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dereferenzieren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Speicherblock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hinterlegt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neu an Pointer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verteilt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Dereferenzieren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Pointer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fatal,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3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beispielsweise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vertrauliche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fälschlicherweise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derartige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schnell, ins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besondere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Zeiger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gefreed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3981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User-After-Free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riesiges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Zeilen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Als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var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5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zugewießen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243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Arrays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Wert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initialisiert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531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also das Array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annimmt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Wert 99 in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angegebenem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prüfen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hängt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stark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 ab in dem die Variable und das Array auf dem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Compilerabhängig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GNU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gezeigte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 Stack auf den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Elemente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absteigender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gestapelt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außerhalb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Arrays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Pointer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inkrementiert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9343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Konsole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erwartet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99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naja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schlimm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 muss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Funktionespointer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enthält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geschickt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schnell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ausführen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den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Angreifer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2532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hinsichtlicht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Sicherheit von Software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äußerst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Gründen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Integrätet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verloren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Dangling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Use-After-Free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sensible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eigentlich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genauso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out-of-bounds write Speicher auf dem Stack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Verfügbarkeit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Service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Software Crash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eingeschränkt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etwas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Chunk-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Consolidierung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benachbarte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Speicherblöcke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Blöcken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zusammengeführt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Fragementierung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reduzieren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Falls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Pointer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crashen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die Chunk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zufällig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return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abstürzen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163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denke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Sicherheit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geworden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vermeiden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wesentlichen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Ansätze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durchgesetzt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populärste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Ansatz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hat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Garbage Collector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Python, Java und JavaScript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Speicherverwaltung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und Weise)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äußerst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zuverlässig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kostet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immens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Instrumentierung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bestehenden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ausfindig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potentiell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eingefügt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ungültige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Speicherzugriffe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bemerken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Tools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ASan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AdressSanatizer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Valgrind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nötig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C/C++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absichern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populären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Tools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100%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je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höher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Erkennungsrate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desto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höher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Kosten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hinsichtlich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abstürzen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illegal auf den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potentielle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und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Runtime Overhead -&gt; quasi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optimale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Performance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neue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notwendig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2984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verspricht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Kombination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bislang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kombinierbarer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Herausforderungen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Volle Hardware und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Sicherheit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Entwicklererlebnis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verzichten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herzstück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Entwicklungswerkzeuge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Formatter, Language Server und Paket Manager an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Scheinbar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Versprechen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Zumindest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stackoverflow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statistiken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vertraut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Dort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Jahren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beliebteste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aufstrebende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72%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angefangen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Jahre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muss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vorgestellten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abgefangen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Stück für Stück an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71573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Menge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sorgen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Speicher,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verwaltet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 Zeit,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bedarf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Garbage Collector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folgende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in Rust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Owner,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ab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Punkte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another_buffer_owner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Wenn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out-of-scope also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sichtbar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verworfen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out of scope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Konstrukte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Gültigkeitsbereich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verlassen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Block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geschweiften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Klammern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Box::new(...)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zuweisen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vorherige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verworfen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Parameter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aktuellen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Scope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Gültigkeitsbereich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verlässt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drop()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eingefügt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den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verwerfen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enormen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-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manuell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- Somit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vergessen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7489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Regel 2, also das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gleichzeitig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bestimmte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Art und Weise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realisiert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um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Stack,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Sachverhalt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ausgehend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rechten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dynamischen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dem Heap schnell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Datenmenge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Overhead und Performance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Einbuse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würde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die Frage?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Idee?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096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prinizipiell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Möglichkeiten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Besitzübergabe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pointer_1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pointer_2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Deep Copy: Dabei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gesamte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Inhalt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Speicher Einheit, die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allooziert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darauf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Shallow Copy: Hier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müssen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Move: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zunächst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Shallow Copy der Zeiger 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gelöscht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Move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Problem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Zeiger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vorhanden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bedeutet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Aufwand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Speicherzellen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Shallow Copy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Problem,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anfällig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Dangling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also Zeiger, die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5235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standardmäßig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Ownership IMMER auf Move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entstehen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vermeiden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fälschlicherweise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doppelt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der Speicher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einzige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Clone()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7393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nicht immer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überall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durchreichen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bspw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Funktionsaufrufen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nützlich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die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kümmern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befindet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Speicherbereich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anzulegen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kaufnmännische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increment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var_pointer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in Rust Borrowing -&gt;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Owner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 Borrowing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inkrementieren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default immutable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unveränderbar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veränderbare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anzulegen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falls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veränderbar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markiert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geschrieben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Writer, falls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lesende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Fehlerquelle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Data Races, um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gehen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Zugriffsrechte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auszuleihen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sei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provozieren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Absicherung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zugehörige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existieren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7277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Aber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sogenannte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Lifetimes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Lifetimes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Programmteil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veranschaulicht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Pfeile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welchem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Teil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zugriffzeitpunkt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herauszufinden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Ausleihen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des Variable value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kürzer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meldet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Dangling References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vollständig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8323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so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viele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theoretische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anschauen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Sprache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After Free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verhindern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Beispielcode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Variabel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Speicher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reserviert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Box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Smart Pointer,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new()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bestimmten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Wert,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unserem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Integer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gespeichert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normalerweise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lohnt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String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nah am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Box</a:t>
            </a:r>
          </a:p>
          <a:p>
            <a:pPr marL="0" indent="0">
              <a:buFontTx/>
              <a:buNone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1. In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Zeile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Ownership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den Wert auf dem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festgelegt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2.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festgelegt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auf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gleichen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Pointer 1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Shallow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eingesetzt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Shallow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gibt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nicht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trotzdem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den Wert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Heap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Referenz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leiht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3. Wir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drop() auf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verwerfen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untypisch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Rust drop()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aufzurufen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Demo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Zwecke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eendet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4. Nun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use after free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provozieren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Speicher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zuzugreifen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freigegeben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printen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wollen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932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bekommen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Gegensatz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garnicht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Executable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Bug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beinhaltet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Fehlermeldung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gerade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detailliert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durchgesprochen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warum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aufgetreten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Borrow Checker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Compiler hat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detektiert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Lebenszeit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buffer_borrow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länger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des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ZUgehöriger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Besitzers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buffer_owner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erlauben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Rust Lifetime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Regeln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angezeigt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erhält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Vorschlag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ändern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aufritt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der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schlägt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Deep Copy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mittels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clone()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weißt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zusätzlich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Ressourcen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Kosten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9369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Beginn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hatte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gezeigt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Use-After-Free Fehler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darstellt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bietet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bzw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genauer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zwei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verschiedene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Lösungsansätze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am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einfachsten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Compiletime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bekannt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Kompilieren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100%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Index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Zeile 6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verwendet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bzw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sogar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Linter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hinweg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Compiletime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erkennen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61193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Anders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sieht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das C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Anfang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passiert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Out-Of-Bounds Write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Funktionsaufrufs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nimmt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übergebenen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das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zugegriffen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Compilezeit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beweisen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auftritt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quasi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unmöglich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 muss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anderes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Fehler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größeren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Schaden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anrichten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nämlich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feststellen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Index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Laufzeit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geprüft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innerhalb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Array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Grenzen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falls dies nicht der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Panic Hook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ausgeführt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erzeugt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Runtime Overhead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gering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Vergleich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bedingter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Sprung für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Überprüfung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benötigt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werden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notwendigen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Instruktionen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Rust Compiler immer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ohne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erzwingen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muss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out-of-bounds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versuch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tatsächlichen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Zugriff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kontrolliert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der Panic Handler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aufgerufen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während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C das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Verhalten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so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Fall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völlig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undefiniert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bleibt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36506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wenigen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gesehen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dafür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sorgen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können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safen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allgemein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gültig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jedes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welches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100% Memory safe?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ja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natürlich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löst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nicht alle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daran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liegt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möglich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explizit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schreiben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um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Beispiel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perse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unsicherem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 Code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interagieren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Low-Level-Code für Hardware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Interaktion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entwickeln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außerdem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Programmier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Konzepte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nicht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unbedingt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schnell für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erlernen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was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Entwicklungs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anfangs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verlangsamen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dennoch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wurde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Forschern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bewiesen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Ownership Modell in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erhebliche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 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durch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Design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unterbindet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der Praxis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wirkt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Verwendung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Rust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Google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berichtete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security blog 2024,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dass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Einführung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Rust in Android die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Anzahl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memory-safety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Schwachstellen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von 76% auf 24% der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Sicherheitslücken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zurückging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damit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möchte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den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Vortrag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beenden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hoffe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ich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habe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Ihnen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Gründe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gegeben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Rust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einmal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auszuprobieren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ich bin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jetzt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gerne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noch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Ihre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Fragen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beantworten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7F7AC5-18AB-48B2-9359-58B3A231567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47063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DBC7A7-5989-10C6-0908-08007790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3A0344F-B54A-F4A6-7766-6D98DB139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1C28C0-452F-1895-9636-18007A799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Rust's Approach to Memory Safety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7D4A830-D1C7-8077-D7A7-99B0CB94E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94141" y="6356349"/>
            <a:ext cx="475128" cy="365125"/>
          </a:xfrm>
        </p:spPr>
        <p:txBody>
          <a:bodyPr/>
          <a:lstStyle/>
          <a:p>
            <a:fld id="{5F85D455-7770-4F98-B944-71C158B4E906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074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09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08DD31E9-0328-F13A-22C3-1358D61B5153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F9E31F4-1C04-35C1-A232-335327D4312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863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5E46763-ABB8-51B3-F6E8-04F79A2323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39DF77-1A22-72A8-5645-286CC41C43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770E47B0-CA95-BD24-CB29-08CFEC1D2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00599" y="136525"/>
            <a:ext cx="2590800" cy="365125"/>
          </a:xfrm>
        </p:spPr>
        <p:txBody>
          <a:bodyPr anchor="ctr" anchorCtr="0"/>
          <a:lstStyle>
            <a:lvl1pPr algn="ctr">
              <a:buNone/>
              <a:defRPr sz="1200">
                <a:solidFill>
                  <a:srgbClr val="64378C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endParaRPr lang="en-US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BE31EF-3B8E-5F74-85DA-2845B60A13D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1771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348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AE55418-058D-E9B1-E6B7-D7213EFEA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89D41F7-D69B-66D0-60AE-F5DD864CB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7A438CD-2562-44C0-8FE2-490BF19B8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00599" y="6356350"/>
            <a:ext cx="259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1D79EE1-C5BC-77BB-639E-9363D804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53799" y="6375625"/>
            <a:ext cx="55549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64378C"/>
                </a:solidFill>
              </a:defRPr>
            </a:lvl1pPr>
          </a:lstStyle>
          <a:p>
            <a:pPr algn="ctr"/>
            <a:fld id="{5F85D455-7770-4F98-B944-71C158B4E906}" type="slidenum">
              <a:rPr lang="en-US" smtClean="0"/>
              <a:pPr/>
              <a:t>‹Nr.›</a:t>
            </a:fld>
            <a:endParaRPr lang="en-US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EEF97DE-974B-5F4D-4A92-E6153B9F685B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1244769" y="299812"/>
            <a:ext cx="665997" cy="44898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ED79E5C6-4AEE-8D6E-5460-6B1B4D94CA7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1244769" y="5175377"/>
            <a:ext cx="664522" cy="10912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7FDA203-EE93-0394-A866-E5EBDA60C97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alphaModFix amt="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168" y="203168"/>
            <a:ext cx="6451663" cy="6451663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6688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7" r:id="rId2"/>
    <p:sldLayoutId id="2147483669" r:id="rId3"/>
    <p:sldLayoutId id="2147483668" r:id="rId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cwe.mitre.org/data/definitions/416.html" TargetMode="External"/><Relationship Id="rId3" Type="http://schemas.openxmlformats.org/officeDocument/2006/relationships/image" Target="../media/image6.svg"/><Relationship Id="rId7" Type="http://schemas.openxmlformats.org/officeDocument/2006/relationships/hyperlink" Target="https://cwe.mitre.org/top25/archive/2025/2025_kev_list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hyperlink" Target="https://cwe.mitre.org/data/definitions/787.html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cwe.mitre.org/top25/archive/2025/2025_kev_insights.html#2025_kev_pie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ieeexplore.ieee.org/document/6547101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svg"/><Relationship Id="rId4" Type="http://schemas.openxmlformats.org/officeDocument/2006/relationships/image" Target="../media/image1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urvey.stackoverflow.co/2025/technology/#2-programming-scripting-and-markup-languages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sv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Relationship Id="rId9" Type="http://schemas.openxmlformats.org/officeDocument/2006/relationships/hyperlink" Target="https://doc.rust-lang.org/book/ch04-01-what-is-ownership.html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.svg"/><Relationship Id="rId4" Type="http://schemas.openxmlformats.org/officeDocument/2006/relationships/image" Target="../media/image31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04-01-what-is-ownership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04-01-what-is-ownership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oc.rust-lang.org/book/ch04-02-references-and-borrowing.html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doc.rust-lang.org/book/ch10-03-lifetime-syntax.html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7" Type="http://schemas.openxmlformats.org/officeDocument/2006/relationships/image" Target="../media/image38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svg"/><Relationship Id="rId5" Type="http://schemas.openxmlformats.org/officeDocument/2006/relationships/image" Target="../media/image36.svg"/><Relationship Id="rId4" Type="http://schemas.openxmlformats.org/officeDocument/2006/relationships/image" Target="../media/image35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oc.rust-lang.org/book/img/ferris/does_not_compile.svg" TargetMode="External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svg"/><Relationship Id="rId5" Type="http://schemas.openxmlformats.org/officeDocument/2006/relationships/hyperlink" Target="https://doc.rust-lang.org/book/img/ferris/does_not_compile.svg" TargetMode="External"/><Relationship Id="rId4" Type="http://schemas.openxmlformats.org/officeDocument/2006/relationships/image" Target="../media/image40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reference/panic.html" TargetMode="External"/><Relationship Id="rId7" Type="http://schemas.openxmlformats.org/officeDocument/2006/relationships/image" Target="../media/image45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svg"/><Relationship Id="rId5" Type="http://schemas.openxmlformats.org/officeDocument/2006/relationships/image" Target="../media/image43.svg"/><Relationship Id="rId4" Type="http://schemas.openxmlformats.org/officeDocument/2006/relationships/hyperlink" Target="https://doc.rust-lang.org/book/img/ferris/panics.svg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reference/unsafety.html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png"/><Relationship Id="rId5" Type="http://schemas.openxmlformats.org/officeDocument/2006/relationships/hyperlink" Target="https://security.googleblog.com/2024/09/eliminating-memory-safety-vulnerabilities-Android.html" TargetMode="External"/><Relationship Id="rId4" Type="http://schemas.openxmlformats.org/officeDocument/2006/relationships/hyperlink" Target="https://plv.mpi-sws.org/rustbelt/popl18/paper.pdf" TargetMode="Externa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doc.rust-lang.org/book/ch04-01-what-is-ownership.html" TargetMode="External"/><Relationship Id="rId13" Type="http://schemas.openxmlformats.org/officeDocument/2006/relationships/hyperlink" Target="https://doc.rust-lang.org/book/img/ferris/panics.svg" TargetMode="External"/><Relationship Id="rId3" Type="http://schemas.openxmlformats.org/officeDocument/2006/relationships/hyperlink" Target="https://cwe.mitre.org/data/definitions/416.html" TargetMode="External"/><Relationship Id="rId7" Type="http://schemas.openxmlformats.org/officeDocument/2006/relationships/hyperlink" Target="https://survey.stackoverflow.co/2025/technology/#2-programming-scripting-and-markup-languages" TargetMode="External"/><Relationship Id="rId12" Type="http://schemas.openxmlformats.org/officeDocument/2006/relationships/hyperlink" Target="https://doc.rust-lang.org/reference/panic.html" TargetMode="External"/><Relationship Id="rId2" Type="http://schemas.openxmlformats.org/officeDocument/2006/relationships/hyperlink" Target="https://cwe.mitre.org/top25/archive/2025/2025_kev_list.html" TargetMode="External"/><Relationship Id="rId16" Type="http://schemas.openxmlformats.org/officeDocument/2006/relationships/hyperlink" Target="https://security.googleblog.com/2024/09/eliminating-memory-safety-vulnerabilities-Android.html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ieeexplore.ieee.org/document/6547101" TargetMode="External"/><Relationship Id="rId11" Type="http://schemas.openxmlformats.org/officeDocument/2006/relationships/hyperlink" Target="https://doc.rust-lang.org/book/img/ferris/does_not_compile.svg" TargetMode="External"/><Relationship Id="rId5" Type="http://schemas.openxmlformats.org/officeDocument/2006/relationships/hyperlink" Target="https://cwe.mitre.org/top25/archive/2025/2025_kev_insights.html#2025_kev_pie" TargetMode="External"/><Relationship Id="rId15" Type="http://schemas.openxmlformats.org/officeDocument/2006/relationships/hyperlink" Target="https://plv.mpi-sws.org/rustbelt/popl18/paper.pdf" TargetMode="External"/><Relationship Id="rId10" Type="http://schemas.openxmlformats.org/officeDocument/2006/relationships/hyperlink" Target="https://doc.rust-lang.org/book/ch10-03-lifetime-syntax.html" TargetMode="External"/><Relationship Id="rId4" Type="http://schemas.openxmlformats.org/officeDocument/2006/relationships/hyperlink" Target="http://cwe.mitre.org/data/definitions/787.html" TargetMode="External"/><Relationship Id="rId9" Type="http://schemas.openxmlformats.org/officeDocument/2006/relationships/hyperlink" Target="https://doc.rust-lang.org/book/ch04-02-references-and-borrowing.html" TargetMode="External"/><Relationship Id="rId14" Type="http://schemas.openxmlformats.org/officeDocument/2006/relationships/hyperlink" Target="https://doc.rust-lang.org/reference/unsafety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B64D2B-662A-8FE4-ADE4-371BE33CEA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Rust’s Approach to Memory Safety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A69D3C-8297-064E-F77A-A04A3AF9A379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Seminar Work – David Grandel</a:t>
            </a:r>
          </a:p>
        </p:txBody>
      </p:sp>
    </p:spTree>
    <p:extLst>
      <p:ext uri="{BB962C8B-B14F-4D97-AF65-F5344CB8AC3E}">
        <p14:creationId xmlns:p14="http://schemas.microsoft.com/office/powerpoint/2010/main" val="14556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B3CB9EA-F996-E2ED-DF78-2CF4ED4D78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00C8161-1297-1AFA-9579-243C5FA21F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271F907-41FA-FC3A-D1CE-9254D781DF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0DA472F-57F1-7F7D-50AD-9BAFAEB93F6F}"/>
              </a:ext>
            </a:extLst>
          </p:cNvPr>
          <p:cNvSpPr txBox="1"/>
          <p:nvPr/>
        </p:nvSpPr>
        <p:spPr>
          <a:xfrm>
            <a:off x="1959908" y="1651115"/>
            <a:ext cx="827218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What do you think are some of the most common weaknesses in modern software systems?</a:t>
            </a:r>
          </a:p>
        </p:txBody>
      </p:sp>
      <p:pic>
        <p:nvPicPr>
          <p:cNvPr id="15" name="Grafik 14" descr="Fragezeichen mit einfarbiger Füllung">
            <a:extLst>
              <a:ext uri="{FF2B5EF4-FFF2-40B4-BE49-F238E27FC236}">
                <a16:creationId xmlns:a16="http://schemas.microsoft.com/office/drawing/2014/main" id="{2ACE9744-BD22-D6FA-9A8E-66694F1A50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3989926"/>
            <a:ext cx="1432112" cy="1432112"/>
          </a:xfrm>
          <a:prstGeom prst="rect">
            <a:avLst/>
          </a:prstGeom>
        </p:spPr>
      </p:pic>
      <p:pic>
        <p:nvPicPr>
          <p:cNvPr id="17" name="Grafik 16" descr="Insekt unter Lupe mit einfarbiger Füllung">
            <a:extLst>
              <a:ext uri="{FF2B5EF4-FFF2-40B4-BE49-F238E27FC236}">
                <a16:creationId xmlns:a16="http://schemas.microsoft.com/office/drawing/2014/main" id="{ECC50D34-F660-A1FB-00B0-EF1AD0E8FF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3888" y="3989926"/>
            <a:ext cx="1432112" cy="143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413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B567993-1DCB-AB28-27A3-31663BDC6F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449288-B71A-537D-7C41-519CFE7F33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5D84AD9-83F3-9E36-CFAF-4EB22AF5CD0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B990252-85E2-C376-C898-F9E4F92E7C1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524436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following two errors are among the 10 most common:</a:t>
            </a:r>
            <a:r>
              <a:rPr lang="en-US" sz="1200" baseline="-25000" dirty="0"/>
              <a:t>[1]</a:t>
            </a:r>
            <a:endParaRPr lang="en-US" baseline="-2500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481B7BC-27CF-2608-A157-AB224B25E885}"/>
              </a:ext>
            </a:extLst>
          </p:cNvPr>
          <p:cNvSpPr txBox="1"/>
          <p:nvPr/>
        </p:nvSpPr>
        <p:spPr>
          <a:xfrm>
            <a:off x="1457513" y="1723196"/>
            <a:ext cx="3919816" cy="36435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Use After Free</a:t>
            </a:r>
          </a:p>
        </p:txBody>
      </p:sp>
      <p:pic>
        <p:nvPicPr>
          <p:cNvPr id="50" name="Grafik 49" descr="Trophäe mit einfarbiger Füllung">
            <a:extLst>
              <a:ext uri="{FF2B5EF4-FFF2-40B4-BE49-F238E27FC236}">
                <a16:creationId xmlns:a16="http://schemas.microsoft.com/office/drawing/2014/main" id="{841EA221-080D-7E6F-A66D-FFBAA0AA06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3104" y="1541967"/>
            <a:ext cx="705627" cy="705627"/>
          </a:xfrm>
          <a:prstGeom prst="rect">
            <a:avLst/>
          </a:prstGeom>
        </p:spPr>
      </p:pic>
      <p:sp>
        <p:nvSpPr>
          <p:cNvPr id="51" name="Textfeld 50">
            <a:extLst>
              <a:ext uri="{FF2B5EF4-FFF2-40B4-BE49-F238E27FC236}">
                <a16:creationId xmlns:a16="http://schemas.microsoft.com/office/drawing/2014/main" id="{DD2F39DA-5598-EB76-6AC1-4E66B8848EB1}"/>
              </a:ext>
            </a:extLst>
          </p:cNvPr>
          <p:cNvSpPr txBox="1"/>
          <p:nvPr/>
        </p:nvSpPr>
        <p:spPr>
          <a:xfrm>
            <a:off x="1776957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2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2" name="Rechteck: abgerundete Ecken 51">
            <a:extLst>
              <a:ext uri="{FF2B5EF4-FFF2-40B4-BE49-F238E27FC236}">
                <a16:creationId xmlns:a16="http://schemas.microsoft.com/office/drawing/2014/main" id="{83341C1B-EDAA-941B-6575-416920D9D477}"/>
              </a:ext>
            </a:extLst>
          </p:cNvPr>
          <p:cNvSpPr/>
          <p:nvPr/>
        </p:nvSpPr>
        <p:spPr>
          <a:xfrm>
            <a:off x="1968500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hteck: abgerundete Ecken 52">
            <a:extLst>
              <a:ext uri="{FF2B5EF4-FFF2-40B4-BE49-F238E27FC236}">
                <a16:creationId xmlns:a16="http://schemas.microsoft.com/office/drawing/2014/main" id="{03387FE7-576F-0B25-E181-6387F4A70926}"/>
              </a:ext>
            </a:extLst>
          </p:cNvPr>
          <p:cNvSpPr/>
          <p:nvPr/>
        </p:nvSpPr>
        <p:spPr>
          <a:xfrm>
            <a:off x="2238732" y="2514818"/>
            <a:ext cx="1598908" cy="916460"/>
          </a:xfrm>
          <a:custGeom>
            <a:avLst/>
            <a:gdLst>
              <a:gd name="csX0" fmla="*/ 0 w 1598908"/>
              <a:gd name="csY0" fmla="*/ 152403 h 914400"/>
              <a:gd name="csX1" fmla="*/ 152403 w 1598908"/>
              <a:gd name="csY1" fmla="*/ 0 h 914400"/>
              <a:gd name="csX2" fmla="*/ 1446505 w 1598908"/>
              <a:gd name="csY2" fmla="*/ 0 h 914400"/>
              <a:gd name="csX3" fmla="*/ 1598908 w 1598908"/>
              <a:gd name="csY3" fmla="*/ 152403 h 914400"/>
              <a:gd name="csX4" fmla="*/ 1598908 w 1598908"/>
              <a:gd name="csY4" fmla="*/ 761997 h 914400"/>
              <a:gd name="csX5" fmla="*/ 1446505 w 1598908"/>
              <a:gd name="csY5" fmla="*/ 914400 h 914400"/>
              <a:gd name="csX6" fmla="*/ 152403 w 1598908"/>
              <a:gd name="csY6" fmla="*/ 914400 h 914400"/>
              <a:gd name="csX7" fmla="*/ 0 w 1598908"/>
              <a:gd name="csY7" fmla="*/ 761997 h 914400"/>
              <a:gd name="csX8" fmla="*/ 0 w 1598908"/>
              <a:gd name="csY8" fmla="*/ 152403 h 91440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1471160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  <a:gd name="csX0" fmla="*/ 0 w 1598908"/>
              <a:gd name="csY0" fmla="*/ 152403 h 916460"/>
              <a:gd name="csX1" fmla="*/ 152403 w 1598908"/>
              <a:gd name="csY1" fmla="*/ 0 h 916460"/>
              <a:gd name="csX2" fmla="*/ 1446505 w 1598908"/>
              <a:gd name="csY2" fmla="*/ 0 h 916460"/>
              <a:gd name="csX3" fmla="*/ 1598908 w 1598908"/>
              <a:gd name="csY3" fmla="*/ 152403 h 916460"/>
              <a:gd name="csX4" fmla="*/ 1598908 w 1598908"/>
              <a:gd name="csY4" fmla="*/ 761997 h 916460"/>
              <a:gd name="csX5" fmla="*/ 1446505 w 1598908"/>
              <a:gd name="csY5" fmla="*/ 914400 h 916460"/>
              <a:gd name="csX6" fmla="*/ 792083 w 1598908"/>
              <a:gd name="csY6" fmla="*/ 916460 h 916460"/>
              <a:gd name="csX7" fmla="*/ 152403 w 1598908"/>
              <a:gd name="csY7" fmla="*/ 914400 h 916460"/>
              <a:gd name="csX8" fmla="*/ 0 w 1598908"/>
              <a:gd name="csY8" fmla="*/ 761997 h 916460"/>
              <a:gd name="csX9" fmla="*/ 0 w 1598908"/>
              <a:gd name="csY9" fmla="*/ 152403 h 9164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1598908" h="916460">
                <a:moveTo>
                  <a:pt x="0" y="152403"/>
                </a:moveTo>
                <a:cubicBezTo>
                  <a:pt x="0" y="68233"/>
                  <a:pt x="68233" y="0"/>
                  <a:pt x="152403" y="0"/>
                </a:cubicBezTo>
                <a:lnTo>
                  <a:pt x="1446505" y="0"/>
                </a:lnTo>
                <a:cubicBezTo>
                  <a:pt x="1530675" y="0"/>
                  <a:pt x="1598908" y="68233"/>
                  <a:pt x="1598908" y="152403"/>
                </a:cubicBezTo>
                <a:lnTo>
                  <a:pt x="1598908" y="761997"/>
                </a:lnTo>
                <a:cubicBezTo>
                  <a:pt x="1598908" y="846167"/>
                  <a:pt x="1530675" y="914400"/>
                  <a:pt x="1446505" y="914400"/>
                </a:cubicBezTo>
                <a:lnTo>
                  <a:pt x="792083" y="916460"/>
                </a:lnTo>
                <a:lnTo>
                  <a:pt x="152403" y="914400"/>
                </a:lnTo>
                <a:cubicBezTo>
                  <a:pt x="68233" y="914400"/>
                  <a:pt x="0" y="846167"/>
                  <a:pt x="0" y="761997"/>
                </a:cubicBezTo>
                <a:lnTo>
                  <a:pt x="0" y="152403"/>
                </a:lnTo>
                <a:close/>
              </a:path>
            </a:pathLst>
          </a:cu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Unit</a:t>
            </a:r>
          </a:p>
        </p:txBody>
      </p:sp>
      <p:graphicFrame>
        <p:nvGraphicFramePr>
          <p:cNvPr id="54" name="Tabelle 53">
            <a:extLst>
              <a:ext uri="{FF2B5EF4-FFF2-40B4-BE49-F238E27FC236}">
                <a16:creationId xmlns:a16="http://schemas.microsoft.com/office/drawing/2014/main" id="{C376C27B-1494-28C3-1128-D193F5BED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724234"/>
              </p:ext>
            </p:extLst>
          </p:nvPr>
        </p:nvGraphicFramePr>
        <p:xfrm>
          <a:off x="1457513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reuses or references memory after it has been freed.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[2]</a:t>
                      </a:r>
                      <a:endParaRPr lang="en-US" sz="1800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55" name="Textfeld 54">
            <a:extLst>
              <a:ext uri="{FF2B5EF4-FFF2-40B4-BE49-F238E27FC236}">
                <a16:creationId xmlns:a16="http://schemas.microsoft.com/office/drawing/2014/main" id="{F16D9397-2058-CD09-E096-E8435C0D1A67}"/>
              </a:ext>
            </a:extLst>
          </p:cNvPr>
          <p:cNvSpPr txBox="1"/>
          <p:nvPr/>
        </p:nvSpPr>
        <p:spPr>
          <a:xfrm>
            <a:off x="3880283" y="3812112"/>
            <a:ext cx="918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Access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3D986746-804E-4A2B-7360-9753F879B1FC}"/>
              </a:ext>
            </a:extLst>
          </p:cNvPr>
          <p:cNvSpPr txBox="1"/>
          <p:nvPr/>
        </p:nvSpPr>
        <p:spPr>
          <a:xfrm>
            <a:off x="1645769" y="3812112"/>
            <a:ext cx="6554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Free</a:t>
            </a:r>
          </a:p>
        </p:txBody>
      </p:sp>
      <p:cxnSp>
        <p:nvCxnSpPr>
          <p:cNvPr id="67" name="Verbinder: gekrümmt 66">
            <a:extLst>
              <a:ext uri="{FF2B5EF4-FFF2-40B4-BE49-F238E27FC236}">
                <a16:creationId xmlns:a16="http://schemas.microsoft.com/office/drawing/2014/main" id="{2759E5D1-9066-6FD1-50E4-008EF6D924F9}"/>
              </a:ext>
            </a:extLst>
          </p:cNvPr>
          <p:cNvCxnSpPr>
            <a:cxnSpLocks/>
            <a:stCxn id="66" idx="3"/>
          </p:cNvCxnSpPr>
          <p:nvPr/>
        </p:nvCxnSpPr>
        <p:spPr>
          <a:xfrm flipV="1">
            <a:off x="2301241" y="3429219"/>
            <a:ext cx="406844" cy="567559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Verbinder: gekrümmt 74">
            <a:extLst>
              <a:ext uri="{FF2B5EF4-FFF2-40B4-BE49-F238E27FC236}">
                <a16:creationId xmlns:a16="http://schemas.microsoft.com/office/drawing/2014/main" id="{02A7BF6B-7717-6B22-7712-C2B113B60D7E}"/>
              </a:ext>
            </a:extLst>
          </p:cNvPr>
          <p:cNvCxnSpPr>
            <a:cxnSpLocks/>
            <a:stCxn id="55" idx="1"/>
          </p:cNvCxnSpPr>
          <p:nvPr/>
        </p:nvCxnSpPr>
        <p:spPr>
          <a:xfrm rot="10800000">
            <a:off x="3407639" y="3428190"/>
            <a:ext cx="472644" cy="568588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0" name="Grafik 79" descr="Blitz Silhouette">
            <a:extLst>
              <a:ext uri="{FF2B5EF4-FFF2-40B4-BE49-F238E27FC236}">
                <a16:creationId xmlns:a16="http://schemas.microsoft.com/office/drawing/2014/main" id="{3DA05346-CC6F-A9C3-357A-EFB8C8B9D5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71125" y="350678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82" name="Grafik 81" descr="Marke 1 Silhouette">
            <a:extLst>
              <a:ext uri="{FF2B5EF4-FFF2-40B4-BE49-F238E27FC236}">
                <a16:creationId xmlns:a16="http://schemas.microsoft.com/office/drawing/2014/main" id="{CFF4538D-59CE-6577-8262-7DF08E8AFC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3104" y="3890148"/>
            <a:ext cx="207706" cy="207706"/>
          </a:xfrm>
          <a:prstGeom prst="rect">
            <a:avLst/>
          </a:prstGeom>
        </p:spPr>
      </p:pic>
      <p:pic>
        <p:nvPicPr>
          <p:cNvPr id="84" name="Grafik 83" descr="Abzeichen Silhouette">
            <a:extLst>
              <a:ext uri="{FF2B5EF4-FFF2-40B4-BE49-F238E27FC236}">
                <a16:creationId xmlns:a16="http://schemas.microsoft.com/office/drawing/2014/main" id="{E4422016-EFEA-B145-F303-E39455A495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09002" y="3910235"/>
            <a:ext cx="207706" cy="207706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FA757B5-AF5C-368D-3DE9-62C0D5D1E39F}"/>
              </a:ext>
            </a:extLst>
          </p:cNvPr>
          <p:cNvSpPr txBox="1"/>
          <p:nvPr/>
        </p:nvSpPr>
        <p:spPr>
          <a:xfrm>
            <a:off x="6483727" y="1722426"/>
            <a:ext cx="3919816" cy="3651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b="1" dirty="0"/>
              <a:t>Out-of-bounds Write</a:t>
            </a:r>
          </a:p>
        </p:txBody>
      </p:sp>
      <p:pic>
        <p:nvPicPr>
          <p:cNvPr id="9" name="Grafik 8" descr="Trophäe mit einfarbiger Füllung">
            <a:extLst>
              <a:ext uri="{FF2B5EF4-FFF2-40B4-BE49-F238E27FC236}">
                <a16:creationId xmlns:a16="http://schemas.microsoft.com/office/drawing/2014/main" id="{1AE40962-3352-F6C8-3E94-624BD7C7CF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54837" y="1541967"/>
            <a:ext cx="705627" cy="705627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3E163E3F-1A27-C5E5-9B0E-EBA062ADE2D5}"/>
              </a:ext>
            </a:extLst>
          </p:cNvPr>
          <p:cNvSpPr txBox="1"/>
          <p:nvPr/>
        </p:nvSpPr>
        <p:spPr>
          <a:xfrm>
            <a:off x="6798690" y="1613999"/>
            <a:ext cx="2179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3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659793A4-1DB8-A425-25C5-3BE28C45F86A}"/>
              </a:ext>
            </a:extLst>
          </p:cNvPr>
          <p:cNvSpPr/>
          <p:nvPr/>
        </p:nvSpPr>
        <p:spPr>
          <a:xfrm>
            <a:off x="6994713" y="2514818"/>
            <a:ext cx="2897842" cy="91440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5CC290DA-C221-425B-C1A1-E071CB307F49}"/>
              </a:ext>
            </a:extLst>
          </p:cNvPr>
          <p:cNvSpPr/>
          <p:nvPr/>
        </p:nvSpPr>
        <p:spPr>
          <a:xfrm>
            <a:off x="7653620" y="2514818"/>
            <a:ext cx="1580029" cy="914400"/>
          </a:xfrm>
          <a:prstGeom prst="round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Buffer</a:t>
            </a:r>
          </a:p>
        </p:txBody>
      </p:sp>
      <p:cxnSp>
        <p:nvCxnSpPr>
          <p:cNvPr id="13" name="Verbinder: gekrümmt 12">
            <a:extLst>
              <a:ext uri="{FF2B5EF4-FFF2-40B4-BE49-F238E27FC236}">
                <a16:creationId xmlns:a16="http://schemas.microsoft.com/office/drawing/2014/main" id="{5D2D87B8-7CCC-2EAE-100C-AB0E43D6EBA0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>
            <a:off x="7310720" y="2972019"/>
            <a:ext cx="705626" cy="102476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Verbinder: gekrümmt 13">
            <a:extLst>
              <a:ext uri="{FF2B5EF4-FFF2-40B4-BE49-F238E27FC236}">
                <a16:creationId xmlns:a16="http://schemas.microsoft.com/office/drawing/2014/main" id="{619A7805-E345-019B-152D-031CBEE7B4E3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8870922" y="2972018"/>
            <a:ext cx="752692" cy="1024761"/>
          </a:xfrm>
          <a:prstGeom prst="curvedConnector2">
            <a:avLst/>
          </a:prstGeom>
          <a:ln cap="sq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75240762-8C36-2191-9ABC-9D0E666015A2}"/>
              </a:ext>
            </a:extLst>
          </p:cNvPr>
          <p:cNvSpPr txBox="1"/>
          <p:nvPr/>
        </p:nvSpPr>
        <p:spPr>
          <a:xfrm>
            <a:off x="8016346" y="3812113"/>
            <a:ext cx="854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Write</a:t>
            </a:r>
          </a:p>
        </p:txBody>
      </p:sp>
      <p:pic>
        <p:nvPicPr>
          <p:cNvPr id="16" name="Grafik 15" descr="Blitz Silhouette">
            <a:extLst>
              <a:ext uri="{FF2B5EF4-FFF2-40B4-BE49-F238E27FC236}">
                <a16:creationId xmlns:a16="http://schemas.microsoft.com/office/drawing/2014/main" id="{851EA5DF-9FAE-8226-9CF2-B5B4580E11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92959" y="3555938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19" name="Grafik 18" descr="Blitz Silhouette">
            <a:extLst>
              <a:ext uri="{FF2B5EF4-FFF2-40B4-BE49-F238E27FC236}">
                <a16:creationId xmlns:a16="http://schemas.microsoft.com/office/drawing/2014/main" id="{46A75C5B-8612-9B89-D3FA-27A5C99639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76249" y="3551930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graphicFrame>
        <p:nvGraphicFramePr>
          <p:cNvPr id="20" name="Tabelle 19">
            <a:extLst>
              <a:ext uri="{FF2B5EF4-FFF2-40B4-BE49-F238E27FC236}">
                <a16:creationId xmlns:a16="http://schemas.microsoft.com/office/drawing/2014/main" id="{3E36B04F-9F57-C50A-6105-5D2846C453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908518"/>
              </p:ext>
            </p:extLst>
          </p:nvPr>
        </p:nvGraphicFramePr>
        <p:xfrm>
          <a:off x="6483726" y="4576243"/>
          <a:ext cx="3919816" cy="1198037"/>
        </p:xfrm>
        <a:graphic>
          <a:graphicData uri="http://schemas.openxmlformats.org/drawingml/2006/table">
            <a:tbl>
              <a:tblPr/>
              <a:tblGrid>
                <a:gridCol w="3919816">
                  <a:extLst>
                    <a:ext uri="{9D8B030D-6E8A-4147-A177-3AD203B41FA5}">
                      <a16:colId xmlns:a16="http://schemas.microsoft.com/office/drawing/2014/main" val="3050072985"/>
                    </a:ext>
                  </a:extLst>
                </a:gridCol>
              </a:tblGrid>
              <a:tr h="119803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effectLst/>
                          <a:latin typeface="Verdana" panose="020B0604030504040204" pitchFamily="34" charset="0"/>
                        </a:rPr>
                        <a:t>“</a:t>
                      </a:r>
                      <a:r>
                        <a:rPr lang="en-US" i="1" dirty="0">
                          <a:effectLst/>
                          <a:latin typeface="Verdana" panose="020B0604030504040204" pitchFamily="34" charset="0"/>
                        </a:rPr>
                        <a:t>The product writes data past the end, or before the beginning, of the intended buffer.</a:t>
                      </a:r>
                      <a:r>
                        <a:rPr lang="en-US" i="0" dirty="0">
                          <a:effectLst/>
                          <a:latin typeface="Verdana" panose="020B0604030504040204" pitchFamily="34" charset="0"/>
                        </a:rPr>
                        <a:t>”</a:t>
                      </a:r>
                      <a:r>
                        <a:rPr lang="en-US" sz="1200" i="0" baseline="-25000" dirty="0">
                          <a:effectLst/>
                          <a:latin typeface="Verdana" panose="020B0604030504040204" pitchFamily="34" charset="0"/>
                        </a:rPr>
                        <a:t>[3]</a:t>
                      </a:r>
                      <a:endParaRPr lang="en-US" i="1" baseline="-250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503797"/>
                  </a:ext>
                </a:extLst>
              </a:tr>
            </a:tbl>
          </a:graphicData>
        </a:graphic>
      </p:graphicFrame>
      <p:sp>
        <p:nvSpPr>
          <p:cNvPr id="25" name="Textfeld 24">
            <a:extLst>
              <a:ext uri="{FF2B5EF4-FFF2-40B4-BE49-F238E27FC236}">
                <a16:creationId xmlns:a16="http://schemas.microsoft.com/office/drawing/2014/main" id="{BDC2007B-C6BF-F967-A89A-BE8AF506A4B2}"/>
              </a:ext>
            </a:extLst>
          </p:cNvPr>
          <p:cNvSpPr txBox="1"/>
          <p:nvPr/>
        </p:nvSpPr>
        <p:spPr>
          <a:xfrm>
            <a:off x="1092200" y="5899150"/>
            <a:ext cx="9642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[1] </a:t>
            </a:r>
            <a:r>
              <a:rPr lang="de-DE" sz="800" dirty="0">
                <a:hlinkClick r:id="rId7"/>
              </a:rPr>
              <a:t>https://cwe.mitre.org/top25/archive/2025/2025_kev_list.html</a:t>
            </a:r>
            <a:r>
              <a:rPr lang="de-DE" sz="800" dirty="0"/>
              <a:t> </a:t>
            </a:r>
          </a:p>
          <a:p>
            <a:r>
              <a:rPr lang="de-DE" sz="800" dirty="0"/>
              <a:t>[2] </a:t>
            </a:r>
            <a:r>
              <a:rPr lang="de-DE" sz="800" dirty="0">
                <a:hlinkClick r:id="rId8"/>
              </a:rPr>
              <a:t>https://cwe.mitre.org/data/definitions/416.html</a:t>
            </a:r>
            <a:r>
              <a:rPr lang="de-DE" sz="800" dirty="0"/>
              <a:t> </a:t>
            </a:r>
          </a:p>
          <a:p>
            <a:r>
              <a:rPr lang="de-DE" sz="800" dirty="0"/>
              <a:t>[3] </a:t>
            </a:r>
            <a:r>
              <a:rPr lang="de-DE" sz="800" dirty="0">
                <a:hlinkClick r:id="rId9"/>
              </a:rPr>
              <a:t>https://cwe.mitre.org/data/definitions/787.html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705924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42B86BA-552B-9F47-9A36-93C7D857A5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19CDC85-0E83-A6CD-80F3-C391078473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83AB729-E7CA-331A-FDDA-4D04077EA6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95BF6AF-32DB-5E41-BBAE-DCEA0DDE019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90767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The most common vulnerabilities have one thing in common: </a:t>
            </a:r>
            <a:r>
              <a:rPr lang="en-US" b="1" dirty="0"/>
              <a:t>They are all related to Memory Safety issues.</a:t>
            </a:r>
          </a:p>
        </p:txBody>
      </p:sp>
      <p:pic>
        <p:nvPicPr>
          <p:cNvPr id="7" name="Grafik 6" descr="Percent of 2025 CWE Top 10 KEV Weaknesses by CWE Category">
            <a:extLst>
              <a:ext uri="{FF2B5EF4-FFF2-40B4-BE49-F238E27FC236}">
                <a16:creationId xmlns:a16="http://schemas.microsoft.com/office/drawing/2014/main" id="{7F8FBA32-2471-4FF9-1C08-BB15354C9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787" y="2251291"/>
            <a:ext cx="6938424" cy="307296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C5FA8F9B-010D-DB7B-CEB1-0BDE0B858A14}"/>
              </a:ext>
            </a:extLst>
          </p:cNvPr>
          <p:cNvSpPr txBox="1"/>
          <p:nvPr/>
        </p:nvSpPr>
        <p:spPr>
          <a:xfrm>
            <a:off x="9499235" y="5111760"/>
            <a:ext cx="3683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[4]</a:t>
            </a:r>
            <a:endParaRPr lang="en-US" sz="12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4755242-601B-59F2-93E3-572516D0E31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[4] </a:t>
            </a:r>
            <a:r>
              <a:rPr lang="de-DE" sz="800" dirty="0">
                <a:hlinkClick r:id="rId4"/>
              </a:rPr>
              <a:t>https://cwe.mitre.org/top25/archive/2025/2025_kev_insights.html#2025_kev_pie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694922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8BC1987-F7B3-7D3B-1692-15F6475B6A9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8EF1000-EF3F-F84E-7052-E858E5A0AD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9E488F8-05BC-AB06-106B-3BB67E1A721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1911DE0-88E2-57A4-C35A-7B8938F34A5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8606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/>
              <a:t>What is Memory Safety?</a:t>
            </a:r>
          </a:p>
          <a:p>
            <a:pPr marL="0" indent="0">
              <a:buNone/>
            </a:pPr>
            <a:endParaRPr lang="en-US" sz="7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AB8013-3F20-4599-9997-F7A39F9FA3F4}"/>
              </a:ext>
            </a:extLst>
          </p:cNvPr>
          <p:cNvSpPr txBox="1"/>
          <p:nvPr/>
        </p:nvSpPr>
        <p:spPr>
          <a:xfrm>
            <a:off x="1203513" y="1808627"/>
            <a:ext cx="101502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a program contains any of the following memory access errors, it is classified as not memory safe:</a:t>
            </a:r>
            <a:r>
              <a:rPr lang="de-DE" sz="1200" baseline="-25000" dirty="0"/>
              <a:t>[5]</a:t>
            </a:r>
            <a:endParaRPr lang="en-US" baseline="-25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C0DE04A-2B18-7DDB-19BD-5E622983E285}"/>
              </a:ext>
            </a:extLst>
          </p:cNvPr>
          <p:cNvSpPr txBox="1"/>
          <p:nvPr/>
        </p:nvSpPr>
        <p:spPr>
          <a:xfrm>
            <a:off x="2871155" y="2312892"/>
            <a:ext cx="6716390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Out-of-bounds Write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Out-of-bounds Read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b="1" dirty="0"/>
              <a:t>Use After Free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Use of uninitialized Memory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4000" dirty="0"/>
              <a:t>Double Free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0DE1FB-C0DE-7206-6CAB-CA20C19D1AA2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[5] </a:t>
            </a:r>
            <a:r>
              <a:rPr lang="de-DE" sz="800" dirty="0">
                <a:hlinkClick r:id="rId3"/>
              </a:rPr>
              <a:t>https://ieeexplore.ieee.org/document/6547101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873819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A0B27-01B3-FCA9-5D0F-3F2053C5F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0C1ADC2-7BFE-450C-F24D-98ED5257546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D04ED48-D656-A2E8-6CFD-377D803CE6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0610804-FF00-FEE6-EC8E-C04E71193C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32B67C7-2B48-A77C-6C59-215F485165FD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B18B223-840D-9230-1868-705851EB3D76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19BCB93-88F1-8C97-0FEA-2732BE90D4EC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pattFill prst="ltUpDiag">
            <a:fgClr>
              <a:srgbClr val="64378C"/>
            </a:fgClr>
            <a:bgClr>
              <a:schemeClr val="bg1"/>
            </a:bgClr>
          </a:patt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sizeof</a:t>
            </a:r>
            <a:r>
              <a:rPr lang="en-US" dirty="0">
                <a:solidFill>
                  <a:schemeClr val="tx1"/>
                </a:solidFill>
              </a:rPr>
              <a:t>(int)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CA38C32E-3687-D43C-4164-F4A1AC11F033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EA72AA09-586F-4082-5C52-85968FEEC472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33CBAC7-0135-0D24-8B2B-374779F3D66D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pic>
        <p:nvPicPr>
          <p:cNvPr id="12" name="Grafik 11" descr="Marke 1 Silhouette">
            <a:extLst>
              <a:ext uri="{FF2B5EF4-FFF2-40B4-BE49-F238E27FC236}">
                <a16:creationId xmlns:a16="http://schemas.microsoft.com/office/drawing/2014/main" id="{EF8342BC-9F11-B417-E080-FFD1AC0E2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4388" y="4106578"/>
            <a:ext cx="305740" cy="30574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E956ADAB-23D2-2A38-19ED-3959A9CD5025}"/>
              </a:ext>
            </a:extLst>
          </p:cNvPr>
          <p:cNvSpPr txBox="1"/>
          <p:nvPr/>
        </p:nvSpPr>
        <p:spPr>
          <a:xfrm>
            <a:off x="8237898" y="4074782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FEC6743A-3C27-B8E6-06D3-19EAF1E06E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D38D281-157C-CB30-10C1-E1161DC14A0F}"/>
              </a:ext>
            </a:extLst>
          </p:cNvPr>
          <p:cNvSpPr/>
          <p:nvPr/>
        </p:nvSpPr>
        <p:spPr>
          <a:xfrm>
            <a:off x="1203512" y="2953090"/>
            <a:ext cx="3790019" cy="2133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6012B8E-986E-2336-9CB5-86EF1C06EBAB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456657D8-44BE-D6EF-464C-6D0C43792803}"/>
              </a:ext>
            </a:extLst>
          </p:cNvPr>
          <p:cNvSpPr/>
          <p:nvPr/>
        </p:nvSpPr>
        <p:spPr>
          <a:xfrm>
            <a:off x="1434095" y="2742051"/>
            <a:ext cx="3559436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C499F8B0-8BEE-7C22-B1D5-D95C9151A830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1203512" y="2838110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592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3B744-EAEF-71A8-F74A-44625796C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62A0E10-6571-6B48-C45A-D0E6E7D493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26BDA99-AF56-7290-3614-0AAAD5F3D3C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2BA2DE7-6183-9CFF-76A2-37308D6AC3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BF1C482-BE87-F5EE-16E5-61F21B50F5A1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735F3D7-5AD7-B4A5-F9FD-60A7877B6E4A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C1101C0-B709-F23F-E9DB-D82BDFB00543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cxnSp>
        <p:nvCxnSpPr>
          <p:cNvPr id="8" name="Verbinder: gekrümmt 7">
            <a:extLst>
              <a:ext uri="{FF2B5EF4-FFF2-40B4-BE49-F238E27FC236}">
                <a16:creationId xmlns:a16="http://schemas.microsoft.com/office/drawing/2014/main" id="{7DEB08A1-FF95-2622-15CD-BE2CDAA2AA28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6840166" y="3320591"/>
            <a:ext cx="1511029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2F3E7F3-92AE-FD40-1BF3-6ECB47D170A7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A651B28-BA6B-4F6A-3763-8FB1BA68649B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69389B8-5227-58CB-777D-1AD12E3500BF}"/>
              </a:ext>
            </a:extLst>
          </p:cNvPr>
          <p:cNvSpPr txBox="1"/>
          <p:nvPr/>
        </p:nvSpPr>
        <p:spPr>
          <a:xfrm>
            <a:off x="8237898" y="4074782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Initialize Memory Unit</a:t>
            </a:r>
          </a:p>
        </p:txBody>
      </p:sp>
      <p:pic>
        <p:nvPicPr>
          <p:cNvPr id="14" name="Grafik 13" descr="Abzeichen Silhouette">
            <a:extLst>
              <a:ext uri="{FF2B5EF4-FFF2-40B4-BE49-F238E27FC236}">
                <a16:creationId xmlns:a16="http://schemas.microsoft.com/office/drawing/2014/main" id="{D314831E-90EB-8A94-D4B3-D941F40DD3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34388" y="4106578"/>
            <a:ext cx="305740" cy="30574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D3011AC4-93D7-4D1A-CDCC-BE369B3A7D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F82B3E41-2DA2-D141-4471-93FF7D1402B2}"/>
              </a:ext>
            </a:extLst>
          </p:cNvPr>
          <p:cNvSpPr/>
          <p:nvPr/>
        </p:nvSpPr>
        <p:spPr>
          <a:xfrm>
            <a:off x="1203512" y="3136900"/>
            <a:ext cx="3790019" cy="203149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C21C7140-943E-3360-D800-8C80585E6BCB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3477CF50-6C5E-1601-4F24-918CF7DCD4F6}"/>
              </a:ext>
            </a:extLst>
          </p:cNvPr>
          <p:cNvSpPr/>
          <p:nvPr/>
        </p:nvSpPr>
        <p:spPr>
          <a:xfrm>
            <a:off x="1434095" y="2919669"/>
            <a:ext cx="1999839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DE87BB29-360C-B83C-BB3F-7D4E54EFC137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1203512" y="3015728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837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3EA85-CCC6-0AD4-21FE-81076831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88EB1B5-4AAE-15D6-5D4D-AA54EC122E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58B47B-5730-4231-6BB1-C2AA0BE7F4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BBDF940-2000-864A-1CCA-20F2C36BD4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E83B090-EE75-D8FB-61AE-E60FB6787F67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82B3209-E2F9-6EA3-82EE-78F06BDF6CB4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6ADA824-D2C7-430D-7E08-849416AE2FA8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21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EA8B0E2-3B39-9B05-A689-FB43015A5ADD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B167D92D-9608-39BC-C907-FECEBA889A98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E32E076E-0494-FD2D-7CF4-45D8F62E8EC5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F6FD896-5060-3E43-D0C9-FFEC160DC53A}"/>
              </a:ext>
            </a:extLst>
          </p:cNvPr>
          <p:cNvSpPr txBox="1"/>
          <p:nvPr/>
        </p:nvSpPr>
        <p:spPr>
          <a:xfrm>
            <a:off x="9056335" y="3736576"/>
            <a:ext cx="2664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Assign another Pointer to</a:t>
            </a:r>
          </a:p>
          <a:p>
            <a:r>
              <a:rPr lang="en-US" dirty="0"/>
              <a:t>the same Memory Unit</a:t>
            </a:r>
          </a:p>
        </p:txBody>
      </p:sp>
      <p:pic>
        <p:nvPicPr>
          <p:cNvPr id="21" name="Grafik 20" descr="Marke 3 Silhouette">
            <a:extLst>
              <a:ext uri="{FF2B5EF4-FFF2-40B4-BE49-F238E27FC236}">
                <a16:creationId xmlns:a16="http://schemas.microsoft.com/office/drawing/2014/main" id="{D145E394-6988-06DC-6FB6-54F53D9FE1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36114" y="3906871"/>
            <a:ext cx="305740" cy="30574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7E3E15A5-DEBF-CAD0-7340-5B8F85897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B93CC4AD-D522-5304-B56B-F04CB9C3B28D}"/>
              </a:ext>
            </a:extLst>
          </p:cNvPr>
          <p:cNvSpPr/>
          <p:nvPr/>
        </p:nvSpPr>
        <p:spPr>
          <a:xfrm>
            <a:off x="1203512" y="3479800"/>
            <a:ext cx="3790019" cy="1625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6F81D08-614F-3FDF-A9FC-081623BC3855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cxnSp>
        <p:nvCxnSpPr>
          <p:cNvPr id="42" name="Verbinder: gekrümmt 41">
            <a:extLst>
              <a:ext uri="{FF2B5EF4-FFF2-40B4-BE49-F238E27FC236}">
                <a16:creationId xmlns:a16="http://schemas.microsoft.com/office/drawing/2014/main" id="{3C82C4B6-5A5D-8204-89CF-0D41D9D016B7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Verbinder: gekrümmt 45">
            <a:extLst>
              <a:ext uri="{FF2B5EF4-FFF2-40B4-BE49-F238E27FC236}">
                <a16:creationId xmlns:a16="http://schemas.microsoft.com/office/drawing/2014/main" id="{08879635-493C-17E5-49AA-658F3C5BCC96}"/>
              </a:ext>
            </a:extLst>
          </p:cNvPr>
          <p:cNvCxnSpPr>
            <a:cxnSpLocks/>
            <a:stCxn id="12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hteck: abgerundete Ecken 57">
            <a:extLst>
              <a:ext uri="{FF2B5EF4-FFF2-40B4-BE49-F238E27FC236}">
                <a16:creationId xmlns:a16="http://schemas.microsoft.com/office/drawing/2014/main" id="{2EB2515E-4517-4739-9A56-85BA9A5BF66A}"/>
              </a:ext>
            </a:extLst>
          </p:cNvPr>
          <p:cNvSpPr/>
          <p:nvPr/>
        </p:nvSpPr>
        <p:spPr>
          <a:xfrm>
            <a:off x="1434095" y="3281480"/>
            <a:ext cx="287476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1B3EF089-6D53-69CC-B92A-606CB80DFA5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1203512" y="337753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9787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39996-F056-ABAE-F8B2-B06527AD3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C71423B-1A34-662B-69DA-AF0BF5F51D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4FC6009-463D-CEA4-11B4-6B73160EDF4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0E1BBA4-B8F4-ED9D-9141-7A2380B37B7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E480642D-ADC9-2E93-877E-3DB80E2F8A83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2C767A4-4837-E91E-8BFB-509D6A8B9273}"/>
              </a:ext>
            </a:extLst>
          </p:cNvPr>
          <p:cNvSpPr txBox="1"/>
          <p:nvPr/>
        </p:nvSpPr>
        <p:spPr>
          <a:xfrm>
            <a:off x="5635184" y="3675643"/>
            <a:ext cx="1941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Free Memory Unit</a:t>
            </a:r>
          </a:p>
        </p:txBody>
      </p:sp>
      <p:pic>
        <p:nvPicPr>
          <p:cNvPr id="15" name="Grafik 14" descr="Marke 4 Silhouette">
            <a:extLst>
              <a:ext uri="{FF2B5EF4-FFF2-40B4-BE49-F238E27FC236}">
                <a16:creationId xmlns:a16="http://schemas.microsoft.com/office/drawing/2014/main" id="{DC6146E6-6BC8-D034-F7B3-14FD894A52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9059" y="3707439"/>
            <a:ext cx="305740" cy="30574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F9F8FB9B-535D-B255-042E-6D4C714933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352C46A4-FAF8-0EC1-216E-8A46497B6F26}"/>
              </a:ext>
            </a:extLst>
          </p:cNvPr>
          <p:cNvSpPr/>
          <p:nvPr/>
        </p:nvSpPr>
        <p:spPr>
          <a:xfrm>
            <a:off x="1203512" y="3868108"/>
            <a:ext cx="3790019" cy="12372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14F1127-8F0A-8AE6-4EEA-9FF74489F187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7123211A-401C-1A4E-F95D-8E7F9FEF116C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FF4D6E3F-1E7A-710F-0CCA-6EB70953E0E3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005B7466-8F71-69B4-573F-FC927ACF3891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54D7DA6A-A636-EEFD-BF0B-DCDADA0063D6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cxnSp>
        <p:nvCxnSpPr>
          <p:cNvPr id="25" name="Verbinder: gekrümmt 24">
            <a:extLst>
              <a:ext uri="{FF2B5EF4-FFF2-40B4-BE49-F238E27FC236}">
                <a16:creationId xmlns:a16="http://schemas.microsoft.com/office/drawing/2014/main" id="{87BA21F7-EF79-E87B-446C-6A7B2AF5CD81}"/>
              </a:ext>
            </a:extLst>
          </p:cNvPr>
          <p:cNvCxnSpPr>
            <a:cxnSpLocks/>
            <a:stCxn id="24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Verbinder: gekrümmt 25">
            <a:extLst>
              <a:ext uri="{FF2B5EF4-FFF2-40B4-BE49-F238E27FC236}">
                <a16:creationId xmlns:a16="http://schemas.microsoft.com/office/drawing/2014/main" id="{17F59B82-6D85-26DF-CD28-2D559EC8DA2E}"/>
              </a:ext>
            </a:extLst>
          </p:cNvPr>
          <p:cNvCxnSpPr>
            <a:cxnSpLocks/>
            <a:stCxn id="23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184D9016-6818-4C9B-AD59-27F86F627353}"/>
              </a:ext>
            </a:extLst>
          </p:cNvPr>
          <p:cNvSpPr/>
          <p:nvPr/>
        </p:nvSpPr>
        <p:spPr>
          <a:xfrm>
            <a:off x="1374889" y="3636716"/>
            <a:ext cx="208535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893200F2-950A-539C-27D3-23D5E3A7A312}"/>
              </a:ext>
            </a:extLst>
          </p:cNvPr>
          <p:cNvCxnSpPr>
            <a:cxnSpLocks/>
            <a:endCxn id="29" idx="1"/>
          </p:cNvCxnSpPr>
          <p:nvPr/>
        </p:nvCxnSpPr>
        <p:spPr>
          <a:xfrm>
            <a:off x="1144306" y="3732775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4886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7BFAA-2229-5D5D-B213-7E9C34968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0D00F64-969F-7C6C-19F8-128B4B220E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09EEEAB-AB18-3E55-D10F-532738FAD4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6BE5EC-01C8-F3C5-459A-25E75A3772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985C9A8-1C45-9620-E60B-E1B089F2D2B5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4E6D3BD-7AD0-674E-D1DE-B176D02D50EC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04DD964-4055-C82A-5167-9B77BEA5048B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80367B2-1F70-251E-BE8C-06430EF6065E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87A8269E-1FBC-D579-BF70-AFE536901F43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E8FCA545-42B8-0A69-416C-1426503E77B1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16C91346-BFE5-46CC-4A96-746AE63A3A8B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D0A76C9A-E55F-9387-9282-B5CD130B901F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pattFill prst="ltUpDiag">
            <a:fgClr>
              <a:srgbClr val="64378C"/>
            </a:fgClr>
            <a:bgClr>
              <a:schemeClr val="bg1"/>
            </a:bgClr>
          </a:patt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sizeof</a:t>
            </a:r>
            <a:r>
              <a:rPr lang="en-US" dirty="0">
                <a:solidFill>
                  <a:schemeClr val="tx1"/>
                </a:solidFill>
              </a:rPr>
              <a:t>(int)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7A4F7373-82B3-C463-1DC2-D2067AEC6B68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1E4C5196-4971-4B8B-FD19-D28EC4670E86}"/>
              </a:ext>
            </a:extLst>
          </p:cNvPr>
          <p:cNvCxnSpPr>
            <a:cxnSpLocks/>
            <a:stCxn id="23" idx="6"/>
            <a:endCxn id="22" idx="2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Grafik 26" descr="Marke 4 Silhouette">
            <a:extLst>
              <a:ext uri="{FF2B5EF4-FFF2-40B4-BE49-F238E27FC236}">
                <a16:creationId xmlns:a16="http://schemas.microsoft.com/office/drawing/2014/main" id="{3C17A492-49C9-2B19-BFA2-9AA4E2A367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36611" y="5820512"/>
            <a:ext cx="305740" cy="305740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B868ACDB-7330-3AC3-6C54-02BC55BB1815}"/>
              </a:ext>
            </a:extLst>
          </p:cNvPr>
          <p:cNvSpPr txBox="1"/>
          <p:nvPr/>
        </p:nvSpPr>
        <p:spPr>
          <a:xfrm>
            <a:off x="7754454" y="5788716"/>
            <a:ext cx="2323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Allocate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9F1DD015-ABB5-4D82-C1F4-6897586A4F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BEE7950F-560B-55F6-DD0B-28F533170BC5}"/>
              </a:ext>
            </a:extLst>
          </p:cNvPr>
          <p:cNvSpPr/>
          <p:nvPr/>
        </p:nvSpPr>
        <p:spPr>
          <a:xfrm>
            <a:off x="1203512" y="4183873"/>
            <a:ext cx="3790019" cy="9215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66365615-67F7-6BB6-1FC7-56E341C251F6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F5DBD063-FC55-0C6D-A10D-F2C62E05A7BA}"/>
              </a:ext>
            </a:extLst>
          </p:cNvPr>
          <p:cNvSpPr/>
          <p:nvPr/>
        </p:nvSpPr>
        <p:spPr>
          <a:xfrm>
            <a:off x="1374889" y="4005105"/>
            <a:ext cx="3618642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9404F40F-1158-7BFF-F5C8-6F7D47C61DC7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1144306" y="4101164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573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A586-079C-C971-51F1-DFCE7EB7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694A8C0-AD69-D216-2260-35FFB5858A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C95E4E0-3BF7-E0C3-9386-24A8D65757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FB4B5FC-A927-5BF4-656B-44F663B8655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7E871D1-F038-2516-69C3-93F7E2B97CA1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75C63A2-098C-4989-9E38-C849908F50B2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2F507402-5359-22AF-26DE-947B412865DF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801B8F3B-53DE-5E21-5086-B5BAD54BF948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2E588C64-36F4-6352-107C-740320384DB7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2B823A9C-B4D5-DACC-08EA-EF018D873E0B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DCDB94DE-4AEA-1AAE-BA34-5E78525E1B1E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C50D1623-9346-3159-A8A3-AECB55AB1201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59168FFE-7217-721C-85B3-8335B2AD6738}"/>
              </a:ext>
            </a:extLst>
          </p:cNvPr>
          <p:cNvCxnSpPr>
            <a:cxnSpLocks/>
            <a:stCxn id="23" idx="6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BF9C7B30-7925-1557-8861-141428CF189E}"/>
              </a:ext>
            </a:extLst>
          </p:cNvPr>
          <p:cNvSpPr txBox="1"/>
          <p:nvPr/>
        </p:nvSpPr>
        <p:spPr>
          <a:xfrm>
            <a:off x="7754454" y="5788716"/>
            <a:ext cx="2331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Initialize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F4D9C867-B679-27DB-3E1A-9E1FB79D6F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C306E47E-6956-DADD-40C5-0F47B81BBD25}"/>
              </a:ext>
            </a:extLst>
          </p:cNvPr>
          <p:cNvSpPr/>
          <p:nvPr/>
        </p:nvSpPr>
        <p:spPr>
          <a:xfrm>
            <a:off x="1203512" y="4381227"/>
            <a:ext cx="3790019" cy="7241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E2D17B8-AD1A-A97C-514F-1DBC3639B83C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pic>
        <p:nvPicPr>
          <p:cNvPr id="12" name="Grafik 11" descr="Marke 5 Silhouette">
            <a:extLst>
              <a:ext uri="{FF2B5EF4-FFF2-40B4-BE49-F238E27FC236}">
                <a16:creationId xmlns:a16="http://schemas.microsoft.com/office/drawing/2014/main" id="{FE364C65-015F-4DF2-7AB2-A81BF710F1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60088" y="5820512"/>
            <a:ext cx="305740" cy="305740"/>
          </a:xfrm>
          <a:prstGeom prst="rect">
            <a:avLst/>
          </a:prstGeom>
        </p:spPr>
      </p:pic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DD489B-D074-EDEC-F3C0-F99B20B24B88}"/>
              </a:ext>
            </a:extLst>
          </p:cNvPr>
          <p:cNvSpPr/>
          <p:nvPr/>
        </p:nvSpPr>
        <p:spPr>
          <a:xfrm>
            <a:off x="1374889" y="4182720"/>
            <a:ext cx="2053587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029DD77F-A9BF-2C8F-E2C7-6A8DE1E477FD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1144306" y="427877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03335E0A-651C-FA6D-ABF8-317FFC20E99C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040770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230E7-CF46-2CFF-BAB1-3973119B3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8F0DB46-E4B1-BE3F-2840-52C8940264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F40070A-A078-2293-834B-EB7181085C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0C576B2-AF87-1FB9-586D-BC5B773309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7CA1FB7-3E95-0C94-D1DF-F25E7945C194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Use After Free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AC301F6-97AC-3BD9-5F09-71FDD53F7BFF}"/>
              </a:ext>
            </a:extLst>
          </p:cNvPr>
          <p:cNvSpPr/>
          <p:nvPr/>
        </p:nvSpPr>
        <p:spPr>
          <a:xfrm>
            <a:off x="7250348" y="2406191"/>
            <a:ext cx="3456562" cy="914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27EDADDB-A015-4B95-77F4-C61E619F7278}"/>
              </a:ext>
            </a:extLst>
          </p:cNvPr>
          <p:cNvCxnSpPr>
            <a:cxnSpLocks/>
          </p:cNvCxnSpPr>
          <p:nvPr/>
        </p:nvCxnSpPr>
        <p:spPr>
          <a:xfrm>
            <a:off x="7250348" y="2197067"/>
            <a:ext cx="345656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FDF50D20-110D-A77A-3650-526BCAF703F3}"/>
              </a:ext>
            </a:extLst>
          </p:cNvPr>
          <p:cNvSpPr txBox="1"/>
          <p:nvPr/>
        </p:nvSpPr>
        <p:spPr>
          <a:xfrm>
            <a:off x="8187258" y="1803278"/>
            <a:ext cx="1582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Heap Memory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B1D3D365-59EF-E7FA-2C8B-B1D094E3B6CB}"/>
              </a:ext>
            </a:extLst>
          </p:cNvPr>
          <p:cNvSpPr/>
          <p:nvPr/>
        </p:nvSpPr>
        <p:spPr>
          <a:xfrm>
            <a:off x="9141854" y="5075495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buffer_ptr2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77154F65-24E2-4EC4-F9E3-F448D3C25AAC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6840166" y="3320591"/>
            <a:ext cx="1130105" cy="1340341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70A37690-EEB0-F368-4E17-87B4FC226FF6}"/>
              </a:ext>
            </a:extLst>
          </p:cNvPr>
          <p:cNvCxnSpPr>
            <a:cxnSpLocks/>
            <a:stCxn id="18" idx="2"/>
          </p:cNvCxnSpPr>
          <p:nvPr/>
        </p:nvCxnSpPr>
        <p:spPr>
          <a:xfrm rot="10800000">
            <a:off x="8735514" y="3312271"/>
            <a:ext cx="406340" cy="2099767"/>
          </a:xfrm>
          <a:prstGeom prst="curvedConnector2">
            <a:avLst/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A688C07E-2631-EBF9-AE9E-D8E3494C0ED1}"/>
              </a:ext>
            </a:extLst>
          </p:cNvPr>
          <p:cNvSpPr/>
          <p:nvPr/>
        </p:nvSpPr>
        <p:spPr>
          <a:xfrm>
            <a:off x="5558584" y="5498311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buffer_ptr3</a:t>
            </a:r>
          </a:p>
        </p:txBody>
      </p:sp>
      <p:cxnSp>
        <p:nvCxnSpPr>
          <p:cNvPr id="24" name="Verbinder: gekrümmt 23">
            <a:extLst>
              <a:ext uri="{FF2B5EF4-FFF2-40B4-BE49-F238E27FC236}">
                <a16:creationId xmlns:a16="http://schemas.microsoft.com/office/drawing/2014/main" id="{25C1E508-7E70-C02B-296E-E81674BB504F}"/>
              </a:ext>
            </a:extLst>
          </p:cNvPr>
          <p:cNvCxnSpPr>
            <a:cxnSpLocks/>
            <a:stCxn id="23" idx="6"/>
          </p:cNvCxnSpPr>
          <p:nvPr/>
        </p:nvCxnSpPr>
        <p:spPr>
          <a:xfrm flipV="1">
            <a:off x="7405218" y="3320591"/>
            <a:ext cx="945977" cy="251426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6C0C1359-E227-CF41-2AB7-466A0C1B205B}"/>
              </a:ext>
            </a:extLst>
          </p:cNvPr>
          <p:cNvSpPr txBox="1"/>
          <p:nvPr/>
        </p:nvSpPr>
        <p:spPr>
          <a:xfrm>
            <a:off x="9054959" y="3906271"/>
            <a:ext cx="20204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Access previously </a:t>
            </a:r>
          </a:p>
          <a:p>
            <a:r>
              <a:rPr lang="en-US" dirty="0"/>
              <a:t>freed Memory Unit</a:t>
            </a:r>
          </a:p>
        </p:txBody>
      </p:sp>
      <p:pic>
        <p:nvPicPr>
          <p:cNvPr id="29" name="Grafik 28">
            <a:extLst>
              <a:ext uri="{FF2B5EF4-FFF2-40B4-BE49-F238E27FC236}">
                <a16:creationId xmlns:a16="http://schemas.microsoft.com/office/drawing/2014/main" id="{BEC4D6A2-5AF0-5B88-37FC-669253BB0C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56196"/>
            <a:ext cx="4562475" cy="4162425"/>
          </a:xfrm>
          <a:prstGeom prst="rect">
            <a:avLst/>
          </a:prstGeom>
        </p:spPr>
      </p:pic>
      <p:sp>
        <p:nvSpPr>
          <p:cNvPr id="19" name="Ellipse 18">
            <a:extLst>
              <a:ext uri="{FF2B5EF4-FFF2-40B4-BE49-F238E27FC236}">
                <a16:creationId xmlns:a16="http://schemas.microsoft.com/office/drawing/2014/main" id="{EE9BAE28-1B73-3251-4217-91B83EA646E1}"/>
              </a:ext>
            </a:extLst>
          </p:cNvPr>
          <p:cNvSpPr/>
          <p:nvPr/>
        </p:nvSpPr>
        <p:spPr>
          <a:xfrm>
            <a:off x="4993532" y="4324390"/>
            <a:ext cx="1846634" cy="67308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buffer_ptr1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AAC0C49-6D3F-A5DF-EDCC-A4DCE4D4205A}"/>
              </a:ext>
            </a:extLst>
          </p:cNvPr>
          <p:cNvSpPr/>
          <p:nvPr/>
        </p:nvSpPr>
        <p:spPr>
          <a:xfrm>
            <a:off x="7585952" y="2406191"/>
            <a:ext cx="1530485" cy="914400"/>
          </a:xfrm>
          <a:prstGeom prst="rect">
            <a:avLst/>
          </a:prstGeom>
          <a:solidFill>
            <a:srgbClr val="64378C">
              <a:alpha val="80000"/>
            </a:srgb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42</a:t>
            </a:r>
          </a:p>
        </p:txBody>
      </p:sp>
      <p:pic>
        <p:nvPicPr>
          <p:cNvPr id="14" name="Grafik 13" descr="Marke 6 Silhouette">
            <a:extLst>
              <a:ext uri="{FF2B5EF4-FFF2-40B4-BE49-F238E27FC236}">
                <a16:creationId xmlns:a16="http://schemas.microsoft.com/office/drawing/2014/main" id="{90FBA145-8A54-B802-A4D8-0191FBA262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25628" y="4073671"/>
            <a:ext cx="306000" cy="306000"/>
          </a:xfrm>
          <a:prstGeom prst="rect">
            <a:avLst/>
          </a:prstGeom>
        </p:spPr>
      </p:pic>
      <p:pic>
        <p:nvPicPr>
          <p:cNvPr id="9" name="Grafik 8" descr="Blitz Silhouette">
            <a:extLst>
              <a:ext uri="{FF2B5EF4-FFF2-40B4-BE49-F238E27FC236}">
                <a16:creationId xmlns:a16="http://schemas.microsoft.com/office/drawing/2014/main" id="{C8F7908F-2876-7E4E-494D-8545749B8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53626" y="4478369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pic>
        <p:nvPicPr>
          <p:cNvPr id="10" name="Grafik 9" descr="Blitz Silhouette">
            <a:extLst>
              <a:ext uri="{FF2B5EF4-FFF2-40B4-BE49-F238E27FC236}">
                <a16:creationId xmlns:a16="http://schemas.microsoft.com/office/drawing/2014/main" id="{56A68814-B05A-F951-D3C9-B4BCE95ED9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988488" y="4073671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956AFEF0-6FF7-DA4A-F006-346B88638754}"/>
              </a:ext>
            </a:extLst>
          </p:cNvPr>
          <p:cNvSpPr/>
          <p:nvPr/>
        </p:nvSpPr>
        <p:spPr>
          <a:xfrm>
            <a:off x="1374889" y="4551108"/>
            <a:ext cx="273287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C687C1F-D938-7296-CD20-B53748C871DD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1144306" y="4647167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4B537FF-9B4F-BC77-EEBA-1E6C3CECC73E}"/>
              </a:ext>
            </a:extLst>
          </p:cNvPr>
          <p:cNvSpPr/>
          <p:nvPr/>
        </p:nvSpPr>
        <p:spPr>
          <a:xfrm>
            <a:off x="1427179" y="5371321"/>
            <a:ext cx="2980361" cy="43964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&gt;42</a:t>
            </a:r>
          </a:p>
        </p:txBody>
      </p:sp>
    </p:spTree>
    <p:extLst>
      <p:ext uri="{BB962C8B-B14F-4D97-AF65-F5344CB8AC3E}">
        <p14:creationId xmlns:p14="http://schemas.microsoft.com/office/powerpoint/2010/main" val="2034679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FC18A-1268-A298-47B0-6A616C5D9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12E66BC-A753-DEC9-4BBE-7FF9DF756C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CA94E3-9B78-E550-5BBC-5C01D4B8E1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A6662FA-B02C-D652-9C77-867E3B41D2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3E36E59-7E3F-6F0F-FAFD-5E3CFC7B0EB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820A03-6D07-1808-8E58-9090672CB76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7D48AE71-9A14-793A-A3DC-4CB33E9A1856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5CE047D-1808-1434-1D68-473A1D03276B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108FC136-39C3-E3FB-9385-94034A54E7F2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E3899F3-E78B-E03D-9C0B-88F6B76DEBF2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416F9DB-FE97-9B18-ECCE-FBA23D02E50F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C6168B6-5B9E-85D2-D8BE-9665AD30C038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5B53546-076A-A51A-BAF8-970C303397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8540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59E1AEF7-015D-C5BE-2AF7-E5B398BC473A}"/>
              </a:ext>
            </a:extLst>
          </p:cNvPr>
          <p:cNvSpPr/>
          <p:nvPr/>
        </p:nvSpPr>
        <p:spPr>
          <a:xfrm>
            <a:off x="1203512" y="3522375"/>
            <a:ext cx="3790019" cy="15830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2BAF153D-2675-F85E-C421-DE3DEBDAB182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FE6FD1F6-145B-CA61-5828-3EA8859C4839}"/>
              </a:ext>
            </a:extLst>
          </p:cNvPr>
          <p:cNvSpPr/>
          <p:nvPr/>
        </p:nvSpPr>
        <p:spPr>
          <a:xfrm>
            <a:off x="1434095" y="3319225"/>
            <a:ext cx="1568509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384B2590-B48D-5EF0-E90D-69DCF0BF699C}"/>
              </a:ext>
            </a:extLst>
          </p:cNvPr>
          <p:cNvCxnSpPr>
            <a:cxnSpLocks/>
            <a:endCxn id="32" idx="1"/>
          </p:cNvCxnSpPr>
          <p:nvPr/>
        </p:nvCxnSpPr>
        <p:spPr>
          <a:xfrm>
            <a:off x="1203512" y="3415284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88143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493B4-7564-62EA-AA54-FDA7FB6C7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C303287-BE23-5DA7-0F27-C049FDD5CB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36034F-2ADD-9C53-F8AC-9E8CA7A528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A952C03-FD2B-DE72-7023-57B2C381F73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CFC08E1-5D30-BEDD-36F3-8D5A02268823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AB70FAE-EF7A-5137-7478-A2F01471AC31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AC553D7-C0C7-49AA-2A54-1BAC6DCDD44C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2A99F2DC-8C72-2878-657D-CADB4D1EFC16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7840C0CB-AD71-1233-B2A4-B0D570025428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6A7DA580-3ACD-B660-9047-CBF09250A3B1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F569C8C-4682-0E0C-B573-5CEAD6AE1C38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2D7E4C1-6BDF-B8B3-20F1-E4B179B7B514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183D153-5056-1EF5-D1F6-545BED6ADD28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76B6573-840C-65ED-F8C1-D0DB5ED5D9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6735E6C7-463F-9DE0-0FB6-1DF817DE69C1}"/>
              </a:ext>
            </a:extLst>
          </p:cNvPr>
          <p:cNvSpPr/>
          <p:nvPr/>
        </p:nvSpPr>
        <p:spPr>
          <a:xfrm>
            <a:off x="1203512" y="3715965"/>
            <a:ext cx="3790019" cy="13894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3DA0038-8ED1-3FAB-5707-50D68EB95169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842F551-3BB2-153D-2D2C-6C1B5BD3171C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0326D8E5-447A-A058-C5E2-076628F8CB51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6C40E5B5-DAD4-B77A-6502-05A4AFF3E2C9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9381477-6583-EE75-A5D2-AFFD3BE72F65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799D3B0-ED99-880D-7CE7-3458F00517C3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495D5E18-20A5-C10E-4AC3-E8436A7517A4}"/>
              </a:ext>
            </a:extLst>
          </p:cNvPr>
          <p:cNvSpPr/>
          <p:nvPr/>
        </p:nvSpPr>
        <p:spPr>
          <a:xfrm>
            <a:off x="1434095" y="3494320"/>
            <a:ext cx="2307811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44AC5F50-45EE-0A3D-8CDB-AEB3DF523A59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1203512" y="3590379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3088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8C680-08DA-2AC9-2A9D-DF2F4CAB7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27A5245-21D8-A7DE-AFA0-8465EC2913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D141E58-E733-4A53-CA04-5F24C483CC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96CEEF7-3933-67D2-63E8-B5C6135727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5105C3BE-031D-2A9D-62B4-44FD33C6A020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EE6EE93-2D57-1B0D-0861-82E743C50509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8359ECF-0732-AF0D-390F-FA05F4561087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99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C12F694-7CDC-4FD9-579C-E21E379A336D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38CB2041-538A-4A17-C144-38BCAD6C3500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DDCB97EF-176E-78A7-A969-5C169906D30F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C84C2B4-7C74-106A-92A8-445EB70430FD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DA6EAB5-ED38-1E46-BAD8-39211CC2C76A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CB57FD93-F05C-6298-41AB-CC149C7F7AEC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813DC8A2-3EC2-2642-269B-3DD1E596A0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19" name="Rechteck 18">
            <a:extLst>
              <a:ext uri="{FF2B5EF4-FFF2-40B4-BE49-F238E27FC236}">
                <a16:creationId xmlns:a16="http://schemas.microsoft.com/office/drawing/2014/main" id="{EDEEC9FA-1CCA-502E-99D2-729656C43FD7}"/>
              </a:ext>
            </a:extLst>
          </p:cNvPr>
          <p:cNvSpPr/>
          <p:nvPr/>
        </p:nvSpPr>
        <p:spPr>
          <a:xfrm>
            <a:off x="1203512" y="4085617"/>
            <a:ext cx="3790019" cy="10197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A2151E1-BC19-C388-9584-6280D6E09A4A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38E40F8-ED22-EF43-F39F-E9E4CD2B247F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32310471-6674-7CD4-83BA-84EED8FCCA82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AAB5EF3F-85B5-8E43-F8F8-67D1E1BCCB37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A6F45C4-DAA0-A0F3-3C4A-FE60D8B98B92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D1E18B3-080B-92E4-0C99-53542124C5F1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D87B8153-110A-4615-3DF8-15997EE0590A}"/>
              </a:ext>
            </a:extLst>
          </p:cNvPr>
          <p:cNvSpPr/>
          <p:nvPr/>
        </p:nvSpPr>
        <p:spPr>
          <a:xfrm>
            <a:off x="1374888" y="3850721"/>
            <a:ext cx="2879341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E33A07CD-DA18-BD47-734B-1953B669F111}"/>
              </a:ext>
            </a:extLst>
          </p:cNvPr>
          <p:cNvCxnSpPr>
            <a:cxnSpLocks/>
            <a:endCxn id="21" idx="1"/>
          </p:cNvCxnSpPr>
          <p:nvPr/>
        </p:nvCxnSpPr>
        <p:spPr>
          <a:xfrm>
            <a:off x="1144306" y="3946780"/>
            <a:ext cx="230582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FD993FCB-FA13-7658-1466-8F44AB4869DF}"/>
              </a:ext>
            </a:extLst>
          </p:cNvPr>
          <p:cNvSpPr/>
          <p:nvPr/>
        </p:nvSpPr>
        <p:spPr>
          <a:xfrm>
            <a:off x="1374888" y="2397578"/>
            <a:ext cx="3851208" cy="563186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981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EC52E-4AE8-0517-59F8-2F14334E8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63D499F6-2F16-3676-00C4-2F9196117F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EDC55E6-9656-C129-AAD8-3305E27904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D64AD13-B1D5-1B24-60F7-106FB7558B7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2949C74-922E-6A2E-5F18-2A43122C16BD}"/>
              </a:ext>
            </a:extLst>
          </p:cNvPr>
          <p:cNvSpPr txBox="1">
            <a:spLocks/>
          </p:cNvSpPr>
          <p:nvPr/>
        </p:nvSpPr>
        <p:spPr>
          <a:xfrm>
            <a:off x="1203513" y="941293"/>
            <a:ext cx="9856694" cy="563187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Out-of-bounds Write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B2C0B2C-F3DB-1ACC-32F5-1A1EBA60FAF3}"/>
              </a:ext>
            </a:extLst>
          </p:cNvPr>
          <p:cNvSpPr/>
          <p:nvPr/>
        </p:nvSpPr>
        <p:spPr>
          <a:xfrm>
            <a:off x="8161774" y="2086453"/>
            <a:ext cx="1171843" cy="31466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CD6931F-A402-369B-D28D-B7F451173DC7}"/>
              </a:ext>
            </a:extLst>
          </p:cNvPr>
          <p:cNvSpPr/>
          <p:nvPr/>
        </p:nvSpPr>
        <p:spPr>
          <a:xfrm>
            <a:off x="8161773" y="2299071"/>
            <a:ext cx="1171843" cy="5631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99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AC83E7D6-ED91-B6F5-3C54-80EC2D3277B2}"/>
              </a:ext>
            </a:extLst>
          </p:cNvPr>
          <p:cNvCxnSpPr>
            <a:cxnSpLocks/>
          </p:cNvCxnSpPr>
          <p:nvPr/>
        </p:nvCxnSpPr>
        <p:spPr>
          <a:xfrm>
            <a:off x="9496741" y="2086453"/>
            <a:ext cx="0" cy="314661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AC8FB692-5FB1-A37E-F2D5-AD2CA84D9378}"/>
              </a:ext>
            </a:extLst>
          </p:cNvPr>
          <p:cNvSpPr txBox="1"/>
          <p:nvPr/>
        </p:nvSpPr>
        <p:spPr>
          <a:xfrm>
            <a:off x="9578502" y="3547452"/>
            <a:ext cx="1627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Stack Memory</a:t>
            </a:r>
          </a:p>
        </p:txBody>
      </p:sp>
      <p:sp>
        <p:nvSpPr>
          <p:cNvPr id="8" name="Geschweifte Klammer links 7">
            <a:extLst>
              <a:ext uri="{FF2B5EF4-FFF2-40B4-BE49-F238E27FC236}">
                <a16:creationId xmlns:a16="http://schemas.microsoft.com/office/drawing/2014/main" id="{8DACB839-2F09-4396-7375-6095F9A34D8B}"/>
              </a:ext>
            </a:extLst>
          </p:cNvPr>
          <p:cNvSpPr/>
          <p:nvPr/>
        </p:nvSpPr>
        <p:spPr>
          <a:xfrm>
            <a:off x="7853464" y="2293978"/>
            <a:ext cx="108142" cy="56265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6E9A234-CFCC-149A-C2A4-8C190DCCEC2B}"/>
              </a:ext>
            </a:extLst>
          </p:cNvPr>
          <p:cNvSpPr txBox="1"/>
          <p:nvPr/>
        </p:nvSpPr>
        <p:spPr>
          <a:xfrm>
            <a:off x="7907535" y="5233065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Addresses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1653C6A-CAB3-BB2D-570A-01E996DB72B8}"/>
              </a:ext>
            </a:extLst>
          </p:cNvPr>
          <p:cNvSpPr txBox="1"/>
          <p:nvPr/>
        </p:nvSpPr>
        <p:spPr>
          <a:xfrm>
            <a:off x="7878674" y="1749183"/>
            <a:ext cx="1738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Addresses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3F9039C-BDA8-1C77-25E1-EE97AB89326D}"/>
              </a:ext>
            </a:extLst>
          </p:cNvPr>
          <p:cNvSpPr txBox="1"/>
          <p:nvPr/>
        </p:nvSpPr>
        <p:spPr>
          <a:xfrm>
            <a:off x="7364996" y="2390904"/>
            <a:ext cx="488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176311C-5975-1898-D0DF-2BCB2DBAC9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067" y="1472055"/>
            <a:ext cx="4781550" cy="3800475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931457A-E4A6-4E83-933E-ED7E3EB8FBBC}"/>
              </a:ext>
            </a:extLst>
          </p:cNvPr>
          <p:cNvSpPr/>
          <p:nvPr/>
        </p:nvSpPr>
        <p:spPr>
          <a:xfrm>
            <a:off x="8161773" y="3425447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EBBC0BD-E41D-63CD-C3F4-1637D745440E}"/>
              </a:ext>
            </a:extLst>
          </p:cNvPr>
          <p:cNvSpPr/>
          <p:nvPr/>
        </p:nvSpPr>
        <p:spPr>
          <a:xfrm>
            <a:off x="8161773" y="2862259"/>
            <a:ext cx="1171843" cy="563188"/>
          </a:xfrm>
          <a:prstGeom prst="rect">
            <a:avLst/>
          </a:prstGeom>
          <a:solidFill>
            <a:srgbClr val="64378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Geschweifte Klammer links 8">
            <a:extLst>
              <a:ext uri="{FF2B5EF4-FFF2-40B4-BE49-F238E27FC236}">
                <a16:creationId xmlns:a16="http://schemas.microsoft.com/office/drawing/2014/main" id="{8D38C806-65F8-BC40-DDC1-3484C2ACB226}"/>
              </a:ext>
            </a:extLst>
          </p:cNvPr>
          <p:cNvSpPr/>
          <p:nvPr/>
        </p:nvSpPr>
        <p:spPr>
          <a:xfrm>
            <a:off x="7853464" y="2856628"/>
            <a:ext cx="108142" cy="572372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schweifte Klammer links 9">
            <a:extLst>
              <a:ext uri="{FF2B5EF4-FFF2-40B4-BE49-F238E27FC236}">
                <a16:creationId xmlns:a16="http://schemas.microsoft.com/office/drawing/2014/main" id="{15A17814-C0EE-7F35-00C9-51B06A4FF635}"/>
              </a:ext>
            </a:extLst>
          </p:cNvPr>
          <p:cNvSpPr/>
          <p:nvPr/>
        </p:nvSpPr>
        <p:spPr>
          <a:xfrm>
            <a:off x="7853464" y="3425448"/>
            <a:ext cx="108142" cy="563188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1520DD8-927B-275D-1260-7E30012DF613}"/>
              </a:ext>
            </a:extLst>
          </p:cNvPr>
          <p:cNvSpPr txBox="1"/>
          <p:nvPr/>
        </p:nvSpPr>
        <p:spPr>
          <a:xfrm>
            <a:off x="7158604" y="3522375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[0]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C05DCD1-ED6D-63CD-6181-E9A3FBFF9E70}"/>
              </a:ext>
            </a:extLst>
          </p:cNvPr>
          <p:cNvSpPr txBox="1"/>
          <p:nvPr/>
        </p:nvSpPr>
        <p:spPr>
          <a:xfrm>
            <a:off x="7158605" y="2959187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arr</a:t>
            </a:r>
            <a:r>
              <a:rPr lang="en-US" dirty="0"/>
              <a:t>[1]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F46C3CE-553C-C5B2-FCE3-622DAF9659DF}"/>
              </a:ext>
            </a:extLst>
          </p:cNvPr>
          <p:cNvSpPr/>
          <p:nvPr/>
        </p:nvSpPr>
        <p:spPr>
          <a:xfrm>
            <a:off x="1427179" y="5371321"/>
            <a:ext cx="2980361" cy="439643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&gt;99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F9A24740-A5BC-D52F-39E6-D42DFCAE067C}"/>
              </a:ext>
            </a:extLst>
          </p:cNvPr>
          <p:cNvSpPr/>
          <p:nvPr/>
        </p:nvSpPr>
        <p:spPr>
          <a:xfrm>
            <a:off x="1374889" y="4213888"/>
            <a:ext cx="2085358" cy="192118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23D7656-6D06-99D8-5B2E-F7877DE5C2CA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1144306" y="4309947"/>
            <a:ext cx="230583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Grafik 21" descr="Blitz Silhouette">
            <a:extLst>
              <a:ext uri="{FF2B5EF4-FFF2-40B4-BE49-F238E27FC236}">
                <a16:creationId xmlns:a16="http://schemas.microsoft.com/office/drawing/2014/main" id="{652BD652-D1E2-E6F4-E0EC-38651E3599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40808" y="4127384"/>
            <a:ext cx="365125" cy="365125"/>
          </a:xfrm>
          <a:prstGeom prst="rect">
            <a:avLst/>
          </a:prstGeom>
          <a:effectLst>
            <a:outerShdw blurRad="50800" dist="50800" dir="5400000" algn="ctr" rotWithShape="0">
              <a:srgbClr val="FF0000"/>
            </a:outerShdw>
          </a:effectLst>
        </p:spPr>
      </p:pic>
    </p:spTree>
    <p:extLst>
      <p:ext uri="{BB962C8B-B14F-4D97-AF65-F5344CB8AC3E}">
        <p14:creationId xmlns:p14="http://schemas.microsoft.com/office/powerpoint/2010/main" val="431349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3" grpId="0"/>
      <p:bldP spid="1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D8F18-65F3-D852-76B4-FD39683F2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16BFE0C-E54E-31A5-B1EF-A78E93DB92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1760FE-10D8-E071-8A1C-8F99E12EE2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7D4A55C-81E8-25A9-FD4E-5B288D0948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6989FF3-7089-5B87-8E78-25BFC8206D6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3"/>
            <a:ext cx="9856694" cy="55676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600" dirty="0"/>
              <a:t>Consequences of this Behavior</a:t>
            </a:r>
            <a:endParaRPr lang="en-US" sz="3600" baseline="-250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3EC41C0-68E9-8151-D0D8-23130577AC3E}"/>
              </a:ext>
            </a:extLst>
          </p:cNvPr>
          <p:cNvSpPr txBox="1"/>
          <p:nvPr/>
        </p:nvSpPr>
        <p:spPr>
          <a:xfrm>
            <a:off x="2049294" y="1919591"/>
            <a:ext cx="852791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Data integrity </a:t>
            </a:r>
            <a:r>
              <a:rPr lang="en-US" sz="2400" dirty="0"/>
              <a:t>is lost: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Dangling Pointers can be used to manipulate and read the content of a Memory Unit, which they should not have access to.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The same applies to changing memory on the stack via Out-of-bounds Writes.</a:t>
            </a:r>
          </a:p>
          <a:p>
            <a:pPr lvl="1"/>
            <a:endParaRPr lang="en-US" dirty="0"/>
          </a:p>
          <a:p>
            <a:r>
              <a:rPr lang="en-US" sz="2400" b="1" dirty="0"/>
              <a:t>Availability</a:t>
            </a:r>
            <a:r>
              <a:rPr lang="en-US" sz="2400" dirty="0"/>
              <a:t> of a service may be limited due to software crashes: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chunk consolidation occurs after a </a:t>
            </a:r>
            <a:r>
              <a:rPr lang="en-US" i="1" dirty="0"/>
              <a:t>memory free</a:t>
            </a:r>
            <a:r>
              <a:rPr lang="en-US" dirty="0"/>
              <a:t>, the program will crash the next time memory is accessed via a</a:t>
            </a:r>
            <a:r>
              <a:rPr lang="en-US" i="1" dirty="0"/>
              <a:t> </a:t>
            </a:r>
            <a:r>
              <a:rPr lang="en-US" dirty="0"/>
              <a:t>Dangling Pointer, as the chunk information is no longer valid.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If the Out-of-bounds Write accidentally overwrites a return address of a function, this can also cause the program to crash.</a:t>
            </a:r>
          </a:p>
        </p:txBody>
      </p:sp>
      <p:pic>
        <p:nvPicPr>
          <p:cNvPr id="10" name="Grafik 9" descr="Uhr Silhouette">
            <a:extLst>
              <a:ext uri="{FF2B5EF4-FFF2-40B4-BE49-F238E27FC236}">
                <a16:creationId xmlns:a16="http://schemas.microsoft.com/office/drawing/2014/main" id="{A6C907EB-9FC3-E49A-4BF1-F8D1AB53FD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2998" y="3315012"/>
            <a:ext cx="914400" cy="914400"/>
          </a:xfrm>
          <a:prstGeom prst="rect">
            <a:avLst/>
          </a:prstGeom>
        </p:spPr>
      </p:pic>
      <p:pic>
        <p:nvPicPr>
          <p:cNvPr id="14" name="Grafik 13" descr="Datenbank Silhouette">
            <a:extLst>
              <a:ext uri="{FF2B5EF4-FFF2-40B4-BE49-F238E27FC236}">
                <a16:creationId xmlns:a16="http://schemas.microsoft.com/office/drawing/2014/main" id="{31B368F1-8D6C-57E8-B5EC-9014EEBDBD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2998" y="1714189"/>
            <a:ext cx="914400" cy="914400"/>
          </a:xfrm>
          <a:prstGeom prst="rect">
            <a:avLst/>
          </a:prstGeom>
        </p:spPr>
      </p:pic>
      <p:pic>
        <p:nvPicPr>
          <p:cNvPr id="16" name="Grafik 15" descr="Schild mit einfarbiger Füllung">
            <a:extLst>
              <a:ext uri="{FF2B5EF4-FFF2-40B4-BE49-F238E27FC236}">
                <a16:creationId xmlns:a16="http://schemas.microsoft.com/office/drawing/2014/main" id="{BC59D99C-A5BB-8314-436E-EE29CB80B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71296" y="2142487"/>
            <a:ext cx="486102" cy="486102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5B3518C4-9462-F4F6-90E0-D7C6C872C71F}"/>
              </a:ext>
            </a:extLst>
          </p:cNvPr>
          <p:cNvSpPr txBox="1"/>
          <p:nvPr/>
        </p:nvSpPr>
        <p:spPr>
          <a:xfrm>
            <a:off x="1283444" y="3587546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alpha val="36000"/>
                  </a:schemeClr>
                </a:solidFill>
              </a:rPr>
              <a:t>24/7</a:t>
            </a:r>
          </a:p>
        </p:txBody>
      </p:sp>
    </p:spTree>
    <p:extLst>
      <p:ext uri="{BB962C8B-B14F-4D97-AF65-F5344CB8AC3E}">
        <p14:creationId xmlns:p14="http://schemas.microsoft.com/office/powerpoint/2010/main" val="17824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CE9134A-6DC6-9AA5-5E12-BD8DC0D2521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279AEE0-7862-958E-9183-AA7D3D0587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21EB78F-8967-A29F-440C-0D8164EDA5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24B85922-9B7C-11D6-F72A-C25793DD84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941294"/>
            <a:ext cx="9856694" cy="6734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Approaches</a:t>
            </a:r>
            <a:r>
              <a:rPr lang="en-US" dirty="0"/>
              <a:t> </a:t>
            </a:r>
            <a:r>
              <a:rPr lang="en-US" sz="3600" dirty="0"/>
              <a:t>to achieving Memory Safety</a:t>
            </a:r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9432FC-2CBA-298E-2940-DCE46464B5A8}"/>
              </a:ext>
            </a:extLst>
          </p:cNvPr>
          <p:cNvSpPr txBox="1"/>
          <p:nvPr/>
        </p:nvSpPr>
        <p:spPr>
          <a:xfrm>
            <a:off x="1963270" y="1855694"/>
            <a:ext cx="831028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Programming Languages with </a:t>
            </a:r>
            <a:r>
              <a:rPr lang="en-US" sz="2000" b="1" dirty="0"/>
              <a:t>Automatic Memory Management</a:t>
            </a:r>
            <a:r>
              <a:rPr lang="en-US" sz="1600" b="1" dirty="0"/>
              <a:t>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600" dirty="0" err="1"/>
              <a:t>No</a:t>
            </a:r>
            <a:r>
              <a:rPr lang="de-DE" sz="1600" dirty="0"/>
              <a:t> </a:t>
            </a:r>
            <a:r>
              <a:rPr lang="de-DE" sz="1600" dirty="0" err="1"/>
              <a:t>developer-controlled</a:t>
            </a:r>
            <a:r>
              <a:rPr lang="de-DE" sz="1600" dirty="0"/>
              <a:t> </a:t>
            </a:r>
            <a:r>
              <a:rPr lang="de-DE" sz="1600" dirty="0" err="1"/>
              <a:t>memory</a:t>
            </a:r>
            <a:r>
              <a:rPr lang="de-DE" sz="1600" dirty="0"/>
              <a:t> </a:t>
            </a:r>
            <a:r>
              <a:rPr lang="de-DE" sz="1600" dirty="0" err="1"/>
              <a:t>management</a:t>
            </a:r>
            <a:endParaRPr lang="de-DE" sz="16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600" dirty="0" err="1"/>
              <a:t>Runtime-managed</a:t>
            </a:r>
            <a:r>
              <a:rPr lang="de-DE" sz="1600" dirty="0"/>
              <a:t> </a:t>
            </a:r>
            <a:r>
              <a:rPr lang="de-DE" sz="1600" dirty="0" err="1"/>
              <a:t>automated</a:t>
            </a:r>
            <a:r>
              <a:rPr lang="de-DE" sz="1600" dirty="0"/>
              <a:t> </a:t>
            </a:r>
            <a:r>
              <a:rPr lang="de-DE" sz="1600" dirty="0" err="1"/>
              <a:t>garbage</a:t>
            </a:r>
            <a:r>
              <a:rPr lang="de-DE" sz="1600" dirty="0"/>
              <a:t> </a:t>
            </a:r>
            <a:r>
              <a:rPr lang="de-DE" sz="1600" dirty="0" err="1"/>
              <a:t>collection</a:t>
            </a:r>
            <a:endParaRPr lang="en-US" sz="16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High reliability paired with unpredictable performance costs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1600" dirty="0"/>
          </a:p>
          <a:p>
            <a:r>
              <a:rPr lang="en-US" sz="2000" b="1" dirty="0"/>
              <a:t>Instrumentation</a:t>
            </a:r>
            <a:r>
              <a:rPr lang="en-US" sz="1600" dirty="0"/>
              <a:t> of memory-unsafe Programs: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Compiler inserts instructions to catch invalid memory access at runtime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Tools like </a:t>
            </a:r>
            <a:r>
              <a:rPr lang="en-US" sz="1600" dirty="0" err="1"/>
              <a:t>ASan</a:t>
            </a:r>
            <a:r>
              <a:rPr lang="en-US" sz="1600" dirty="0"/>
              <a:t> and </a:t>
            </a:r>
            <a:r>
              <a:rPr lang="en-US" sz="1600" dirty="0" err="1"/>
              <a:t>Valgrind</a:t>
            </a:r>
            <a:r>
              <a:rPr lang="en-US" sz="1600" dirty="0"/>
              <a:t> automatically inject these instructions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Languages like Rust prevent illegal access by crashing safely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sz="1600" dirty="0"/>
          </a:p>
          <a:p>
            <a:r>
              <a:rPr lang="en-US" sz="1600" dirty="0"/>
              <a:t>Memory Safety achieved at </a:t>
            </a:r>
            <a:r>
              <a:rPr lang="en-US" sz="2000" b="1" dirty="0"/>
              <a:t>Compile Time</a:t>
            </a:r>
            <a:r>
              <a:rPr lang="en-US" sz="1600" dirty="0"/>
              <a:t>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Memory errors blocked entirely at compile time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Strict reliance on new rules and concepts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sz="1600" dirty="0"/>
              <a:t>Zero performance or runtime overhead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/>
              <a:t>Rust uses this approach to prevent memory errors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CD046D1-C3AF-2608-900F-6EBE93F14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7424" y="2219453"/>
            <a:ext cx="390993" cy="390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9D9121CF-D24E-8E3E-03E8-19514C22BC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1399" y="1823596"/>
            <a:ext cx="243501" cy="4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A17649BF-445B-2DC0-3281-8563BFEDA3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560" y="2263239"/>
            <a:ext cx="461679" cy="4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9FAF43E-4804-E4A5-185F-FEC8053E0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506" y="3778795"/>
            <a:ext cx="1039971" cy="1039971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6A8985E-43CB-064F-F63A-4116DD818C8E}"/>
              </a:ext>
            </a:extLst>
          </p:cNvPr>
          <p:cNvCxnSpPr>
            <a:cxnSpLocks/>
          </p:cNvCxnSpPr>
          <p:nvPr/>
        </p:nvCxnSpPr>
        <p:spPr>
          <a:xfrm>
            <a:off x="1114634" y="3023527"/>
            <a:ext cx="9158919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F26E0EF-2BE4-321E-DB16-BBDDE97C86C9}"/>
              </a:ext>
            </a:extLst>
          </p:cNvPr>
          <p:cNvCxnSpPr>
            <a:cxnSpLocks/>
          </p:cNvCxnSpPr>
          <p:nvPr/>
        </p:nvCxnSpPr>
        <p:spPr>
          <a:xfrm>
            <a:off x="2015685" y="4298781"/>
            <a:ext cx="825786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5901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4926265A-37AD-7636-C1A3-8E53F6C526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33638A9-CFF3-39E0-4F33-3C7BEB61F5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19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8BFF591-8932-1D12-0BE9-9D359FE6ACB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33E09E4-3375-AF35-F800-1216B715796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203513" y="1790700"/>
            <a:ext cx="9856694" cy="40132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Rust promises to be the solution to the challenge of combining two previously incompatible programming challenges:</a:t>
            </a:r>
          </a:p>
          <a:p>
            <a:pPr marL="0" indent="0" algn="ctr">
              <a:buNone/>
            </a:pPr>
            <a:r>
              <a:rPr lang="en-US" b="1" dirty="0"/>
              <a:t>Full hardware and memory control without compromising on security or the developer experience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Rust offers a complete tool suite, in addition to the compiler also a formatter, language server, and its own package manager.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000" dirty="0"/>
              <a:t>According to Stack Overflow statistics from 2025, Rust has been the most popular up-and-coming programming language for years:</a:t>
            </a:r>
          </a:p>
          <a:p>
            <a:pPr marL="0" indent="0" algn="ctr">
              <a:buNone/>
            </a:pPr>
            <a:r>
              <a:rPr lang="en-US" b="1" dirty="0"/>
              <a:t>Over 72% of developers who start programming in Rust continue to use it</a:t>
            </a:r>
            <a:r>
              <a:rPr lang="en-US" sz="1200" baseline="-25000" dirty="0"/>
              <a:t>[6]</a:t>
            </a:r>
            <a:endParaRPr lang="de-DE" baseline="-25000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5077A446-F896-3D2F-449B-C4009441E9EE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Why use Rust?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B3EB4F2-D3D7-6A28-467F-EFBB2C490332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[6] </a:t>
            </a:r>
            <a:r>
              <a:rPr lang="de-DE" sz="800" dirty="0">
                <a:hlinkClick r:id="rId3"/>
              </a:rPr>
              <a:t>https://survey.stackoverflow.co/2025/technology/#2-programming-scripting-and-markup-languages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42104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D33E-D409-12E2-6D7E-8A529A739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A74A8E6-F218-DF4F-E40E-DA22D5641A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50E7429-93D0-DCC4-351E-0B51BC3586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E2F4B-59A4-84D9-2A74-805739D69EC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5532610B-77B9-A750-BD44-457FF8A158C5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Ownership Rules</a:t>
            </a:r>
            <a:r>
              <a:rPr lang="en-US" sz="1200" baseline="-25000" dirty="0"/>
              <a:t>[7]</a:t>
            </a:r>
            <a:endParaRPr lang="en-US" baseline="-25000" dirty="0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01EF1F76-A3CE-1791-BCCD-4CA0EFC09D4F}"/>
              </a:ext>
            </a:extLst>
          </p:cNvPr>
          <p:cNvSpPr>
            <a:spLocks/>
          </p:cNvSpPr>
          <p:nvPr/>
        </p:nvSpPr>
        <p:spPr>
          <a:xfrm>
            <a:off x="748573" y="1697002"/>
            <a:ext cx="2885316" cy="1148918"/>
          </a:xfrm>
          <a:prstGeom prst="roundRect">
            <a:avLst>
              <a:gd name="adj" fmla="val 11418"/>
            </a:avLst>
          </a:prstGeom>
          <a:solidFill>
            <a:schemeClr val="bg1"/>
          </a:solidFill>
          <a:ln w="12700" cap="flat">
            <a:solidFill>
              <a:schemeClr val="accent1">
                <a:shade val="15000"/>
              </a:schemeClr>
            </a:soli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EA152980-51D5-B8E4-BA85-2C4B629E91CB}"/>
              </a:ext>
            </a:extLst>
          </p:cNvPr>
          <p:cNvSpPr>
            <a:spLocks/>
          </p:cNvSpPr>
          <p:nvPr/>
        </p:nvSpPr>
        <p:spPr>
          <a:xfrm>
            <a:off x="748573" y="1697002"/>
            <a:ext cx="2885315" cy="458482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b="1" dirty="0" err="1"/>
              <a:t>Each</a:t>
            </a:r>
            <a:r>
              <a:rPr lang="de-DE" sz="1600" b="1" dirty="0"/>
              <a:t> Value </a:t>
            </a:r>
            <a:r>
              <a:rPr lang="de-DE" sz="1600" b="1" dirty="0" err="1"/>
              <a:t>has</a:t>
            </a:r>
            <a:r>
              <a:rPr lang="de-DE" sz="1600" b="1" dirty="0"/>
              <a:t> an Owner.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94ED3DE4-A9F6-C7FC-7F16-3994080B6A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5263" y="1901682"/>
            <a:ext cx="3211934" cy="1148918"/>
          </a:xfrm>
          <a:prstGeom prst="rect">
            <a:avLst/>
          </a:prstGeom>
        </p:spPr>
      </p:pic>
      <p:pic>
        <p:nvPicPr>
          <p:cNvPr id="26" name="Grafik 25" descr="Marke 1 mit einfarbiger Füllung">
            <a:extLst>
              <a:ext uri="{FF2B5EF4-FFF2-40B4-BE49-F238E27FC236}">
                <a16:creationId xmlns:a16="http://schemas.microsoft.com/office/drawing/2014/main" id="{5626019F-5830-E379-FFB9-A3CDE37D9A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8771" y="1492321"/>
            <a:ext cx="359602" cy="366549"/>
          </a:xfrm>
          <a:prstGeom prst="rect">
            <a:avLst/>
          </a:prstGeom>
        </p:spPr>
      </p:pic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89082FAE-47DB-BCD9-26D5-BAD85ACD7409}"/>
              </a:ext>
            </a:extLst>
          </p:cNvPr>
          <p:cNvSpPr>
            <a:spLocks/>
          </p:cNvSpPr>
          <p:nvPr/>
        </p:nvSpPr>
        <p:spPr>
          <a:xfrm>
            <a:off x="2282145" y="3080077"/>
            <a:ext cx="3772848" cy="1962570"/>
          </a:xfrm>
          <a:prstGeom prst="roundRect">
            <a:avLst>
              <a:gd name="adj" fmla="val 6487"/>
            </a:avLst>
          </a:prstGeom>
          <a:solidFill>
            <a:schemeClr val="bg1"/>
          </a:solidFill>
          <a:ln w="12700" cap="flat">
            <a:solidFill>
              <a:schemeClr val="accent1">
                <a:shade val="15000"/>
              </a:schemeClr>
            </a:solidFill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6" name="Rechteck: abgerundete Ecken 35">
            <a:extLst>
              <a:ext uri="{FF2B5EF4-FFF2-40B4-BE49-F238E27FC236}">
                <a16:creationId xmlns:a16="http://schemas.microsoft.com/office/drawing/2014/main" id="{B3654B8F-5FAA-00F0-07D0-0B0437421541}"/>
              </a:ext>
            </a:extLst>
          </p:cNvPr>
          <p:cNvSpPr>
            <a:spLocks/>
          </p:cNvSpPr>
          <p:nvPr/>
        </p:nvSpPr>
        <p:spPr>
          <a:xfrm>
            <a:off x="2282145" y="3080077"/>
            <a:ext cx="3772849" cy="428005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There can only be one owner at a time.</a:t>
            </a:r>
          </a:p>
        </p:txBody>
      </p:sp>
      <p:pic>
        <p:nvPicPr>
          <p:cNvPr id="37" name="Grafik 36">
            <a:extLst>
              <a:ext uri="{FF2B5EF4-FFF2-40B4-BE49-F238E27FC236}">
                <a16:creationId xmlns:a16="http://schemas.microsoft.com/office/drawing/2014/main" id="{ED8FDA57-CCD8-0970-3292-BB453673FC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05688" y="3285915"/>
            <a:ext cx="3734155" cy="1225766"/>
          </a:xfrm>
          <a:prstGeom prst="rect">
            <a:avLst/>
          </a:prstGeom>
        </p:spPr>
      </p:pic>
      <p:pic>
        <p:nvPicPr>
          <p:cNvPr id="38" name="Grafik 37" descr="Abzeichen mit einfarbiger Füllung">
            <a:extLst>
              <a:ext uri="{FF2B5EF4-FFF2-40B4-BE49-F238E27FC236}">
                <a16:creationId xmlns:a16="http://schemas.microsoft.com/office/drawing/2014/main" id="{A70405B8-7D4E-F80D-0655-E78A0FCBFD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90541" y="2877617"/>
            <a:ext cx="359294" cy="342184"/>
          </a:xfrm>
          <a:prstGeom prst="rect">
            <a:avLst/>
          </a:prstGeom>
        </p:spPr>
      </p:pic>
      <p:sp>
        <p:nvSpPr>
          <p:cNvPr id="39" name="Textfeld 38">
            <a:extLst>
              <a:ext uri="{FF2B5EF4-FFF2-40B4-BE49-F238E27FC236}">
                <a16:creationId xmlns:a16="http://schemas.microsoft.com/office/drawing/2014/main" id="{8D5CA4BD-FCD0-3177-7884-203445506797}"/>
              </a:ext>
            </a:extLst>
          </p:cNvPr>
          <p:cNvSpPr txBox="1"/>
          <p:nvPr/>
        </p:nvSpPr>
        <p:spPr>
          <a:xfrm>
            <a:off x="2446677" y="4252838"/>
            <a:ext cx="3252175" cy="495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 err="1"/>
              <a:t>buffer_owner</a:t>
            </a:r>
            <a:r>
              <a:rPr lang="en-US" sz="1600" i="1" dirty="0"/>
              <a:t> </a:t>
            </a:r>
            <a:r>
              <a:rPr lang="en-US" sz="1600" dirty="0"/>
              <a:t>moves its Ownership to </a:t>
            </a:r>
            <a:r>
              <a:rPr lang="en-US" sz="1600" i="1" dirty="0" err="1"/>
              <a:t>another_buffer_owner</a:t>
            </a:r>
            <a:endParaRPr lang="en-US" sz="1600" i="1" dirty="0"/>
          </a:p>
        </p:txBody>
      </p: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9F7DC3BA-E82A-2747-6C48-3E610886FB55}"/>
              </a:ext>
            </a:extLst>
          </p:cNvPr>
          <p:cNvGrpSpPr/>
          <p:nvPr/>
        </p:nvGrpSpPr>
        <p:grpSpPr>
          <a:xfrm>
            <a:off x="6322714" y="1692882"/>
            <a:ext cx="4266845" cy="3349765"/>
            <a:chOff x="6322714" y="1532964"/>
            <a:chExt cx="4463138" cy="3509683"/>
          </a:xfrm>
        </p:grpSpPr>
        <p:sp>
          <p:nvSpPr>
            <p:cNvPr id="28" name="Rechteck: abgerundete Ecken 27">
              <a:extLst>
                <a:ext uri="{FF2B5EF4-FFF2-40B4-BE49-F238E27FC236}">
                  <a16:creationId xmlns:a16="http://schemas.microsoft.com/office/drawing/2014/main" id="{6AEE0388-7CD1-A69F-7F1A-B8FD8F5880C5}"/>
                </a:ext>
              </a:extLst>
            </p:cNvPr>
            <p:cNvSpPr>
              <a:spLocks/>
            </p:cNvSpPr>
            <p:nvPr/>
          </p:nvSpPr>
          <p:spPr>
            <a:xfrm>
              <a:off x="6541800" y="1772097"/>
              <a:ext cx="4244051" cy="3270550"/>
            </a:xfrm>
            <a:prstGeom prst="roundRect">
              <a:avLst>
                <a:gd name="adj" fmla="val 4565"/>
              </a:avLst>
            </a:prstGeom>
            <a:solidFill>
              <a:schemeClr val="bg1"/>
            </a:solidFill>
            <a:ln w="12700" cap="flat">
              <a:solidFill>
                <a:schemeClr val="accent1">
                  <a:shade val="15000"/>
                </a:schemeClr>
              </a:solidFill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29" name="Rechteck: abgerundete Ecken 28">
              <a:extLst>
                <a:ext uri="{FF2B5EF4-FFF2-40B4-BE49-F238E27FC236}">
                  <a16:creationId xmlns:a16="http://schemas.microsoft.com/office/drawing/2014/main" id="{98515F1B-4BBA-9D44-8C85-18D560CBE086}"/>
                </a:ext>
              </a:extLst>
            </p:cNvPr>
            <p:cNvSpPr>
              <a:spLocks/>
            </p:cNvSpPr>
            <p:nvPr/>
          </p:nvSpPr>
          <p:spPr>
            <a:xfrm>
              <a:off x="6541800" y="1772097"/>
              <a:ext cx="4244052" cy="646331"/>
            </a:xfrm>
            <a:prstGeom prst="roundRect">
              <a:avLst>
                <a:gd name="adj" fmla="val 27672"/>
              </a:avLst>
            </a:prstGeom>
            <a:solidFill>
              <a:srgbClr val="64378C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When the owner goes out of scope, the value will be dropped.</a:t>
              </a:r>
            </a:p>
          </p:txBody>
        </p:sp>
        <p:pic>
          <p:nvPicPr>
            <p:cNvPr id="42" name="Grafik 41" descr="Marke 3 mit einfarbiger Füllung">
              <a:extLst>
                <a:ext uri="{FF2B5EF4-FFF2-40B4-BE49-F238E27FC236}">
                  <a16:creationId xmlns:a16="http://schemas.microsoft.com/office/drawing/2014/main" id="{7C5119BB-4EAA-E4DF-8BCE-1320404496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714" y="1532964"/>
              <a:ext cx="404167" cy="404167"/>
            </a:xfrm>
            <a:prstGeom prst="rect">
              <a:avLst/>
            </a:prstGeom>
          </p:spPr>
        </p:pic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215B1384-A11D-C7D4-D013-84D88E0927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99513" y="2116743"/>
              <a:ext cx="3905250" cy="1628775"/>
            </a:xfrm>
            <a:prstGeom prst="rect">
              <a:avLst/>
            </a:prstGeom>
          </p:spPr>
        </p:pic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AD74D419-FC4D-08E7-2EF5-E464AB2D3A51}"/>
                </a:ext>
              </a:extLst>
            </p:cNvPr>
            <p:cNvSpPr txBox="1"/>
            <p:nvPr/>
          </p:nvSpPr>
          <p:spPr>
            <a:xfrm>
              <a:off x="6817371" y="3406667"/>
              <a:ext cx="374510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600" dirty="0"/>
                <a:t>Out </a:t>
              </a:r>
              <a:r>
                <a:rPr lang="de-DE" sz="1600" dirty="0" err="1"/>
                <a:t>of</a:t>
              </a:r>
              <a:r>
                <a:rPr lang="de-DE" sz="1600" dirty="0"/>
                <a:t> Scope: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Scope ends when the block closes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Reassigning </a:t>
              </a:r>
              <a:r>
                <a:rPr lang="en-US" sz="1600" i="1" dirty="0" err="1"/>
                <a:t>buffer_owner</a:t>
              </a:r>
              <a:r>
                <a:rPr lang="en-US" sz="1600" i="1" dirty="0"/>
                <a:t> </a:t>
              </a:r>
              <a:r>
                <a:rPr lang="en-US" sz="1600" dirty="0"/>
                <a:t>drops the old value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Passing </a:t>
              </a:r>
              <a:r>
                <a:rPr lang="en-US" sz="1600" i="1" dirty="0" err="1"/>
                <a:t>buffer_owner</a:t>
              </a:r>
              <a:r>
                <a:rPr lang="en-US" sz="1600" i="1" dirty="0"/>
                <a:t> </a:t>
              </a:r>
              <a:r>
                <a:rPr lang="en-US" sz="1600" dirty="0"/>
                <a:t>to a function moves it out of scope</a:t>
              </a:r>
            </a:p>
          </p:txBody>
        </p:sp>
      </p:grpSp>
      <p:sp>
        <p:nvSpPr>
          <p:cNvPr id="47" name="Textfeld 46">
            <a:extLst>
              <a:ext uri="{FF2B5EF4-FFF2-40B4-BE49-F238E27FC236}">
                <a16:creationId xmlns:a16="http://schemas.microsoft.com/office/drawing/2014/main" id="{F864F10D-DBF8-6AB7-1E3F-2564C5317ECC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9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DB9E720-8772-7F38-C037-093FE513055D}"/>
              </a:ext>
            </a:extLst>
          </p:cNvPr>
          <p:cNvSpPr/>
          <p:nvPr/>
        </p:nvSpPr>
        <p:spPr>
          <a:xfrm>
            <a:off x="0" y="5284403"/>
            <a:ext cx="9372600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Ownership ensures developers can’t forget to free memory.</a:t>
            </a:r>
          </a:p>
        </p:txBody>
      </p:sp>
      <p:sp>
        <p:nvSpPr>
          <p:cNvPr id="49" name="Pfeil: nach rechts 48">
            <a:extLst>
              <a:ext uri="{FF2B5EF4-FFF2-40B4-BE49-F238E27FC236}">
                <a16:creationId xmlns:a16="http://schemas.microsoft.com/office/drawing/2014/main" id="{1143E4B5-6E6B-71FD-74AE-83B52618D5D4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3281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24AF5C6-72ED-8B38-9B8E-A41DE0C544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6463E62-7CE0-C187-D345-3B5B3DCF69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E2D52C6-AACD-194D-C99F-ED0339EC99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8025D89-E700-B96B-278E-7A93CA32A163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600" dirty="0"/>
              <a:t>Transfer of Ownership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6E0BDBE-45B8-3A5E-5F9B-0DE32BC6779C}"/>
              </a:ext>
            </a:extLst>
          </p:cNvPr>
          <p:cNvSpPr txBox="1"/>
          <p:nvPr/>
        </p:nvSpPr>
        <p:spPr>
          <a:xfrm>
            <a:off x="1947659" y="2501153"/>
            <a:ext cx="1890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Stack – Copy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DB6B506D-9D38-AB62-E236-5B2C73435C71}"/>
              </a:ext>
            </a:extLst>
          </p:cNvPr>
          <p:cNvCxnSpPr>
            <a:cxnSpLocks/>
          </p:cNvCxnSpPr>
          <p:nvPr/>
        </p:nvCxnSpPr>
        <p:spPr>
          <a:xfrm>
            <a:off x="5224182" y="2420471"/>
            <a:ext cx="0" cy="331470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3BC19A83-0F01-0BF7-EA97-CA31776C2FD7}"/>
              </a:ext>
            </a:extLst>
          </p:cNvPr>
          <p:cNvSpPr txBox="1"/>
          <p:nvPr/>
        </p:nvSpPr>
        <p:spPr>
          <a:xfrm>
            <a:off x="6971934" y="2501153"/>
            <a:ext cx="1592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Heap - ???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F2C97B0-1CD7-4AD6-F32B-913265FD4230}"/>
              </a:ext>
            </a:extLst>
          </p:cNvPr>
          <p:cNvSpPr txBox="1"/>
          <p:nvPr/>
        </p:nvSpPr>
        <p:spPr>
          <a:xfrm>
            <a:off x="6059472" y="4296040"/>
            <a:ext cx="3417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Copying would consume a significant amount of additional memory and cause performance overhead.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CF63218-700E-7139-CE13-8CAEEA709BE9}"/>
              </a:ext>
            </a:extLst>
          </p:cNvPr>
          <p:cNvSpPr txBox="1"/>
          <p:nvPr/>
        </p:nvSpPr>
        <p:spPr>
          <a:xfrm>
            <a:off x="1116106" y="4296040"/>
            <a:ext cx="35609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Value of var1 is copied into var2. Two variables exist that contain the same value, but in separate memory of the stack.</a:t>
            </a:r>
          </a:p>
          <a:p>
            <a:endParaRPr lang="de-DE" dirty="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13B2B5A-11B0-2FB2-E457-724D7C41C9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77055" y="2324791"/>
            <a:ext cx="6781962" cy="2337547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C89D232-674A-D18F-0762-CCC0B3A1B1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3598" y="2339259"/>
            <a:ext cx="3888182" cy="2308609"/>
          </a:xfrm>
          <a:prstGeom prst="rect">
            <a:avLst/>
          </a:prstGeom>
        </p:spPr>
      </p:pic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668BE026-8DD1-3E56-83D2-454A4224BF26}"/>
              </a:ext>
            </a:extLst>
          </p:cNvPr>
          <p:cNvSpPr>
            <a:spLocks/>
          </p:cNvSpPr>
          <p:nvPr/>
        </p:nvSpPr>
        <p:spPr>
          <a:xfrm>
            <a:off x="1451333" y="1729077"/>
            <a:ext cx="3772849" cy="428005"/>
          </a:xfrm>
          <a:prstGeom prst="roundRect">
            <a:avLst>
              <a:gd name="adj" fmla="val 27672"/>
            </a:avLst>
          </a:prstGeom>
          <a:solidFill>
            <a:srgbClr val="64378C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There can only be one owner at a time.</a:t>
            </a:r>
          </a:p>
        </p:txBody>
      </p:sp>
      <p:pic>
        <p:nvPicPr>
          <p:cNvPr id="19" name="Grafik 18" descr="Abzeichen mit einfarbiger Füllung">
            <a:extLst>
              <a:ext uri="{FF2B5EF4-FFF2-40B4-BE49-F238E27FC236}">
                <a16:creationId xmlns:a16="http://schemas.microsoft.com/office/drawing/2014/main" id="{0623761E-0B01-C311-0461-03E0FB1A63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9729" y="1526617"/>
            <a:ext cx="359294" cy="342184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F661064D-A0F4-1D5B-9AAE-37103AF5F5BB}"/>
              </a:ext>
            </a:extLst>
          </p:cNvPr>
          <p:cNvSpPr txBox="1"/>
          <p:nvPr/>
        </p:nvSpPr>
        <p:spPr>
          <a:xfrm>
            <a:off x="5258921" y="1755111"/>
            <a:ext cx="60948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How will this ownership be transferred?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2621805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4FE70-2D29-931F-07F7-5583B396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B2E1980-3DDC-F333-7917-4AD7C24913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09F125-6BF0-BECF-116B-270812DEBF6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22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881714-0859-9622-5D45-1631146525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ED50214A-6D0C-47F5-BA53-7BB2D32FDA9E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Transfer Methods</a:t>
            </a:r>
            <a:r>
              <a:rPr lang="en-US" sz="1200" baseline="-25000" dirty="0"/>
              <a:t>[7]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D3C134C-ACC0-48DF-C641-3B879D41CF0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3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176" name="Gruppieren 175">
            <a:extLst>
              <a:ext uri="{FF2B5EF4-FFF2-40B4-BE49-F238E27FC236}">
                <a16:creationId xmlns:a16="http://schemas.microsoft.com/office/drawing/2014/main" id="{05797BB5-1EBD-1E8D-D258-B408B78CF65E}"/>
              </a:ext>
            </a:extLst>
          </p:cNvPr>
          <p:cNvGrpSpPr/>
          <p:nvPr/>
        </p:nvGrpSpPr>
        <p:grpSpPr>
          <a:xfrm>
            <a:off x="428061" y="1727947"/>
            <a:ext cx="11221573" cy="3496235"/>
            <a:chOff x="428061" y="1727947"/>
            <a:chExt cx="11221573" cy="3496235"/>
          </a:xfrm>
        </p:grpSpPr>
        <p:grpSp>
          <p:nvGrpSpPr>
            <p:cNvPr id="27" name="Gruppieren 26">
              <a:extLst>
                <a:ext uri="{FF2B5EF4-FFF2-40B4-BE49-F238E27FC236}">
                  <a16:creationId xmlns:a16="http://schemas.microsoft.com/office/drawing/2014/main" id="{D980EC97-08A6-651F-4811-8E3642B5D344}"/>
                </a:ext>
              </a:extLst>
            </p:cNvPr>
            <p:cNvGrpSpPr/>
            <p:nvPr/>
          </p:nvGrpSpPr>
          <p:grpSpPr>
            <a:xfrm>
              <a:off x="428061" y="1727947"/>
              <a:ext cx="11221573" cy="3496235"/>
              <a:chOff x="428061" y="1727947"/>
              <a:chExt cx="11221573" cy="3496235"/>
            </a:xfrm>
          </p:grpSpPr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6275F2E9-BEB8-AA73-2603-7D58CBE94D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68588" y="1727947"/>
                <a:ext cx="0" cy="3496235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0AACD0D6-C4BD-C5FB-DF33-524C623D9829}"/>
                  </a:ext>
                </a:extLst>
              </p:cNvPr>
              <p:cNvSpPr txBox="1"/>
              <p:nvPr/>
            </p:nvSpPr>
            <p:spPr>
              <a:xfrm>
                <a:off x="4168588" y="1727947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Shallow Copy</a:t>
                </a:r>
              </a:p>
            </p:txBody>
          </p: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03FBAFA9-962F-02A2-5B57-23736ECC4C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909111" y="1727947"/>
                <a:ext cx="2" cy="3494093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FC0B2CA3-226B-3ADE-CCC8-5B3567B8C32C}"/>
                  </a:ext>
                </a:extLst>
              </p:cNvPr>
              <p:cNvSpPr txBox="1"/>
              <p:nvPr/>
            </p:nvSpPr>
            <p:spPr>
              <a:xfrm>
                <a:off x="428061" y="1727947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Deep Copy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D5DA064E-B154-F533-BE6D-6DCA6F315EC2}"/>
                  </a:ext>
                </a:extLst>
              </p:cNvPr>
              <p:cNvSpPr txBox="1"/>
              <p:nvPr/>
            </p:nvSpPr>
            <p:spPr>
              <a:xfrm>
                <a:off x="7909111" y="1734208"/>
                <a:ext cx="37405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b="1" dirty="0"/>
                  <a:t>Move</a:t>
                </a:r>
              </a:p>
            </p:txBody>
          </p:sp>
        </p:grpSp>
        <p:cxnSp>
          <p:nvCxnSpPr>
            <p:cNvPr id="167" name="Gerader Verbinder 166">
              <a:extLst>
                <a:ext uri="{FF2B5EF4-FFF2-40B4-BE49-F238E27FC236}">
                  <a16:creationId xmlns:a16="http://schemas.microsoft.com/office/drawing/2014/main" id="{892755D1-F873-159D-43A1-780455304CA5}"/>
                </a:ext>
              </a:extLst>
            </p:cNvPr>
            <p:cNvCxnSpPr>
              <a:cxnSpLocks/>
            </p:cNvCxnSpPr>
            <p:nvPr/>
          </p:nvCxnSpPr>
          <p:spPr>
            <a:xfrm>
              <a:off x="1066798" y="2113470"/>
              <a:ext cx="10058401" cy="1053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B143EA09-B4CC-584D-B11D-2E74D2CF7A7B}"/>
              </a:ext>
            </a:extLst>
          </p:cNvPr>
          <p:cNvGrpSpPr/>
          <p:nvPr/>
        </p:nvGrpSpPr>
        <p:grpSpPr>
          <a:xfrm>
            <a:off x="4908169" y="2993559"/>
            <a:ext cx="2261360" cy="1292664"/>
            <a:chOff x="4908169" y="2993559"/>
            <a:chExt cx="2261360" cy="1292664"/>
          </a:xfrm>
        </p:grpSpPr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CD914227-F166-79D6-521D-46E6E4ADB461}"/>
                </a:ext>
              </a:extLst>
            </p:cNvPr>
            <p:cNvGrpSpPr/>
            <p:nvPr/>
          </p:nvGrpSpPr>
          <p:grpSpPr>
            <a:xfrm>
              <a:off x="4908169" y="2993559"/>
              <a:ext cx="2261360" cy="1292664"/>
              <a:chOff x="4543879" y="2569470"/>
              <a:chExt cx="2261360" cy="1292664"/>
            </a:xfrm>
          </p:grpSpPr>
          <p:sp>
            <p:nvSpPr>
              <p:cNvPr id="98" name="Rechteck: abgerundete Ecken 97">
                <a:extLst>
                  <a:ext uri="{FF2B5EF4-FFF2-40B4-BE49-F238E27FC236}">
                    <a16:creationId xmlns:a16="http://schemas.microsoft.com/office/drawing/2014/main" id="{0773322D-255C-3F1B-3216-D12A84E12C3B}"/>
                  </a:ext>
                </a:extLst>
              </p:cNvPr>
              <p:cNvSpPr/>
              <p:nvPr/>
            </p:nvSpPr>
            <p:spPr>
              <a:xfrm>
                <a:off x="4543879" y="2654997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sp>
            <p:nvSpPr>
              <p:cNvPr id="99" name="Rechteck: abgerundete Ecken 98">
                <a:extLst>
                  <a:ext uri="{FF2B5EF4-FFF2-40B4-BE49-F238E27FC236}">
                    <a16:creationId xmlns:a16="http://schemas.microsoft.com/office/drawing/2014/main" id="{445EB689-A328-1B87-E51D-3399C2DF358E}"/>
                  </a:ext>
                </a:extLst>
              </p:cNvPr>
              <p:cNvSpPr/>
              <p:nvPr/>
            </p:nvSpPr>
            <p:spPr>
              <a:xfrm>
                <a:off x="4543879" y="3376623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grpSp>
            <p:nvGrpSpPr>
              <p:cNvPr id="100" name="Gruppieren 99">
                <a:extLst>
                  <a:ext uri="{FF2B5EF4-FFF2-40B4-BE49-F238E27FC236}">
                    <a16:creationId xmlns:a16="http://schemas.microsoft.com/office/drawing/2014/main" id="{1CFEC5AD-9C67-FC0B-3CB0-EB0A0B29F475}"/>
                  </a:ext>
                </a:extLst>
              </p:cNvPr>
              <p:cNvGrpSpPr/>
              <p:nvPr/>
            </p:nvGrpSpPr>
            <p:grpSpPr>
              <a:xfrm>
                <a:off x="4848264" y="2569470"/>
                <a:ext cx="1956975" cy="1292664"/>
                <a:chOff x="4848264" y="2569470"/>
                <a:chExt cx="1956975" cy="1292664"/>
              </a:xfrm>
            </p:grpSpPr>
            <p:grpSp>
              <p:nvGrpSpPr>
                <p:cNvPr id="101" name="Gruppieren 100">
                  <a:extLst>
                    <a:ext uri="{FF2B5EF4-FFF2-40B4-BE49-F238E27FC236}">
                      <a16:creationId xmlns:a16="http://schemas.microsoft.com/office/drawing/2014/main" id="{3236B63F-24F4-33C8-1617-7AEDCC9C6494}"/>
                    </a:ext>
                  </a:extLst>
                </p:cNvPr>
                <p:cNvGrpSpPr/>
                <p:nvPr/>
              </p:nvGrpSpPr>
              <p:grpSpPr>
                <a:xfrm>
                  <a:off x="5832171" y="2569470"/>
                  <a:ext cx="973068" cy="1292664"/>
                  <a:chOff x="1761821" y="1719128"/>
                  <a:chExt cx="973068" cy="1292664"/>
                </a:xfrm>
              </p:grpSpPr>
              <p:grpSp>
                <p:nvGrpSpPr>
                  <p:cNvPr id="107" name="Gruppieren 106">
                    <a:extLst>
                      <a:ext uri="{FF2B5EF4-FFF2-40B4-BE49-F238E27FC236}">
                        <a16:creationId xmlns:a16="http://schemas.microsoft.com/office/drawing/2014/main" id="{5F41CE6E-5647-303D-A324-7D9981D5D538}"/>
                      </a:ext>
                    </a:extLst>
                  </p:cNvPr>
                  <p:cNvGrpSpPr/>
                  <p:nvPr/>
                </p:nvGrpSpPr>
                <p:grpSpPr>
                  <a:xfrm>
                    <a:off x="1761822" y="1934572"/>
                    <a:ext cx="973067" cy="1077220"/>
                    <a:chOff x="2652409" y="2248896"/>
                    <a:chExt cx="973067" cy="1077220"/>
                  </a:xfrm>
                </p:grpSpPr>
                <p:sp>
                  <p:nvSpPr>
                    <p:cNvPr id="109" name="Rechteck 108">
                      <a:extLst>
                        <a:ext uri="{FF2B5EF4-FFF2-40B4-BE49-F238E27FC236}">
                          <a16:creationId xmlns:a16="http://schemas.microsoft.com/office/drawing/2014/main" id="{A1A3E7AE-CF8F-8197-0C0D-E80FD3945A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Byte</a:t>
                      </a:r>
                    </a:p>
                  </p:txBody>
                </p:sp>
                <p:sp>
                  <p:nvSpPr>
                    <p:cNvPr id="110" name="Rechteck 109">
                      <a:extLst>
                        <a:ext uri="{FF2B5EF4-FFF2-40B4-BE49-F238E27FC236}">
                          <a16:creationId xmlns:a16="http://schemas.microsoft.com/office/drawing/2014/main" id="{37AB2430-0A2A-8930-D5C9-DB91425C58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p:txBody>
                </p:sp>
                <p:sp>
                  <p:nvSpPr>
                    <p:cNvPr id="111" name="Rechteck 110">
                      <a:extLst>
                        <a:ext uri="{FF2B5EF4-FFF2-40B4-BE49-F238E27FC236}">
                          <a16:creationId xmlns:a16="http://schemas.microsoft.com/office/drawing/2014/main" id="{F77D4F8D-4828-9660-0BA9-1950662D89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sp>
                  <p:nvSpPr>
                    <p:cNvPr id="112" name="Rechteck 111">
                      <a:extLst>
                        <a:ext uri="{FF2B5EF4-FFF2-40B4-BE49-F238E27FC236}">
                          <a16:creationId xmlns:a16="http://schemas.microsoft.com/office/drawing/2014/main" id="{B5A8A36C-5E88-5657-7FFC-3B7593C769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0x2A</a:t>
                      </a:r>
                    </a:p>
                  </p:txBody>
                </p:sp>
                <p:sp>
                  <p:nvSpPr>
                    <p:cNvPr id="113" name="Rechteck 112">
                      <a:extLst>
                        <a:ext uri="{FF2B5EF4-FFF2-40B4-BE49-F238E27FC236}">
                          <a16:creationId xmlns:a16="http://schemas.microsoft.com/office/drawing/2014/main" id="{39160CE1-AE90-0ACD-FDB9-657E512D36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114" name="Rechteck 113">
                      <a:extLst>
                        <a:ext uri="{FF2B5EF4-FFF2-40B4-BE49-F238E27FC236}">
                          <a16:creationId xmlns:a16="http://schemas.microsoft.com/office/drawing/2014/main" id="{A5028BA7-D517-866A-4EA9-88E767E3C9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115" name="Rechteck 114">
                      <a:extLst>
                        <a:ext uri="{FF2B5EF4-FFF2-40B4-BE49-F238E27FC236}">
                          <a16:creationId xmlns:a16="http://schemas.microsoft.com/office/drawing/2014/main" id="{C69F8EE5-54FA-8A67-DAEA-5D0BAE0797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116" name="Rechteck 115">
                      <a:extLst>
                        <a:ext uri="{FF2B5EF4-FFF2-40B4-BE49-F238E27FC236}">
                          <a16:creationId xmlns:a16="http://schemas.microsoft.com/office/drawing/2014/main" id="{733A1185-C226-7234-816B-DB2A95A7F9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117" name="Rechteck 116">
                      <a:extLst>
                        <a:ext uri="{FF2B5EF4-FFF2-40B4-BE49-F238E27FC236}">
                          <a16:creationId xmlns:a16="http://schemas.microsoft.com/office/drawing/2014/main" id="{D567699E-C820-C36B-2426-00DD1AD1CE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118" name="Rechteck 117">
                      <a:extLst>
                        <a:ext uri="{FF2B5EF4-FFF2-40B4-BE49-F238E27FC236}">
                          <a16:creationId xmlns:a16="http://schemas.microsoft.com/office/drawing/2014/main" id="{FCB4C64F-013D-263D-74F6-6BAA527E12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</p:grpSp>
              <p:sp>
                <p:nvSpPr>
                  <p:cNvPr id="108" name="Rechteck 107">
                    <a:extLst>
                      <a:ext uri="{FF2B5EF4-FFF2-40B4-BE49-F238E27FC236}">
                        <a16:creationId xmlns:a16="http://schemas.microsoft.com/office/drawing/2014/main" id="{08D3FFC3-DF1B-3B6B-F0B3-CAF2668EA9B1}"/>
                      </a:ext>
                    </a:extLst>
                  </p:cNvPr>
                  <p:cNvSpPr/>
                  <p:nvPr/>
                </p:nvSpPr>
                <p:spPr>
                  <a:xfrm>
                    <a:off x="1761821" y="1719128"/>
                    <a:ext cx="973067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200" dirty="0">
                        <a:solidFill>
                          <a:schemeClr val="tx1"/>
                        </a:solidFill>
                      </a:rPr>
                      <a:t>Heap</a:t>
                    </a:r>
                  </a:p>
                </p:txBody>
              </p:sp>
            </p:grpSp>
            <p:sp>
              <p:nvSpPr>
                <p:cNvPr id="102" name="Pfeil: nach unten 101">
                  <a:extLst>
                    <a:ext uri="{FF2B5EF4-FFF2-40B4-BE49-F238E27FC236}">
                      <a16:creationId xmlns:a16="http://schemas.microsoft.com/office/drawing/2014/main" id="{9D108651-9212-34D1-8780-894CCEBC3CDC}"/>
                    </a:ext>
                  </a:extLst>
                </p:cNvPr>
                <p:cNvSpPr/>
                <p:nvPr/>
              </p:nvSpPr>
              <p:spPr>
                <a:xfrm>
                  <a:off x="4848264" y="2902873"/>
                  <a:ext cx="131003" cy="430888"/>
                </a:xfrm>
                <a:prstGeom prst="downArrow">
                  <a:avLst/>
                </a:prstGeom>
                <a:solidFill>
                  <a:schemeClr val="bg1"/>
                </a:solidFill>
                <a:ln w="9525"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cxnSp>
              <p:nvCxnSpPr>
                <p:cNvPr id="104" name="Verbinder: gekrümmt 103">
                  <a:extLst>
                    <a:ext uri="{FF2B5EF4-FFF2-40B4-BE49-F238E27FC236}">
                      <a16:creationId xmlns:a16="http://schemas.microsoft.com/office/drawing/2014/main" id="{D7D6E1BE-C718-4678-A2E0-3FD7CE2BC01B}"/>
                    </a:ext>
                  </a:extLst>
                </p:cNvPr>
                <p:cNvCxnSpPr>
                  <a:cxnSpLocks/>
                  <a:stCxn id="99" idx="3"/>
                  <a:endCxn id="111" idx="1"/>
                </p:cNvCxnSpPr>
                <p:nvPr/>
              </p:nvCxnSpPr>
              <p:spPr>
                <a:xfrm flipV="1">
                  <a:off x="5283654" y="3108080"/>
                  <a:ext cx="548518" cy="376266"/>
                </a:xfrm>
                <a:prstGeom prst="curvedConnector3">
                  <a:avLst>
                    <a:gd name="adj1" fmla="val 50000"/>
                  </a:avLst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Verbinder: gekrümmt 104">
                  <a:extLst>
                    <a:ext uri="{FF2B5EF4-FFF2-40B4-BE49-F238E27FC236}">
                      <a16:creationId xmlns:a16="http://schemas.microsoft.com/office/drawing/2014/main" id="{05996DAF-0F4F-5A90-59DA-779C55937FC8}"/>
                    </a:ext>
                  </a:extLst>
                </p:cNvPr>
                <p:cNvCxnSpPr>
                  <a:cxnSpLocks/>
                  <a:stCxn id="98" idx="3"/>
                  <a:endCxn id="111" idx="1"/>
                </p:cNvCxnSpPr>
                <p:nvPr/>
              </p:nvCxnSpPr>
              <p:spPr>
                <a:xfrm>
                  <a:off x="5283654" y="2762720"/>
                  <a:ext cx="548518" cy="345360"/>
                </a:xfrm>
                <a:prstGeom prst="curvedConnector3">
                  <a:avLst>
                    <a:gd name="adj1" fmla="val 50000"/>
                  </a:avLst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125B46B9-7411-AB5C-4E05-EBCE4CD6CA1B}"/>
                </a:ext>
              </a:extLst>
            </p:cNvPr>
            <p:cNvSpPr/>
            <p:nvPr/>
          </p:nvSpPr>
          <p:spPr>
            <a:xfrm>
              <a:off x="4967776" y="3465061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E7A444E9-E89E-FBDD-953A-590AC0E3B078}"/>
              </a:ext>
            </a:extLst>
          </p:cNvPr>
          <p:cNvGrpSpPr/>
          <p:nvPr/>
        </p:nvGrpSpPr>
        <p:grpSpPr>
          <a:xfrm>
            <a:off x="8648692" y="3071078"/>
            <a:ext cx="2261360" cy="1292664"/>
            <a:chOff x="8648692" y="3071078"/>
            <a:chExt cx="2261360" cy="1292664"/>
          </a:xfrm>
        </p:grpSpPr>
        <p:grpSp>
          <p:nvGrpSpPr>
            <p:cNvPr id="119" name="Gruppieren 118">
              <a:extLst>
                <a:ext uri="{FF2B5EF4-FFF2-40B4-BE49-F238E27FC236}">
                  <a16:creationId xmlns:a16="http://schemas.microsoft.com/office/drawing/2014/main" id="{FF539E99-0D83-1A55-DDF3-3783EF99484B}"/>
                </a:ext>
              </a:extLst>
            </p:cNvPr>
            <p:cNvGrpSpPr/>
            <p:nvPr/>
          </p:nvGrpSpPr>
          <p:grpSpPr>
            <a:xfrm>
              <a:off x="8648692" y="3071078"/>
              <a:ext cx="2261360" cy="1292664"/>
              <a:chOff x="8582479" y="2547019"/>
              <a:chExt cx="2261360" cy="1292664"/>
            </a:xfrm>
          </p:grpSpPr>
          <p:grpSp>
            <p:nvGrpSpPr>
              <p:cNvPr id="128" name="Gruppieren 127">
                <a:extLst>
                  <a:ext uri="{FF2B5EF4-FFF2-40B4-BE49-F238E27FC236}">
                    <a16:creationId xmlns:a16="http://schemas.microsoft.com/office/drawing/2014/main" id="{1B2540EA-7872-B31A-4FC3-764161394837}"/>
                  </a:ext>
                </a:extLst>
              </p:cNvPr>
              <p:cNvGrpSpPr/>
              <p:nvPr/>
            </p:nvGrpSpPr>
            <p:grpSpPr>
              <a:xfrm>
                <a:off x="9870771" y="2547019"/>
                <a:ext cx="973068" cy="1292664"/>
                <a:chOff x="1761821" y="1719128"/>
                <a:chExt cx="973068" cy="1292664"/>
              </a:xfrm>
            </p:grpSpPr>
            <p:grpSp>
              <p:nvGrpSpPr>
                <p:cNvPr id="155" name="Gruppieren 154">
                  <a:extLst>
                    <a:ext uri="{FF2B5EF4-FFF2-40B4-BE49-F238E27FC236}">
                      <a16:creationId xmlns:a16="http://schemas.microsoft.com/office/drawing/2014/main" id="{D226D8D9-4EDE-1EB3-31AC-ABB24EBB6F7F}"/>
                    </a:ext>
                  </a:extLst>
                </p:cNvPr>
                <p:cNvGrpSpPr/>
                <p:nvPr/>
              </p:nvGrpSpPr>
              <p:grpSpPr>
                <a:xfrm>
                  <a:off x="1761822" y="1934572"/>
                  <a:ext cx="973067" cy="1077220"/>
                  <a:chOff x="2652409" y="2248896"/>
                  <a:chExt cx="973067" cy="1077220"/>
                </a:xfrm>
              </p:grpSpPr>
              <p:sp>
                <p:nvSpPr>
                  <p:cNvPr id="157" name="Rechteck 156">
                    <a:extLst>
                      <a:ext uri="{FF2B5EF4-FFF2-40B4-BE49-F238E27FC236}">
                        <a16:creationId xmlns:a16="http://schemas.microsoft.com/office/drawing/2014/main" id="{A624466F-B5A6-2036-1B20-AB05E50E2C1B}"/>
                      </a:ext>
                    </a:extLst>
                  </p:cNvPr>
                  <p:cNvSpPr/>
                  <p:nvPr/>
                </p:nvSpPr>
                <p:spPr>
                  <a:xfrm>
                    <a:off x="2652409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Byte</a:t>
                    </a:r>
                  </a:p>
                </p:txBody>
              </p:sp>
              <p:sp>
                <p:nvSpPr>
                  <p:cNvPr id="158" name="Rechteck 157">
                    <a:extLst>
                      <a:ext uri="{FF2B5EF4-FFF2-40B4-BE49-F238E27FC236}">
                        <a16:creationId xmlns:a16="http://schemas.microsoft.com/office/drawing/2014/main" id="{F94B684A-897E-A7F8-9B07-3B6B8073F529}"/>
                      </a:ext>
                    </a:extLst>
                  </p:cNvPr>
                  <p:cNvSpPr/>
                  <p:nvPr/>
                </p:nvSpPr>
                <p:spPr>
                  <a:xfrm>
                    <a:off x="3139094" y="2248896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Value</a:t>
                    </a:r>
                  </a:p>
                </p:txBody>
              </p:sp>
              <p:sp>
                <p:nvSpPr>
                  <p:cNvPr id="159" name="Rechteck 158">
                    <a:extLst>
                      <a:ext uri="{FF2B5EF4-FFF2-40B4-BE49-F238E27FC236}">
                        <a16:creationId xmlns:a16="http://schemas.microsoft.com/office/drawing/2014/main" id="{14D48A19-4E89-93C0-183D-090D6C2E0972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  <p:sp>
                <p:nvSpPr>
                  <p:cNvPr id="160" name="Rechteck 159">
                    <a:extLst>
                      <a:ext uri="{FF2B5EF4-FFF2-40B4-BE49-F238E27FC236}">
                        <a16:creationId xmlns:a16="http://schemas.microsoft.com/office/drawing/2014/main" id="{FE3415E6-B833-CDD8-AE73-EADA529845AF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0x2A</a:t>
                    </a:r>
                  </a:p>
                </p:txBody>
              </p:sp>
              <p:sp>
                <p:nvSpPr>
                  <p:cNvPr id="161" name="Rechteck 160">
                    <a:extLst>
                      <a:ext uri="{FF2B5EF4-FFF2-40B4-BE49-F238E27FC236}">
                        <a16:creationId xmlns:a16="http://schemas.microsoft.com/office/drawing/2014/main" id="{C0FEFCB4-B6DC-2769-0D53-CCA9C5C4D7A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1</a:t>
                    </a:r>
                  </a:p>
                </p:txBody>
              </p:sp>
              <p:sp>
                <p:nvSpPr>
                  <p:cNvPr id="162" name="Rechteck 161">
                    <a:extLst>
                      <a:ext uri="{FF2B5EF4-FFF2-40B4-BE49-F238E27FC236}">
                        <a16:creationId xmlns:a16="http://schemas.microsoft.com/office/drawing/2014/main" id="{DECFF2D5-AF17-042C-6892-8BF5529CD34B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163" name="Rechteck 162">
                    <a:extLst>
                      <a:ext uri="{FF2B5EF4-FFF2-40B4-BE49-F238E27FC236}">
                        <a16:creationId xmlns:a16="http://schemas.microsoft.com/office/drawing/2014/main" id="{7BA38FC0-C6CB-05D0-44A7-1CA9D70052A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164" name="Rechteck 163">
                    <a:extLst>
                      <a:ext uri="{FF2B5EF4-FFF2-40B4-BE49-F238E27FC236}">
                        <a16:creationId xmlns:a16="http://schemas.microsoft.com/office/drawing/2014/main" id="{45EDA49C-60BA-68FF-7074-EB90C0FD4656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165" name="Rechteck 164">
                    <a:extLst>
                      <a:ext uri="{FF2B5EF4-FFF2-40B4-BE49-F238E27FC236}">
                        <a16:creationId xmlns:a16="http://schemas.microsoft.com/office/drawing/2014/main" id="{32BF5C0C-16F7-A6BD-385F-D4BDBC276CE0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  <p:sp>
                <p:nvSpPr>
                  <p:cNvPr id="166" name="Rechteck 165">
                    <a:extLst>
                      <a:ext uri="{FF2B5EF4-FFF2-40B4-BE49-F238E27FC236}">
                        <a16:creationId xmlns:a16="http://schemas.microsoft.com/office/drawing/2014/main" id="{42DADFD8-12B5-8E06-28A2-D555FB281D42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</p:grpSp>
            <p:sp>
              <p:nvSpPr>
                <p:cNvPr id="156" name="Rechteck 155">
                  <a:extLst>
                    <a:ext uri="{FF2B5EF4-FFF2-40B4-BE49-F238E27FC236}">
                      <a16:creationId xmlns:a16="http://schemas.microsoft.com/office/drawing/2014/main" id="{F850DA0B-BB70-1371-191C-309A203615E3}"/>
                    </a:ext>
                  </a:extLst>
                </p:cNvPr>
                <p:cNvSpPr/>
                <p:nvPr/>
              </p:nvSpPr>
              <p:spPr>
                <a:xfrm>
                  <a:off x="1761821" y="1719128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1200" dirty="0">
                      <a:solidFill>
                        <a:schemeClr val="tx1"/>
                      </a:solidFill>
                    </a:rPr>
                    <a:t>Heap</a:t>
                  </a:r>
                </a:p>
              </p:txBody>
            </p:sp>
          </p:grpSp>
          <p:sp>
            <p:nvSpPr>
              <p:cNvPr id="129" name="Rechteck: abgerundete Ecken 128">
                <a:extLst>
                  <a:ext uri="{FF2B5EF4-FFF2-40B4-BE49-F238E27FC236}">
                    <a16:creationId xmlns:a16="http://schemas.microsoft.com/office/drawing/2014/main" id="{6D0769AB-CE63-E707-B78F-D078B6328F65}"/>
                  </a:ext>
                </a:extLst>
              </p:cNvPr>
              <p:cNvSpPr/>
              <p:nvPr/>
            </p:nvSpPr>
            <p:spPr>
              <a:xfrm>
                <a:off x="8582479" y="2632546"/>
                <a:ext cx="739775" cy="215445"/>
              </a:xfrm>
              <a:prstGeom prst="roundRect">
                <a:avLst/>
              </a:prstGeom>
              <a:pattFill prst="ltUpDiag">
                <a:fgClr>
                  <a:schemeClr val="accent1"/>
                </a:fgClr>
                <a:bgClr>
                  <a:schemeClr val="bg1"/>
                </a:bgClr>
              </a:patt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sp>
            <p:nvSpPr>
              <p:cNvPr id="131" name="Rechteck: abgerundete Ecken 130">
                <a:extLst>
                  <a:ext uri="{FF2B5EF4-FFF2-40B4-BE49-F238E27FC236}">
                    <a16:creationId xmlns:a16="http://schemas.microsoft.com/office/drawing/2014/main" id="{E977CA52-64C8-1178-508F-D8B91971ECCA}"/>
                  </a:ext>
                </a:extLst>
              </p:cNvPr>
              <p:cNvSpPr/>
              <p:nvPr/>
            </p:nvSpPr>
            <p:spPr>
              <a:xfrm>
                <a:off x="8582479" y="3354172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sp>
            <p:nvSpPr>
              <p:cNvPr id="132" name="Pfeil: nach unten 131">
                <a:extLst>
                  <a:ext uri="{FF2B5EF4-FFF2-40B4-BE49-F238E27FC236}">
                    <a16:creationId xmlns:a16="http://schemas.microsoft.com/office/drawing/2014/main" id="{D8AA64FC-0336-F155-DE73-CFC6FEB27894}"/>
                  </a:ext>
                </a:extLst>
              </p:cNvPr>
              <p:cNvSpPr/>
              <p:nvPr/>
            </p:nvSpPr>
            <p:spPr>
              <a:xfrm>
                <a:off x="8886864" y="2880422"/>
                <a:ext cx="131003" cy="430888"/>
              </a:xfrm>
              <a:prstGeom prst="downArrow">
                <a:avLst/>
              </a:prstGeom>
              <a:solidFill>
                <a:schemeClr val="bg1"/>
              </a:solidFill>
              <a:ln w="9525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152" name="Verbinder: gekrümmt 151">
                <a:extLst>
                  <a:ext uri="{FF2B5EF4-FFF2-40B4-BE49-F238E27FC236}">
                    <a16:creationId xmlns:a16="http://schemas.microsoft.com/office/drawing/2014/main" id="{D4B80CC1-7B54-47D4-C409-41FEC94D584A}"/>
                  </a:ext>
                </a:extLst>
              </p:cNvPr>
              <p:cNvCxnSpPr>
                <a:cxnSpLocks/>
                <a:stCxn id="131" idx="3"/>
                <a:endCxn id="159" idx="1"/>
              </p:cNvCxnSpPr>
              <p:nvPr/>
            </p:nvCxnSpPr>
            <p:spPr>
              <a:xfrm flipV="1">
                <a:off x="9322254" y="3085629"/>
                <a:ext cx="548518" cy="376266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Rechteck: abgerundete Ecken 8">
              <a:extLst>
                <a:ext uri="{FF2B5EF4-FFF2-40B4-BE49-F238E27FC236}">
                  <a16:creationId xmlns:a16="http://schemas.microsoft.com/office/drawing/2014/main" id="{6A3CCBDC-745D-5791-AA87-85415892A529}"/>
                </a:ext>
              </a:extLst>
            </p:cNvPr>
            <p:cNvSpPr/>
            <p:nvPr/>
          </p:nvSpPr>
          <p:spPr>
            <a:xfrm>
              <a:off x="8707391" y="3548681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2E8020D3-08E8-4DDC-2697-64155E5D772F}"/>
              </a:ext>
            </a:extLst>
          </p:cNvPr>
          <p:cNvGrpSpPr/>
          <p:nvPr/>
        </p:nvGrpSpPr>
        <p:grpSpPr>
          <a:xfrm>
            <a:off x="1126218" y="2510287"/>
            <a:ext cx="2352603" cy="2364765"/>
            <a:chOff x="1126218" y="2510287"/>
            <a:chExt cx="2352603" cy="2364765"/>
          </a:xfrm>
        </p:grpSpPr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162258AA-BBCA-7157-7521-ADB501DD45C3}"/>
                </a:ext>
              </a:extLst>
            </p:cNvPr>
            <p:cNvGrpSpPr/>
            <p:nvPr/>
          </p:nvGrpSpPr>
          <p:grpSpPr>
            <a:xfrm>
              <a:off x="1126218" y="2510287"/>
              <a:ext cx="2352603" cy="2364765"/>
              <a:chOff x="1642760" y="2311163"/>
              <a:chExt cx="2352603" cy="2364765"/>
            </a:xfrm>
          </p:grpSpPr>
          <p:sp>
            <p:nvSpPr>
              <p:cNvPr id="40" name="Rechteck: abgerundete Ecken 39">
                <a:extLst>
                  <a:ext uri="{FF2B5EF4-FFF2-40B4-BE49-F238E27FC236}">
                    <a16:creationId xmlns:a16="http://schemas.microsoft.com/office/drawing/2014/main" id="{AE11E35A-8B65-E893-749E-F84BB5212F7C}"/>
                  </a:ext>
                </a:extLst>
              </p:cNvPr>
              <p:cNvSpPr/>
              <p:nvPr/>
            </p:nvSpPr>
            <p:spPr>
              <a:xfrm>
                <a:off x="1642760" y="2925064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pointer_1</a:t>
                </a:r>
              </a:p>
            </p:txBody>
          </p:sp>
          <p:grpSp>
            <p:nvGrpSpPr>
              <p:cNvPr id="41" name="Gruppieren 40">
                <a:extLst>
                  <a:ext uri="{FF2B5EF4-FFF2-40B4-BE49-F238E27FC236}">
                    <a16:creationId xmlns:a16="http://schemas.microsoft.com/office/drawing/2014/main" id="{F7BE0E65-4D69-3C39-9DBF-BB8F3AA60E86}"/>
                  </a:ext>
                </a:extLst>
              </p:cNvPr>
              <p:cNvGrpSpPr/>
              <p:nvPr/>
            </p:nvGrpSpPr>
            <p:grpSpPr>
              <a:xfrm>
                <a:off x="3022144" y="2311163"/>
                <a:ext cx="973219" cy="2364765"/>
                <a:chOff x="2425245" y="2471449"/>
                <a:chExt cx="973219" cy="2364765"/>
              </a:xfrm>
            </p:grpSpPr>
            <p:grpSp>
              <p:nvGrpSpPr>
                <p:cNvPr id="48" name="Gruppieren 47">
                  <a:extLst>
                    <a:ext uri="{FF2B5EF4-FFF2-40B4-BE49-F238E27FC236}">
                      <a16:creationId xmlns:a16="http://schemas.microsoft.com/office/drawing/2014/main" id="{0CD405E9-3FCA-4233-86EE-DBD6E57A648E}"/>
                    </a:ext>
                  </a:extLst>
                </p:cNvPr>
                <p:cNvGrpSpPr/>
                <p:nvPr/>
              </p:nvGrpSpPr>
              <p:grpSpPr>
                <a:xfrm>
                  <a:off x="2425396" y="2471449"/>
                  <a:ext cx="973068" cy="1292664"/>
                  <a:chOff x="1761821" y="1719128"/>
                  <a:chExt cx="973068" cy="1292664"/>
                </a:xfrm>
              </p:grpSpPr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7CC21FE3-8087-E4B4-6ABE-ED0A49B3326A}"/>
                      </a:ext>
                    </a:extLst>
                  </p:cNvPr>
                  <p:cNvGrpSpPr/>
                  <p:nvPr/>
                </p:nvGrpSpPr>
                <p:grpSpPr>
                  <a:xfrm>
                    <a:off x="1761822" y="1934572"/>
                    <a:ext cx="973067" cy="1077220"/>
                    <a:chOff x="2652409" y="2248896"/>
                    <a:chExt cx="973067" cy="1077220"/>
                  </a:xfrm>
                </p:grpSpPr>
                <p:sp>
                  <p:nvSpPr>
                    <p:cNvPr id="70" name="Rechteck 69">
                      <a:extLst>
                        <a:ext uri="{FF2B5EF4-FFF2-40B4-BE49-F238E27FC236}">
                          <a16:creationId xmlns:a16="http://schemas.microsoft.com/office/drawing/2014/main" id="{BA6B252A-9B31-3D08-6611-65D231AF5C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Byte</a:t>
                      </a:r>
                    </a:p>
                  </p:txBody>
                </p:sp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37A39057-EE4B-F7E2-9C72-45E5D43754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248896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Value</a:t>
                      </a:r>
                    </a:p>
                  </p:txBody>
                </p:sp>
                <p:sp>
                  <p:nvSpPr>
                    <p:cNvPr id="88" name="Rechteck 87">
                      <a:extLst>
                        <a:ext uri="{FF2B5EF4-FFF2-40B4-BE49-F238E27FC236}">
                          <a16:creationId xmlns:a16="http://schemas.microsoft.com/office/drawing/2014/main" id="{80A1B1E5-37EA-2621-01A7-A086CCC921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p:txBody>
                </p:sp>
                <p:sp>
                  <p:nvSpPr>
                    <p:cNvPr id="89" name="Rechteck 88">
                      <a:extLst>
                        <a:ext uri="{FF2B5EF4-FFF2-40B4-BE49-F238E27FC236}">
                          <a16:creationId xmlns:a16="http://schemas.microsoft.com/office/drawing/2014/main" id="{9182D0DB-69F1-9849-BC27-6FDB121A95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464340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0x2A</a:t>
                      </a:r>
                    </a:p>
                  </p:txBody>
                </p:sp>
                <p:sp>
                  <p:nvSpPr>
                    <p:cNvPr id="91" name="Rechteck 90">
                      <a:extLst>
                        <a:ext uri="{FF2B5EF4-FFF2-40B4-BE49-F238E27FC236}">
                          <a16:creationId xmlns:a16="http://schemas.microsoft.com/office/drawing/2014/main" id="{DA2DCF3F-6A1B-A44D-0730-A69B850C14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p:txBody>
                </p:sp>
                <p:sp>
                  <p:nvSpPr>
                    <p:cNvPr id="92" name="Rechteck 91">
                      <a:extLst>
                        <a:ext uri="{FF2B5EF4-FFF2-40B4-BE49-F238E27FC236}">
                          <a16:creationId xmlns:a16="http://schemas.microsoft.com/office/drawing/2014/main" id="{B0E3E15A-2609-FBC4-4F0D-E51C5E76BD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679784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93" name="Rechteck 92">
                      <a:extLst>
                        <a:ext uri="{FF2B5EF4-FFF2-40B4-BE49-F238E27FC236}">
                          <a16:creationId xmlns:a16="http://schemas.microsoft.com/office/drawing/2014/main" id="{D26E0EDD-E04C-9EA8-3DF6-60DB9A7DE7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p:txBody>
                </p:sp>
                <p:sp>
                  <p:nvSpPr>
                    <p:cNvPr id="94" name="Rechteck 93">
                      <a:extLst>
                        <a:ext uri="{FF2B5EF4-FFF2-40B4-BE49-F238E27FC236}">
                          <a16:creationId xmlns:a16="http://schemas.microsoft.com/office/drawing/2014/main" id="{19098B0C-F1CE-372C-71CB-D57ACA30E9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2895228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  <p:sp>
                  <p:nvSpPr>
                    <p:cNvPr id="95" name="Rechteck 94">
                      <a:extLst>
                        <a:ext uri="{FF2B5EF4-FFF2-40B4-BE49-F238E27FC236}">
                          <a16:creationId xmlns:a16="http://schemas.microsoft.com/office/drawing/2014/main" id="{1CFE94D9-348D-C614-9D10-125B4C84B7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52409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p:txBody>
                </p:sp>
                <p:sp>
                  <p:nvSpPr>
                    <p:cNvPr id="96" name="Rechteck 95">
                      <a:extLst>
                        <a:ext uri="{FF2B5EF4-FFF2-40B4-BE49-F238E27FC236}">
                          <a16:creationId xmlns:a16="http://schemas.microsoft.com/office/drawing/2014/main" id="{69D019CE-9880-EF7C-A82A-EB065CAE19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39094" y="3110672"/>
                      <a:ext cx="48638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de-DE" sz="900" dirty="0">
                          <a:solidFill>
                            <a:schemeClr val="tx1"/>
                          </a:solidFill>
                        </a:rPr>
                        <a:t>0x00</a:t>
                      </a:r>
                    </a:p>
                  </p:txBody>
                </p:sp>
              </p:grp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086CD6AE-F31B-8656-DCFE-A63F3997FA59}"/>
                      </a:ext>
                    </a:extLst>
                  </p:cNvPr>
                  <p:cNvSpPr/>
                  <p:nvPr/>
                </p:nvSpPr>
                <p:spPr>
                  <a:xfrm>
                    <a:off x="1761821" y="1719128"/>
                    <a:ext cx="973067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200" dirty="0">
                        <a:solidFill>
                          <a:schemeClr val="tx1"/>
                        </a:solidFill>
                      </a:rPr>
                      <a:t>Heap</a:t>
                    </a:r>
                  </a:p>
                </p:txBody>
              </p:sp>
            </p:grpSp>
            <p:grpSp>
              <p:nvGrpSpPr>
                <p:cNvPr id="49" name="Gruppieren 48">
                  <a:extLst>
                    <a:ext uri="{FF2B5EF4-FFF2-40B4-BE49-F238E27FC236}">
                      <a16:creationId xmlns:a16="http://schemas.microsoft.com/office/drawing/2014/main" id="{370D1D4C-1654-CAED-721D-1D98D06B17CD}"/>
                    </a:ext>
                  </a:extLst>
                </p:cNvPr>
                <p:cNvGrpSpPr/>
                <p:nvPr/>
              </p:nvGrpSpPr>
              <p:grpSpPr>
                <a:xfrm>
                  <a:off x="2425245" y="3974438"/>
                  <a:ext cx="973067" cy="861776"/>
                  <a:chOff x="2652409" y="2464340"/>
                  <a:chExt cx="973067" cy="861776"/>
                </a:xfrm>
              </p:grpSpPr>
              <p:sp>
                <p:nvSpPr>
                  <p:cNvPr id="51" name="Rechteck 50">
                    <a:extLst>
                      <a:ext uri="{FF2B5EF4-FFF2-40B4-BE49-F238E27FC236}">
                        <a16:creationId xmlns:a16="http://schemas.microsoft.com/office/drawing/2014/main" id="{F252325B-3BA4-5380-6FBA-15A0DD065ED0}"/>
                      </a:ext>
                    </a:extLst>
                  </p:cNvPr>
                  <p:cNvSpPr/>
                  <p:nvPr/>
                </p:nvSpPr>
                <p:spPr>
                  <a:xfrm>
                    <a:off x="2652409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</a:t>
                    </a:r>
                  </a:p>
                </p:txBody>
              </p:sp>
              <p:sp>
                <p:nvSpPr>
                  <p:cNvPr id="52" name="Rechteck 51">
                    <a:extLst>
                      <a:ext uri="{FF2B5EF4-FFF2-40B4-BE49-F238E27FC236}">
                        <a16:creationId xmlns:a16="http://schemas.microsoft.com/office/drawing/2014/main" id="{0C52CD69-F104-BEE4-C469-A2A106918330}"/>
                      </a:ext>
                    </a:extLst>
                  </p:cNvPr>
                  <p:cNvSpPr/>
                  <p:nvPr/>
                </p:nvSpPr>
                <p:spPr>
                  <a:xfrm>
                    <a:off x="3139094" y="2464340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0x2A</a:t>
                    </a:r>
                  </a:p>
                </p:txBody>
              </p:sp>
              <p:sp>
                <p:nvSpPr>
                  <p:cNvPr id="53" name="Rechteck 52">
                    <a:extLst>
                      <a:ext uri="{FF2B5EF4-FFF2-40B4-BE49-F238E27FC236}">
                        <a16:creationId xmlns:a16="http://schemas.microsoft.com/office/drawing/2014/main" id="{69408EE3-77B1-53C9-392E-E2DFD5872932}"/>
                      </a:ext>
                    </a:extLst>
                  </p:cNvPr>
                  <p:cNvSpPr/>
                  <p:nvPr/>
                </p:nvSpPr>
                <p:spPr>
                  <a:xfrm>
                    <a:off x="2652409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1</a:t>
                    </a:r>
                  </a:p>
                </p:txBody>
              </p:sp>
              <p:sp>
                <p:nvSpPr>
                  <p:cNvPr id="54" name="Rechteck 53">
                    <a:extLst>
                      <a:ext uri="{FF2B5EF4-FFF2-40B4-BE49-F238E27FC236}">
                        <a16:creationId xmlns:a16="http://schemas.microsoft.com/office/drawing/2014/main" id="{7AB66A4B-BA6E-A7B8-70B8-C8E7DA535F2E}"/>
                      </a:ext>
                    </a:extLst>
                  </p:cNvPr>
                  <p:cNvSpPr/>
                  <p:nvPr/>
                </p:nvSpPr>
                <p:spPr>
                  <a:xfrm>
                    <a:off x="3139094" y="2679784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55" name="Rechteck 54">
                    <a:extLst>
                      <a:ext uri="{FF2B5EF4-FFF2-40B4-BE49-F238E27FC236}">
                        <a16:creationId xmlns:a16="http://schemas.microsoft.com/office/drawing/2014/main" id="{A48E3224-B307-6873-6BB5-BC793CBFE7C3}"/>
                      </a:ext>
                    </a:extLst>
                  </p:cNvPr>
                  <p:cNvSpPr/>
                  <p:nvPr/>
                </p:nvSpPr>
                <p:spPr>
                  <a:xfrm>
                    <a:off x="2652409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56" name="Rechteck 55">
                    <a:extLst>
                      <a:ext uri="{FF2B5EF4-FFF2-40B4-BE49-F238E27FC236}">
                        <a16:creationId xmlns:a16="http://schemas.microsoft.com/office/drawing/2014/main" id="{293927F2-B20B-2C5A-8D1D-60D541647BA9}"/>
                      </a:ext>
                    </a:extLst>
                  </p:cNvPr>
                  <p:cNvSpPr/>
                  <p:nvPr/>
                </p:nvSpPr>
                <p:spPr>
                  <a:xfrm>
                    <a:off x="3139094" y="2895228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  <p:sp>
                <p:nvSpPr>
                  <p:cNvPr id="58" name="Rechteck 57">
                    <a:extLst>
                      <a:ext uri="{FF2B5EF4-FFF2-40B4-BE49-F238E27FC236}">
                        <a16:creationId xmlns:a16="http://schemas.microsoft.com/office/drawing/2014/main" id="{65E44D5E-EB20-0114-F507-53C6AEB6F762}"/>
                      </a:ext>
                    </a:extLst>
                  </p:cNvPr>
                  <p:cNvSpPr/>
                  <p:nvPr/>
                </p:nvSpPr>
                <p:spPr>
                  <a:xfrm>
                    <a:off x="2652409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  <p:sp>
                <p:nvSpPr>
                  <p:cNvPr id="59" name="Rechteck 58">
                    <a:extLst>
                      <a:ext uri="{FF2B5EF4-FFF2-40B4-BE49-F238E27FC236}">
                        <a16:creationId xmlns:a16="http://schemas.microsoft.com/office/drawing/2014/main" id="{4A9F1D5B-6AF9-756B-AAB0-1E6F9995F0ED}"/>
                      </a:ext>
                    </a:extLst>
                  </p:cNvPr>
                  <p:cNvSpPr/>
                  <p:nvPr/>
                </p:nvSpPr>
                <p:spPr>
                  <a:xfrm>
                    <a:off x="3139094" y="3110672"/>
                    <a:ext cx="486382" cy="215444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900" dirty="0">
                        <a:solidFill>
                          <a:schemeClr val="tx1"/>
                        </a:solidFill>
                      </a:rPr>
                      <a:t>0x00</a:t>
                    </a:r>
                  </a:p>
                </p:txBody>
              </p:sp>
            </p:grpSp>
            <p:sp>
              <p:nvSpPr>
                <p:cNvPr id="50" name="Rechteck 49">
                  <a:extLst>
                    <a:ext uri="{FF2B5EF4-FFF2-40B4-BE49-F238E27FC236}">
                      <a16:creationId xmlns:a16="http://schemas.microsoft.com/office/drawing/2014/main" id="{CD40A918-6171-292A-404C-0EA6D5479010}"/>
                    </a:ext>
                  </a:extLst>
                </p:cNvPr>
                <p:cNvSpPr/>
                <p:nvPr/>
              </p:nvSpPr>
              <p:spPr>
                <a:xfrm>
                  <a:off x="2425396" y="3764113"/>
                  <a:ext cx="973067" cy="215444"/>
                </a:xfrm>
                <a:prstGeom prst="rect">
                  <a:avLst/>
                </a:prstGeom>
                <a:solidFill>
                  <a:schemeClr val="bg1"/>
                </a:solidFill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1200" dirty="0">
                      <a:solidFill>
                        <a:schemeClr val="tx1"/>
                      </a:solidFill>
                    </a:rPr>
                    <a:t>…</a:t>
                  </a:r>
                </a:p>
              </p:txBody>
            </p:sp>
          </p:grpSp>
          <p:cxnSp>
            <p:nvCxnSpPr>
              <p:cNvPr id="43" name="Verbinder: gekrümmt 42">
                <a:extLst>
                  <a:ext uri="{FF2B5EF4-FFF2-40B4-BE49-F238E27FC236}">
                    <a16:creationId xmlns:a16="http://schemas.microsoft.com/office/drawing/2014/main" id="{CCA1B47A-D851-1754-6FC2-9207DDDE37A0}"/>
                  </a:ext>
                </a:extLst>
              </p:cNvPr>
              <p:cNvCxnSpPr>
                <a:cxnSpLocks/>
                <a:stCxn id="45" idx="3"/>
                <a:endCxn id="51" idx="1"/>
              </p:cNvCxnSpPr>
              <p:nvPr/>
            </p:nvCxnSpPr>
            <p:spPr>
              <a:xfrm>
                <a:off x="2382535" y="3754413"/>
                <a:ext cx="639609" cy="167461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Verbinder: gekrümmt 43">
                <a:extLst>
                  <a:ext uri="{FF2B5EF4-FFF2-40B4-BE49-F238E27FC236}">
                    <a16:creationId xmlns:a16="http://schemas.microsoft.com/office/drawing/2014/main" id="{66E5CD16-0999-DDC5-C96D-68998B5105C7}"/>
                  </a:ext>
                </a:extLst>
              </p:cNvPr>
              <p:cNvCxnSpPr>
                <a:cxnSpLocks/>
                <a:stCxn id="40" idx="3"/>
                <a:endCxn id="88" idx="1"/>
              </p:cNvCxnSpPr>
              <p:nvPr/>
            </p:nvCxnSpPr>
            <p:spPr>
              <a:xfrm flipV="1">
                <a:off x="2382535" y="2849773"/>
                <a:ext cx="639761" cy="183014"/>
              </a:xfrm>
              <a:prstGeom prst="curved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hteck: abgerundete Ecken 44">
                <a:extLst>
                  <a:ext uri="{FF2B5EF4-FFF2-40B4-BE49-F238E27FC236}">
                    <a16:creationId xmlns:a16="http://schemas.microsoft.com/office/drawing/2014/main" id="{59ACE8F1-BDF5-21B3-520F-51831165A4EA}"/>
                  </a:ext>
                </a:extLst>
              </p:cNvPr>
              <p:cNvSpPr/>
              <p:nvPr/>
            </p:nvSpPr>
            <p:spPr>
              <a:xfrm>
                <a:off x="1642760" y="3646690"/>
                <a:ext cx="739775" cy="215445"/>
              </a:xfrm>
              <a:prstGeom prst="roundRect">
                <a:avLst/>
              </a:prstGeom>
              <a:solidFill>
                <a:schemeClr val="bg1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000" dirty="0">
                    <a:solidFill>
                      <a:schemeClr val="tx1"/>
                    </a:solidFill>
                  </a:rPr>
                  <a:t>pointer_2</a:t>
                </a:r>
              </a:p>
            </p:txBody>
          </p:sp>
          <p:sp>
            <p:nvSpPr>
              <p:cNvPr id="46" name="Pfeil: nach unten 45">
                <a:extLst>
                  <a:ext uri="{FF2B5EF4-FFF2-40B4-BE49-F238E27FC236}">
                    <a16:creationId xmlns:a16="http://schemas.microsoft.com/office/drawing/2014/main" id="{BB6E306C-BF14-08F0-9613-5393E6147FBA}"/>
                  </a:ext>
                </a:extLst>
              </p:cNvPr>
              <p:cNvSpPr/>
              <p:nvPr/>
            </p:nvSpPr>
            <p:spPr>
              <a:xfrm>
                <a:off x="1947145" y="3172940"/>
                <a:ext cx="131003" cy="430888"/>
              </a:xfrm>
              <a:prstGeom prst="downArrow">
                <a:avLst/>
              </a:prstGeom>
              <a:solidFill>
                <a:schemeClr val="bg1"/>
              </a:solidFill>
              <a:ln w="9525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7" name="Rechteck: abgerundete Ecken 6">
              <a:extLst>
                <a:ext uri="{FF2B5EF4-FFF2-40B4-BE49-F238E27FC236}">
                  <a16:creationId xmlns:a16="http://schemas.microsoft.com/office/drawing/2014/main" id="{2396C632-7867-638A-AFD8-691000F47754}"/>
                </a:ext>
              </a:extLst>
            </p:cNvPr>
            <p:cNvSpPr/>
            <p:nvPr/>
          </p:nvSpPr>
          <p:spPr>
            <a:xfrm>
              <a:off x="1190734" y="3509103"/>
              <a:ext cx="620562" cy="167241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700" dirty="0"/>
                <a:t>Ownership</a:t>
              </a:r>
              <a:endParaRPr lang="de-DE" sz="500" dirty="0"/>
            </a:p>
          </p:txBody>
        </p:sp>
      </p:grpSp>
    </p:spTree>
    <p:extLst>
      <p:ext uri="{BB962C8B-B14F-4D97-AF65-F5344CB8AC3E}">
        <p14:creationId xmlns:p14="http://schemas.microsoft.com/office/powerpoint/2010/main" val="30597730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4725F-0618-0E7C-EB09-A60DBB1B6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84EBDB0D-544C-B814-F109-5578AC4347C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E725BC1-3A61-842C-A167-B8427F26D5A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23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1B0325-7AC5-C0C0-B015-7E049404F1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E8AB9955-93C7-3ABB-2E65-35A1C5CB6B93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Move Semantics</a:t>
            </a:r>
            <a:r>
              <a:rPr lang="en-US" sz="1200" baseline="-25000" dirty="0"/>
              <a:t>[7]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8145A80-FD61-9796-FB23-E3BA5D2F8370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[7] </a:t>
            </a:r>
            <a:r>
              <a:rPr lang="de-DE" sz="800" dirty="0">
                <a:hlinkClick r:id="rId3"/>
              </a:rPr>
              <a:t>https://doc.rust-lang.org/book/ch04-01-what-is-ownership.html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119" name="Gruppieren 118">
            <a:extLst>
              <a:ext uri="{FF2B5EF4-FFF2-40B4-BE49-F238E27FC236}">
                <a16:creationId xmlns:a16="http://schemas.microsoft.com/office/drawing/2014/main" id="{6F166E70-96DC-9005-DB3D-609B97CBC9A8}"/>
              </a:ext>
            </a:extLst>
          </p:cNvPr>
          <p:cNvGrpSpPr/>
          <p:nvPr/>
        </p:nvGrpSpPr>
        <p:grpSpPr>
          <a:xfrm>
            <a:off x="3727071" y="1881298"/>
            <a:ext cx="4737855" cy="2708306"/>
            <a:chOff x="8582479" y="2547019"/>
            <a:chExt cx="2261360" cy="1292664"/>
          </a:xfrm>
        </p:grpSpPr>
        <p:grpSp>
          <p:nvGrpSpPr>
            <p:cNvPr id="128" name="Gruppieren 127">
              <a:extLst>
                <a:ext uri="{FF2B5EF4-FFF2-40B4-BE49-F238E27FC236}">
                  <a16:creationId xmlns:a16="http://schemas.microsoft.com/office/drawing/2014/main" id="{B102BDE9-B2BA-64DE-BAB4-87F0CA0B8C60}"/>
                </a:ext>
              </a:extLst>
            </p:cNvPr>
            <p:cNvGrpSpPr/>
            <p:nvPr/>
          </p:nvGrpSpPr>
          <p:grpSpPr>
            <a:xfrm>
              <a:off x="9870771" y="2547019"/>
              <a:ext cx="973068" cy="1292664"/>
              <a:chOff x="1761821" y="1719128"/>
              <a:chExt cx="973068" cy="1292664"/>
            </a:xfrm>
          </p:grpSpPr>
          <p:grpSp>
            <p:nvGrpSpPr>
              <p:cNvPr id="155" name="Gruppieren 154">
                <a:extLst>
                  <a:ext uri="{FF2B5EF4-FFF2-40B4-BE49-F238E27FC236}">
                    <a16:creationId xmlns:a16="http://schemas.microsoft.com/office/drawing/2014/main" id="{F4FEC164-15F3-E57C-0ABE-46ECA04E96B0}"/>
                  </a:ext>
                </a:extLst>
              </p:cNvPr>
              <p:cNvGrpSpPr/>
              <p:nvPr/>
            </p:nvGrpSpPr>
            <p:grpSpPr>
              <a:xfrm>
                <a:off x="1761822" y="1934572"/>
                <a:ext cx="973067" cy="1077220"/>
                <a:chOff x="2652409" y="2248896"/>
                <a:chExt cx="973067" cy="1077220"/>
              </a:xfrm>
            </p:grpSpPr>
            <p:sp>
              <p:nvSpPr>
                <p:cNvPr id="157" name="Rechteck 156">
                  <a:extLst>
                    <a:ext uri="{FF2B5EF4-FFF2-40B4-BE49-F238E27FC236}">
                      <a16:creationId xmlns:a16="http://schemas.microsoft.com/office/drawing/2014/main" id="{2C35A403-BE12-0F35-A3E2-8977378A5C95}"/>
                    </a:ext>
                  </a:extLst>
                </p:cNvPr>
                <p:cNvSpPr/>
                <p:nvPr/>
              </p:nvSpPr>
              <p:spPr>
                <a:xfrm>
                  <a:off x="2652409" y="2248896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Byte</a:t>
                  </a:r>
                </a:p>
              </p:txBody>
            </p:sp>
            <p:sp>
              <p:nvSpPr>
                <p:cNvPr id="158" name="Rechteck 157">
                  <a:extLst>
                    <a:ext uri="{FF2B5EF4-FFF2-40B4-BE49-F238E27FC236}">
                      <a16:creationId xmlns:a16="http://schemas.microsoft.com/office/drawing/2014/main" id="{B0E9176F-B061-0536-4102-AA141E7EF6CF}"/>
                    </a:ext>
                  </a:extLst>
                </p:cNvPr>
                <p:cNvSpPr/>
                <p:nvPr/>
              </p:nvSpPr>
              <p:spPr>
                <a:xfrm>
                  <a:off x="3139094" y="2248896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Value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9" name="Rechteck 158">
                  <a:extLst>
                    <a:ext uri="{FF2B5EF4-FFF2-40B4-BE49-F238E27FC236}">
                      <a16:creationId xmlns:a16="http://schemas.microsoft.com/office/drawing/2014/main" id="{F43C3C36-3625-5105-B617-9C726506A281}"/>
                    </a:ext>
                  </a:extLst>
                </p:cNvPr>
                <p:cNvSpPr/>
                <p:nvPr/>
              </p:nvSpPr>
              <p:spPr>
                <a:xfrm>
                  <a:off x="2652409" y="2464340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</a:t>
                  </a:r>
                </a:p>
              </p:txBody>
            </p:sp>
            <p:sp>
              <p:nvSpPr>
                <p:cNvPr id="160" name="Rechteck 159">
                  <a:extLst>
                    <a:ext uri="{FF2B5EF4-FFF2-40B4-BE49-F238E27FC236}">
                      <a16:creationId xmlns:a16="http://schemas.microsoft.com/office/drawing/2014/main" id="{EED0A9B2-5967-C924-03E8-EB2ACB52F43F}"/>
                    </a:ext>
                  </a:extLst>
                </p:cNvPr>
                <p:cNvSpPr/>
                <p:nvPr/>
              </p:nvSpPr>
              <p:spPr>
                <a:xfrm>
                  <a:off x="3139094" y="2464340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0x2A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1" name="Rechteck 160">
                  <a:extLst>
                    <a:ext uri="{FF2B5EF4-FFF2-40B4-BE49-F238E27FC236}">
                      <a16:creationId xmlns:a16="http://schemas.microsoft.com/office/drawing/2014/main" id="{FC7FA648-BD9C-3976-8B67-DB7AE06FBA52}"/>
                    </a:ext>
                  </a:extLst>
                </p:cNvPr>
                <p:cNvSpPr/>
                <p:nvPr/>
              </p:nvSpPr>
              <p:spPr>
                <a:xfrm>
                  <a:off x="2652409" y="2679784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1</a:t>
                  </a:r>
                  <a:endParaRPr lang="de-DE" sz="2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2" name="Rechteck 161">
                  <a:extLst>
                    <a:ext uri="{FF2B5EF4-FFF2-40B4-BE49-F238E27FC236}">
                      <a16:creationId xmlns:a16="http://schemas.microsoft.com/office/drawing/2014/main" id="{D95EC97D-3762-CC5A-09F8-649A2758EB75}"/>
                    </a:ext>
                  </a:extLst>
                </p:cNvPr>
                <p:cNvSpPr/>
                <p:nvPr/>
              </p:nvSpPr>
              <p:spPr>
                <a:xfrm>
                  <a:off x="3139094" y="2679784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0x00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3" name="Rechteck 162">
                  <a:extLst>
                    <a:ext uri="{FF2B5EF4-FFF2-40B4-BE49-F238E27FC236}">
                      <a16:creationId xmlns:a16="http://schemas.microsoft.com/office/drawing/2014/main" id="{1A13B4CA-A51D-2352-D737-14A188430AE3}"/>
                    </a:ext>
                  </a:extLst>
                </p:cNvPr>
                <p:cNvSpPr/>
                <p:nvPr/>
              </p:nvSpPr>
              <p:spPr>
                <a:xfrm>
                  <a:off x="2652409" y="2895228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164" name="Rechteck 163">
                  <a:extLst>
                    <a:ext uri="{FF2B5EF4-FFF2-40B4-BE49-F238E27FC236}">
                      <a16:creationId xmlns:a16="http://schemas.microsoft.com/office/drawing/2014/main" id="{DCF3896D-38A8-1A88-A17D-82D290F3EDD4}"/>
                    </a:ext>
                  </a:extLst>
                </p:cNvPr>
                <p:cNvSpPr/>
                <p:nvPr/>
              </p:nvSpPr>
              <p:spPr>
                <a:xfrm>
                  <a:off x="3139094" y="2895228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0x00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5" name="Rechteck 164">
                  <a:extLst>
                    <a:ext uri="{FF2B5EF4-FFF2-40B4-BE49-F238E27FC236}">
                      <a16:creationId xmlns:a16="http://schemas.microsoft.com/office/drawing/2014/main" id="{F72D5F68-203B-8B56-8480-14BDBB92CFFD}"/>
                    </a:ext>
                  </a:extLst>
                </p:cNvPr>
                <p:cNvSpPr/>
                <p:nvPr/>
              </p:nvSpPr>
              <p:spPr>
                <a:xfrm>
                  <a:off x="2652409" y="3110672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166" name="Rechteck 165">
                  <a:extLst>
                    <a:ext uri="{FF2B5EF4-FFF2-40B4-BE49-F238E27FC236}">
                      <a16:creationId xmlns:a16="http://schemas.microsoft.com/office/drawing/2014/main" id="{55F4C38C-00B6-8E4B-A458-C782B8520643}"/>
                    </a:ext>
                  </a:extLst>
                </p:cNvPr>
                <p:cNvSpPr/>
                <p:nvPr/>
              </p:nvSpPr>
              <p:spPr>
                <a:xfrm>
                  <a:off x="3139094" y="3110672"/>
                  <a:ext cx="486382" cy="215444"/>
                </a:xfrm>
                <a:prstGeom prst="rect">
                  <a:avLst/>
                </a:prstGeom>
                <a:solidFill>
                  <a:schemeClr val="bg1"/>
                </a:solidFill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>
                      <a:solidFill>
                        <a:schemeClr val="tx1"/>
                      </a:solidFill>
                    </a:rPr>
                    <a:t>0x00</a:t>
                  </a:r>
                  <a:endParaRPr lang="de-DE" sz="9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56" name="Rechteck 155">
                <a:extLst>
                  <a:ext uri="{FF2B5EF4-FFF2-40B4-BE49-F238E27FC236}">
                    <a16:creationId xmlns:a16="http://schemas.microsoft.com/office/drawing/2014/main" id="{62580CC8-1B70-C401-7B7C-22D91B766965}"/>
                  </a:ext>
                </a:extLst>
              </p:cNvPr>
              <p:cNvSpPr/>
              <p:nvPr/>
            </p:nvSpPr>
            <p:spPr>
              <a:xfrm>
                <a:off x="1761821" y="1719128"/>
                <a:ext cx="973067" cy="215444"/>
              </a:xfrm>
              <a:prstGeom prst="rect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2000" dirty="0">
                    <a:solidFill>
                      <a:schemeClr val="tx1"/>
                    </a:solidFill>
                  </a:rPr>
                  <a:t>Heap</a:t>
                </a:r>
              </a:p>
            </p:txBody>
          </p:sp>
        </p:grpSp>
        <p:sp>
          <p:nvSpPr>
            <p:cNvPr id="129" name="Rechteck: abgerundete Ecken 128">
              <a:extLst>
                <a:ext uri="{FF2B5EF4-FFF2-40B4-BE49-F238E27FC236}">
                  <a16:creationId xmlns:a16="http://schemas.microsoft.com/office/drawing/2014/main" id="{6A22734D-3ABE-BCB5-5755-83C18E11D866}"/>
                </a:ext>
              </a:extLst>
            </p:cNvPr>
            <p:cNvSpPr/>
            <p:nvPr/>
          </p:nvSpPr>
          <p:spPr>
            <a:xfrm>
              <a:off x="8582479" y="2632546"/>
              <a:ext cx="739775" cy="215445"/>
            </a:xfrm>
            <a:prstGeom prst="roundRect">
              <a:avLst/>
            </a:prstGeom>
            <a:pattFill prst="ltUpDiag">
              <a:fgClr>
                <a:schemeClr val="accent1"/>
              </a:fgClr>
              <a:bgClr>
                <a:schemeClr val="bg1"/>
              </a:bgClr>
            </a:patt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>
                  <a:solidFill>
                    <a:schemeClr val="tx1"/>
                  </a:solidFill>
                </a:rPr>
                <a:t>pointer_1</a:t>
              </a:r>
            </a:p>
          </p:txBody>
        </p:sp>
        <p:sp>
          <p:nvSpPr>
            <p:cNvPr id="131" name="Rechteck: abgerundete Ecken 130">
              <a:extLst>
                <a:ext uri="{FF2B5EF4-FFF2-40B4-BE49-F238E27FC236}">
                  <a16:creationId xmlns:a16="http://schemas.microsoft.com/office/drawing/2014/main" id="{CFBAF757-6EBB-9AA3-56D1-95D7557E12AB}"/>
                </a:ext>
              </a:extLst>
            </p:cNvPr>
            <p:cNvSpPr/>
            <p:nvPr/>
          </p:nvSpPr>
          <p:spPr>
            <a:xfrm>
              <a:off x="8582479" y="3354172"/>
              <a:ext cx="739775" cy="215445"/>
            </a:xfrm>
            <a:prstGeom prst="roundRect">
              <a:avLst/>
            </a:prstGeom>
            <a:solidFill>
              <a:schemeClr val="bg1"/>
            </a:solidFill>
            <a:ln w="190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>
                  <a:solidFill>
                    <a:schemeClr val="tx1"/>
                  </a:solidFill>
                </a:rPr>
                <a:t>pointer_2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BD5880E3-3B14-2984-069C-20F8A0531BBC}"/>
                </a:ext>
              </a:extLst>
            </p:cNvPr>
            <p:cNvSpPr/>
            <p:nvPr/>
          </p:nvSpPr>
          <p:spPr>
            <a:xfrm>
              <a:off x="8886864" y="2880422"/>
              <a:ext cx="131003" cy="430888"/>
            </a:xfrm>
            <a:prstGeom prst="downArrow">
              <a:avLst/>
            </a:prstGeom>
            <a:solidFill>
              <a:schemeClr val="bg1"/>
            </a:solidFill>
            <a:ln w="15875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3" name="Rechteck: abgerundete Ecken 132">
              <a:extLst>
                <a:ext uri="{FF2B5EF4-FFF2-40B4-BE49-F238E27FC236}">
                  <a16:creationId xmlns:a16="http://schemas.microsoft.com/office/drawing/2014/main" id="{09B07BE4-4E64-BB06-E500-3F21E4E08F0B}"/>
                </a:ext>
              </a:extLst>
            </p:cNvPr>
            <p:cNvSpPr/>
            <p:nvPr/>
          </p:nvSpPr>
          <p:spPr>
            <a:xfrm>
              <a:off x="8701692" y="3105583"/>
              <a:ext cx="501346" cy="98004"/>
            </a:xfrm>
            <a:prstGeom prst="roundRect">
              <a:avLst/>
            </a:prstGeom>
            <a:solidFill>
              <a:srgbClr val="64378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000" dirty="0"/>
                <a:t>Ownership</a:t>
              </a:r>
            </a:p>
          </p:txBody>
        </p:sp>
        <p:cxnSp>
          <p:nvCxnSpPr>
            <p:cNvPr id="152" name="Verbinder: gekrümmt 151">
              <a:extLst>
                <a:ext uri="{FF2B5EF4-FFF2-40B4-BE49-F238E27FC236}">
                  <a16:creationId xmlns:a16="http://schemas.microsoft.com/office/drawing/2014/main" id="{61093678-91D3-8002-5D39-8A821DF60D2B}"/>
                </a:ext>
              </a:extLst>
            </p:cNvPr>
            <p:cNvCxnSpPr>
              <a:cxnSpLocks/>
              <a:stCxn id="131" idx="3"/>
              <a:endCxn id="159" idx="1"/>
            </p:cNvCxnSpPr>
            <p:nvPr/>
          </p:nvCxnSpPr>
          <p:spPr>
            <a:xfrm flipV="1">
              <a:off x="9322254" y="3085629"/>
              <a:ext cx="548518" cy="376266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hteck 6">
            <a:extLst>
              <a:ext uri="{FF2B5EF4-FFF2-40B4-BE49-F238E27FC236}">
                <a16:creationId xmlns:a16="http://schemas.microsoft.com/office/drawing/2014/main" id="{C255361A-822C-245C-BC45-B8539589E9F0}"/>
              </a:ext>
            </a:extLst>
          </p:cNvPr>
          <p:cNvSpPr/>
          <p:nvPr/>
        </p:nvSpPr>
        <p:spPr>
          <a:xfrm>
            <a:off x="-1" y="5284403"/>
            <a:ext cx="10643347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Ownership ensures developers can’t accidentally free memory twice.</a:t>
            </a:r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21D89781-5677-1200-2243-83DC0E56E5A7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0085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402C8ED-B0A4-A192-D814-D0F6FB7CCF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7E24866-CD83-84EE-3716-70AC29C22B7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24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B925818-E14F-59B4-746C-D982672FC35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D540D2-06BF-BB2C-AE34-4DF3300895D0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Borrowing</a:t>
            </a:r>
            <a:r>
              <a:rPr lang="en-US" sz="1200" baseline="-25000" dirty="0"/>
              <a:t>[8]</a:t>
            </a:r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1E4BFF6-05B4-6573-5043-9E5E42639485}"/>
              </a:ext>
            </a:extLst>
          </p:cNvPr>
          <p:cNvSpPr/>
          <p:nvPr/>
        </p:nvSpPr>
        <p:spPr>
          <a:xfrm>
            <a:off x="0" y="5284403"/>
            <a:ext cx="8296836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Safe access to data without transferring ownership.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55D28D7-4F71-BEDD-00F5-A2081BED52B1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D55E3C7B-092C-E28B-F524-31D6A2C9E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30887" y="1407479"/>
            <a:ext cx="5622355" cy="3633495"/>
          </a:xfrm>
          <a:prstGeom prst="rect">
            <a:avLst/>
          </a:prstGeom>
        </p:spPr>
      </p:pic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6D45792F-7212-3F51-EA85-74B701DE56E2}"/>
              </a:ext>
            </a:extLst>
          </p:cNvPr>
          <p:cNvGrpSpPr/>
          <p:nvPr/>
        </p:nvGrpSpPr>
        <p:grpSpPr>
          <a:xfrm>
            <a:off x="10380731" y="2986196"/>
            <a:ext cx="973068" cy="1292664"/>
            <a:chOff x="10526410" y="2267877"/>
            <a:chExt cx="973068" cy="1292664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FCEE678C-1D6A-7B05-72C5-8ED40314BAC2}"/>
                </a:ext>
              </a:extLst>
            </p:cNvPr>
            <p:cNvSpPr/>
            <p:nvPr/>
          </p:nvSpPr>
          <p:spPr>
            <a:xfrm>
              <a:off x="10526411" y="2483321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Byte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40B600C1-F510-879D-C36C-F6A9687DFDD6}"/>
                </a:ext>
              </a:extLst>
            </p:cNvPr>
            <p:cNvSpPr/>
            <p:nvPr/>
          </p:nvSpPr>
          <p:spPr>
            <a:xfrm>
              <a:off x="11013096" y="2483321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Value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3502811F-D299-BCCA-4A23-C11DDA783250}"/>
                </a:ext>
              </a:extLst>
            </p:cNvPr>
            <p:cNvSpPr/>
            <p:nvPr/>
          </p:nvSpPr>
          <p:spPr>
            <a:xfrm>
              <a:off x="10526411" y="2698765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3420ABFA-9C76-CD0E-6076-4AE6328ACC9E}"/>
                </a:ext>
              </a:extLst>
            </p:cNvPr>
            <p:cNvSpPr/>
            <p:nvPr/>
          </p:nvSpPr>
          <p:spPr>
            <a:xfrm>
              <a:off x="11013096" y="2698765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0x2A</a:t>
              </a: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EAFDC747-7E40-050D-7EA7-621E3D5E2C4E}"/>
                </a:ext>
              </a:extLst>
            </p:cNvPr>
            <p:cNvSpPr/>
            <p:nvPr/>
          </p:nvSpPr>
          <p:spPr>
            <a:xfrm>
              <a:off x="10526411" y="2914209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805FDB53-3B3B-430E-9C7B-C341C92A5C86}"/>
                </a:ext>
              </a:extLst>
            </p:cNvPr>
            <p:cNvSpPr/>
            <p:nvPr/>
          </p:nvSpPr>
          <p:spPr>
            <a:xfrm>
              <a:off x="11013096" y="2914209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3E651E72-E56C-3F57-545F-2C3368879BF2}"/>
                </a:ext>
              </a:extLst>
            </p:cNvPr>
            <p:cNvSpPr/>
            <p:nvPr/>
          </p:nvSpPr>
          <p:spPr>
            <a:xfrm>
              <a:off x="10526411" y="3129653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33BD5434-DEFA-3864-F408-4EEE0172AF0A}"/>
                </a:ext>
              </a:extLst>
            </p:cNvPr>
            <p:cNvSpPr/>
            <p:nvPr/>
          </p:nvSpPr>
          <p:spPr>
            <a:xfrm>
              <a:off x="11013096" y="3129653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FF938114-D9F2-E97C-90A7-5136AF87445C}"/>
                </a:ext>
              </a:extLst>
            </p:cNvPr>
            <p:cNvSpPr/>
            <p:nvPr/>
          </p:nvSpPr>
          <p:spPr>
            <a:xfrm>
              <a:off x="10526411" y="3345097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F815F1D2-64DE-9048-5346-5D4CE6BEBC5C}"/>
                </a:ext>
              </a:extLst>
            </p:cNvPr>
            <p:cNvSpPr/>
            <p:nvPr/>
          </p:nvSpPr>
          <p:spPr>
            <a:xfrm>
              <a:off x="11013096" y="3345097"/>
              <a:ext cx="486382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900" dirty="0">
                  <a:solidFill>
                    <a:schemeClr val="tx1"/>
                  </a:solidFill>
                </a:rPr>
                <a:t>0x00</a:t>
              </a: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9241F7E1-24E1-AEA7-1B93-E058DA020F0A}"/>
                </a:ext>
              </a:extLst>
            </p:cNvPr>
            <p:cNvSpPr/>
            <p:nvPr/>
          </p:nvSpPr>
          <p:spPr>
            <a:xfrm>
              <a:off x="10526410" y="2267877"/>
              <a:ext cx="973067" cy="215444"/>
            </a:xfrm>
            <a:prstGeom prst="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 dirty="0">
                  <a:solidFill>
                    <a:schemeClr val="tx1"/>
                  </a:solidFill>
                </a:rPr>
                <a:t>Heap</a:t>
              </a:r>
            </a:p>
          </p:txBody>
        </p:sp>
      </p:grpSp>
      <p:sp>
        <p:nvSpPr>
          <p:cNvPr id="30" name="Rechteck: abgerundete Ecken 29">
            <a:extLst>
              <a:ext uri="{FF2B5EF4-FFF2-40B4-BE49-F238E27FC236}">
                <a16:creationId xmlns:a16="http://schemas.microsoft.com/office/drawing/2014/main" id="{A584B84E-6E6E-3521-9EAC-A56AA4DC5B47}"/>
              </a:ext>
            </a:extLst>
          </p:cNvPr>
          <p:cNvSpPr/>
          <p:nvPr/>
        </p:nvSpPr>
        <p:spPr>
          <a:xfrm>
            <a:off x="8671101" y="3418772"/>
            <a:ext cx="973067" cy="215445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solidFill>
                  <a:schemeClr val="tx1"/>
                </a:solidFill>
              </a:rPr>
              <a:t>var_pointer</a:t>
            </a:r>
            <a:endParaRPr lang="de-DE" sz="1000" dirty="0">
              <a:solidFill>
                <a:schemeClr val="tx1"/>
              </a:solidFill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A20F46C1-F8C2-5E04-67A2-3C61000085E9}"/>
              </a:ext>
            </a:extLst>
          </p:cNvPr>
          <p:cNvSpPr/>
          <p:nvPr/>
        </p:nvSpPr>
        <p:spPr>
          <a:xfrm>
            <a:off x="6502435" y="2445897"/>
            <a:ext cx="973067" cy="215445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 dirty="0" err="1">
                <a:solidFill>
                  <a:schemeClr val="tx1"/>
                </a:solidFill>
              </a:rPr>
              <a:t>value</a:t>
            </a:r>
            <a:endParaRPr lang="de-DE" sz="1000" dirty="0">
              <a:solidFill>
                <a:schemeClr val="tx1"/>
              </a:solidFill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3C9B91C4-DB88-0A1A-9B99-FA68D1F7FF09}"/>
              </a:ext>
            </a:extLst>
          </p:cNvPr>
          <p:cNvSpPr txBox="1"/>
          <p:nvPr/>
        </p:nvSpPr>
        <p:spPr>
          <a:xfrm>
            <a:off x="720974" y="3333315"/>
            <a:ext cx="3744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Create mutable variable </a:t>
            </a:r>
            <a:r>
              <a:rPr lang="de-DE" dirty="0" err="1"/>
              <a:t>var_pointer</a:t>
            </a:r>
            <a:endParaRPr lang="de-DE" dirty="0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92B804A8-4B47-E56A-3688-CDB9DB2D2E00}"/>
              </a:ext>
            </a:extLst>
          </p:cNvPr>
          <p:cNvSpPr txBox="1"/>
          <p:nvPr/>
        </p:nvSpPr>
        <p:spPr>
          <a:xfrm>
            <a:off x="625050" y="2230455"/>
            <a:ext cx="38405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Borrowing allows to mutate the value</a:t>
            </a:r>
          </a:p>
          <a:p>
            <a:pPr algn="r"/>
            <a:r>
              <a:rPr lang="en-US" dirty="0"/>
              <a:t>without transferring ownership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76056F08-F002-545D-A57B-7C53ECB274FD}"/>
              </a:ext>
            </a:extLst>
          </p:cNvPr>
          <p:cNvSpPr txBox="1"/>
          <p:nvPr/>
        </p:nvSpPr>
        <p:spPr>
          <a:xfrm>
            <a:off x="317017" y="3817812"/>
            <a:ext cx="4148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Create mutable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var_pointer</a:t>
            </a:r>
            <a:endParaRPr lang="de-DE" dirty="0"/>
          </a:p>
        </p:txBody>
      </p:sp>
      <p:cxnSp>
        <p:nvCxnSpPr>
          <p:cNvPr id="60" name="Verbinder: gekrümmt 59">
            <a:extLst>
              <a:ext uri="{FF2B5EF4-FFF2-40B4-BE49-F238E27FC236}">
                <a16:creationId xmlns:a16="http://schemas.microsoft.com/office/drawing/2014/main" id="{3B5024C4-5A62-27F9-0F08-30C9B4D8D369}"/>
              </a:ext>
            </a:extLst>
          </p:cNvPr>
          <p:cNvCxnSpPr>
            <a:cxnSpLocks/>
            <a:stCxn id="33" idx="3"/>
            <a:endCxn id="30" idx="0"/>
          </p:cNvCxnSpPr>
          <p:nvPr/>
        </p:nvCxnSpPr>
        <p:spPr>
          <a:xfrm>
            <a:off x="7475502" y="2553620"/>
            <a:ext cx="1682133" cy="865152"/>
          </a:xfrm>
          <a:prstGeom prst="curved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609DE07B-31C5-73DE-200C-86B3014BB7DA}"/>
              </a:ext>
            </a:extLst>
          </p:cNvPr>
          <p:cNvCxnSpPr>
            <a:cxnSpLocks/>
            <a:stCxn id="30" idx="3"/>
            <a:endCxn id="21" idx="1"/>
          </p:cNvCxnSpPr>
          <p:nvPr/>
        </p:nvCxnSpPr>
        <p:spPr>
          <a:xfrm flipV="1">
            <a:off x="9644168" y="3524806"/>
            <a:ext cx="736564" cy="1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feld 68">
            <a:extLst>
              <a:ext uri="{FF2B5EF4-FFF2-40B4-BE49-F238E27FC236}">
                <a16:creationId xmlns:a16="http://schemas.microsoft.com/office/drawing/2014/main" id="{BD445D87-8B97-FB91-0CCD-32B51F03B62A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[8] </a:t>
            </a:r>
            <a:r>
              <a:rPr lang="de-DE" sz="800" dirty="0">
                <a:hlinkClick r:id="rId4"/>
              </a:rPr>
              <a:t>https://doc.rust-lang.org/book/ch04-02-references-and-borrowing.html</a:t>
            </a:r>
            <a:r>
              <a:rPr lang="de-DE" sz="800" dirty="0"/>
              <a:t> 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750971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685A692-F77F-DCF2-5423-D0B2F45D79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37FD16C-CC8E-F6E0-171A-CF850638A4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25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01F7D1B-6E30-7343-0651-B5E315342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A72618D-FD4B-2DE1-0BDC-CBA3FDFED5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56222" y="1035121"/>
            <a:ext cx="5523101" cy="4338560"/>
          </a:xfrm>
          <a:prstGeom prst="rect">
            <a:avLst/>
          </a:prstGeom>
        </p:spPr>
      </p:pic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427C6F39-4260-5F42-CD63-74F515093A0B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Lifetimes and Borrow Checker</a:t>
            </a:r>
            <a:r>
              <a:rPr lang="en-US" sz="1200" baseline="-25000" dirty="0"/>
              <a:t>[9]</a:t>
            </a:r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264690F-D55E-8063-3731-E3F5D36B318A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[9] </a:t>
            </a:r>
            <a:r>
              <a:rPr lang="de-DE" sz="800" dirty="0">
                <a:hlinkClick r:id="rId4"/>
              </a:rPr>
              <a:t>https://doc.rust-lang.org/book/ch10-03-lifetime-syntax.html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11E04042-B4D2-E3F0-D90C-E1AE8FD44E01}"/>
              </a:ext>
            </a:extLst>
          </p:cNvPr>
          <p:cNvSpPr/>
          <p:nvPr/>
        </p:nvSpPr>
        <p:spPr>
          <a:xfrm>
            <a:off x="-1" y="5284403"/>
            <a:ext cx="8760759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Reliable dangling references detection at compile time.</a:t>
            </a: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9BEACD2A-C4DB-D1F7-497B-D9F1DF40311B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3EB36D9-7B3D-DD54-BE9E-D9C78E282B38}"/>
              </a:ext>
            </a:extLst>
          </p:cNvPr>
          <p:cNvSpPr txBox="1"/>
          <p:nvPr/>
        </p:nvSpPr>
        <p:spPr>
          <a:xfrm>
            <a:off x="3604155" y="3191441"/>
            <a:ext cx="9001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value</a:t>
            </a:r>
            <a:endParaRPr lang="de-DE" sz="2400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3A18AF7-2CC4-C24E-B2B0-6EC07517BA43}"/>
              </a:ext>
            </a:extLst>
          </p:cNvPr>
          <p:cNvSpPr txBox="1"/>
          <p:nvPr/>
        </p:nvSpPr>
        <p:spPr>
          <a:xfrm>
            <a:off x="1720526" y="3120574"/>
            <a:ext cx="14498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reference</a:t>
            </a:r>
            <a:endParaRPr lang="de-DE" sz="2400" dirty="0"/>
          </a:p>
        </p:txBody>
      </p:sp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245788A4-0494-B7B0-5275-E05EA1F6E07C}"/>
              </a:ext>
            </a:extLst>
          </p:cNvPr>
          <p:cNvSpPr/>
          <p:nvPr/>
        </p:nvSpPr>
        <p:spPr>
          <a:xfrm>
            <a:off x="4454336" y="3065928"/>
            <a:ext cx="252133" cy="712693"/>
          </a:xfrm>
          <a:prstGeom prst="leftBrac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Geschweifte Klammer links 35">
            <a:extLst>
              <a:ext uri="{FF2B5EF4-FFF2-40B4-BE49-F238E27FC236}">
                <a16:creationId xmlns:a16="http://schemas.microsoft.com/office/drawing/2014/main" id="{A982BFFE-1623-6A39-F4F1-FFAAA601323F}"/>
              </a:ext>
            </a:extLst>
          </p:cNvPr>
          <p:cNvSpPr/>
          <p:nvPr/>
        </p:nvSpPr>
        <p:spPr>
          <a:xfrm>
            <a:off x="3119670" y="2172387"/>
            <a:ext cx="538658" cy="2399324"/>
          </a:xfrm>
          <a:prstGeom prst="leftBrace">
            <a:avLst/>
          </a:prstGeom>
          <a:ln w="25400" cmpd="sng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13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AE6A8-6B53-5DC7-B3E7-B350C27E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534D8F90-A0E1-5335-A335-00B1B1317B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0818" y="1614792"/>
            <a:ext cx="6314038" cy="4362426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2C63AC6-AB1C-727F-A1EA-33D2FF80CD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4D2985-F275-669B-D00E-B49BB979E7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26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21C9530-C67E-3532-42C5-CA7898FA43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6E20576-7183-E342-C49B-32BBCCE64D8F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Prevention of User after Free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22542D1-CF83-62E5-B8FA-CA7E7128351E}"/>
              </a:ext>
            </a:extLst>
          </p:cNvPr>
          <p:cNvSpPr txBox="1"/>
          <p:nvPr/>
        </p:nvSpPr>
        <p:spPr>
          <a:xfrm>
            <a:off x="6131860" y="2673950"/>
            <a:ext cx="4782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Bind Ownership to </a:t>
            </a:r>
            <a:r>
              <a:rPr lang="en-US" sz="2400" dirty="0" err="1"/>
              <a:t>buffer_owner</a:t>
            </a:r>
            <a:endParaRPr lang="en-US" sz="24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BC3DCF9-2107-B3FA-25AE-5FD36B929670}"/>
              </a:ext>
            </a:extLst>
          </p:cNvPr>
          <p:cNvSpPr txBox="1"/>
          <p:nvPr/>
        </p:nvSpPr>
        <p:spPr>
          <a:xfrm>
            <a:off x="6366508" y="3201297"/>
            <a:ext cx="29468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Borrow </a:t>
            </a:r>
            <a:r>
              <a:rPr lang="de-DE" sz="2400" dirty="0" err="1"/>
              <a:t>buffer_owner</a:t>
            </a:r>
            <a:endParaRPr lang="de-DE" sz="24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A2F1082-7C63-4598-AA10-43AABB84AA97}"/>
              </a:ext>
            </a:extLst>
          </p:cNvPr>
          <p:cNvSpPr txBox="1"/>
          <p:nvPr/>
        </p:nvSpPr>
        <p:spPr>
          <a:xfrm>
            <a:off x="4731223" y="3753777"/>
            <a:ext cx="52890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The </a:t>
            </a:r>
            <a:r>
              <a:rPr lang="en-US" sz="2400" dirty="0" err="1"/>
              <a:t>buffer_owner's</a:t>
            </a:r>
            <a:r>
              <a:rPr lang="en-US" sz="2400" dirty="0"/>
              <a:t> lifetime is now over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2CBE297D-CF16-0DA3-94D8-90EBC0F8061C}"/>
              </a:ext>
            </a:extLst>
          </p:cNvPr>
          <p:cNvSpPr txBox="1"/>
          <p:nvPr/>
        </p:nvSpPr>
        <p:spPr>
          <a:xfrm>
            <a:off x="5949778" y="4308418"/>
            <a:ext cx="36238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Attempt to use the borrow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D6FD7048-A4E2-394B-33CB-E7C5D55E255E}"/>
              </a:ext>
            </a:extLst>
          </p:cNvPr>
          <p:cNvSpPr/>
          <p:nvPr/>
        </p:nvSpPr>
        <p:spPr>
          <a:xfrm>
            <a:off x="2171699" y="2773222"/>
            <a:ext cx="3677771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417DB784-9DC1-5445-E9CA-9A01F5FA3992}"/>
              </a:ext>
            </a:extLst>
          </p:cNvPr>
          <p:cNvSpPr/>
          <p:nvPr/>
        </p:nvSpPr>
        <p:spPr>
          <a:xfrm>
            <a:off x="2171699" y="3308869"/>
            <a:ext cx="3924301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44E21590-1DD5-7CFC-1F32-368929ABE705}"/>
              </a:ext>
            </a:extLst>
          </p:cNvPr>
          <p:cNvSpPr/>
          <p:nvPr/>
        </p:nvSpPr>
        <p:spPr>
          <a:xfrm>
            <a:off x="2171700" y="3857961"/>
            <a:ext cx="2238936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21D091AB-F3F6-9592-04EA-C09BCADE0DC3}"/>
              </a:ext>
            </a:extLst>
          </p:cNvPr>
          <p:cNvSpPr/>
          <p:nvPr/>
        </p:nvSpPr>
        <p:spPr>
          <a:xfrm>
            <a:off x="2171699" y="4406817"/>
            <a:ext cx="3449172" cy="263122"/>
          </a:xfrm>
          <a:prstGeom prst="round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 descr="Marke 1 Silhouette">
            <a:extLst>
              <a:ext uri="{FF2B5EF4-FFF2-40B4-BE49-F238E27FC236}">
                <a16:creationId xmlns:a16="http://schemas.microsoft.com/office/drawing/2014/main" id="{BFF75386-925F-CCF6-4FF3-4D46D0DFE7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49470" y="2721279"/>
            <a:ext cx="367008" cy="367008"/>
          </a:xfrm>
          <a:prstGeom prst="rect">
            <a:avLst/>
          </a:prstGeom>
        </p:spPr>
      </p:pic>
      <p:pic>
        <p:nvPicPr>
          <p:cNvPr id="25" name="Grafik 24" descr="Marke 4 Silhouette">
            <a:extLst>
              <a:ext uri="{FF2B5EF4-FFF2-40B4-BE49-F238E27FC236}">
                <a16:creationId xmlns:a16="http://schemas.microsoft.com/office/drawing/2014/main" id="{CD0F49F7-2C4F-74C9-6C04-4B26B1AB56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20871" y="4354874"/>
            <a:ext cx="367008" cy="367008"/>
          </a:xfrm>
          <a:prstGeom prst="rect">
            <a:avLst/>
          </a:prstGeom>
        </p:spPr>
      </p:pic>
      <p:pic>
        <p:nvPicPr>
          <p:cNvPr id="27" name="Grafik 26" descr="Marke 3 Silhouette">
            <a:extLst>
              <a:ext uri="{FF2B5EF4-FFF2-40B4-BE49-F238E27FC236}">
                <a16:creationId xmlns:a16="http://schemas.microsoft.com/office/drawing/2014/main" id="{3821C0C1-8CA2-EA5D-10D8-88E6CC156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33591" y="3806252"/>
            <a:ext cx="367008" cy="367008"/>
          </a:xfrm>
          <a:prstGeom prst="rect">
            <a:avLst/>
          </a:prstGeom>
        </p:spPr>
      </p:pic>
      <p:pic>
        <p:nvPicPr>
          <p:cNvPr id="29" name="Grafik 28" descr="Abzeichen Silhouette">
            <a:extLst>
              <a:ext uri="{FF2B5EF4-FFF2-40B4-BE49-F238E27FC236}">
                <a16:creationId xmlns:a16="http://schemas.microsoft.com/office/drawing/2014/main" id="{554EEADF-7E18-0A51-85B5-6CE57C6A4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5999" y="3261192"/>
            <a:ext cx="367008" cy="367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492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3" grpId="0"/>
      <p:bldP spid="14" grpId="0"/>
      <p:bldP spid="15" grpId="0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4152C-C224-F62C-8C6D-D6C1D5F25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rafik 29">
            <a:extLst>
              <a:ext uri="{FF2B5EF4-FFF2-40B4-BE49-F238E27FC236}">
                <a16:creationId xmlns:a16="http://schemas.microsoft.com/office/drawing/2014/main" id="{DE1176B6-DAEB-D686-B641-4F10A8BB73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6086" y="2279650"/>
            <a:ext cx="4184513" cy="2891118"/>
          </a:xfrm>
          <a:prstGeom prst="rect">
            <a:avLst/>
          </a:prstGeom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DFFABCC-6A45-6020-7F6F-519948DD392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D6ECF19-4FCF-8665-E8F8-4F6EDB4DCEB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27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2AE408F-4E3A-BC65-89D4-41E6FAD299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753E48AE-88B3-EC04-C0AA-A2956291B0AD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Prevention of User after Free</a:t>
            </a:r>
            <a:endParaRPr lang="en-US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6B46AFDE-3E2F-65A7-119E-2E4F66FBAA00}"/>
              </a:ext>
            </a:extLst>
          </p:cNvPr>
          <p:cNvGrpSpPr/>
          <p:nvPr/>
        </p:nvGrpSpPr>
        <p:grpSpPr>
          <a:xfrm>
            <a:off x="3155950" y="1527612"/>
            <a:ext cx="8113807" cy="4755747"/>
            <a:chOff x="2946400" y="1445062"/>
            <a:chExt cx="8113807" cy="4755747"/>
          </a:xfrm>
        </p:grpSpPr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77586372-2E0D-C0DB-3979-14334F56FB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264960" y="1445062"/>
              <a:ext cx="6795247" cy="4755747"/>
            </a:xfrm>
            <a:prstGeom prst="rect">
              <a:avLst/>
            </a:prstGeom>
          </p:spPr>
        </p:pic>
        <p:sp>
          <p:nvSpPr>
            <p:cNvPr id="8" name="Rechteck: abgerundete Ecken 7">
              <a:extLst>
                <a:ext uri="{FF2B5EF4-FFF2-40B4-BE49-F238E27FC236}">
                  <a16:creationId xmlns:a16="http://schemas.microsoft.com/office/drawing/2014/main" id="{2219161C-76EB-CE29-F0B9-4FD2AFFA1D09}"/>
                </a:ext>
              </a:extLst>
            </p:cNvPr>
            <p:cNvSpPr/>
            <p:nvPr/>
          </p:nvSpPr>
          <p:spPr>
            <a:xfrm>
              <a:off x="4800599" y="1880259"/>
              <a:ext cx="5876366" cy="3942317"/>
            </a:xfrm>
            <a:prstGeom prst="roundRect">
              <a:avLst>
                <a:gd name="adj" fmla="val 4684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08CB371C-3FF4-A112-B043-2C86601F7F5E}"/>
                </a:ext>
              </a:extLst>
            </p:cNvPr>
            <p:cNvCxnSpPr>
              <a:cxnSpLocks/>
            </p:cNvCxnSpPr>
            <p:nvPr/>
          </p:nvCxnSpPr>
          <p:spPr>
            <a:xfrm>
              <a:off x="2946400" y="3905250"/>
              <a:ext cx="1899444" cy="185499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65E297F5-ADCA-8B96-9BBB-B20208A0FE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46400" y="1964531"/>
              <a:ext cx="1882775" cy="173751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Grafik 19">
            <a:extLst>
              <a:ext uri="{FF2B5EF4-FFF2-40B4-BE49-F238E27FC236}">
                <a16:creationId xmlns:a16="http://schemas.microsoft.com/office/drawing/2014/main" id="{9FC68B84-E932-4C20-10E5-D86B866FBB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00307" y="4475032"/>
            <a:ext cx="1519680" cy="1022374"/>
          </a:xfrm>
          <a:prstGeom prst="rect">
            <a:avLst/>
          </a:prstGeom>
        </p:spPr>
      </p:pic>
      <p:sp>
        <p:nvSpPr>
          <p:cNvPr id="24" name="Textfeld 23">
            <a:extLst>
              <a:ext uri="{FF2B5EF4-FFF2-40B4-BE49-F238E27FC236}">
                <a16:creationId xmlns:a16="http://schemas.microsoft.com/office/drawing/2014/main" id="{BF34CE09-9A60-953E-54FB-AFDFFBC4D0D4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[10] </a:t>
            </a:r>
            <a:r>
              <a:rPr lang="de-DE" sz="800" dirty="0">
                <a:hlinkClick r:id="rId6"/>
              </a:rPr>
              <a:t>https://doc.rust-lang.org/book/img/ferris/does_not_compile.svg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E1AD0FE-94B9-BC3D-99CA-3BC9D7614E6F}"/>
              </a:ext>
            </a:extLst>
          </p:cNvPr>
          <p:cNvSpPr txBox="1"/>
          <p:nvPr/>
        </p:nvSpPr>
        <p:spPr>
          <a:xfrm>
            <a:off x="3843216" y="5264837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[10]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34081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CAFD5-5BF8-3485-78A3-85C6BD92F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F711C7A6-26F1-1A15-8183-307DB8A7F8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7D7563F-C210-FEA3-E728-29365D8784F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28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9FF5200-10D6-7837-3C03-8FFB9078420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6689E23-184A-9C4D-C450-46E91EDCE897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 err="1"/>
              <a:t>Compiletime</a:t>
            </a:r>
            <a:r>
              <a:rPr lang="en-US" sz="3600" dirty="0"/>
              <a:t> Bounds Checking</a:t>
            </a:r>
            <a:endParaRPr lang="en-US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CBB3C63A-7355-C3E9-C009-1093FD185C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8639" y="1237850"/>
            <a:ext cx="5073184" cy="3866667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758C6A6-EBCE-E8FA-93DC-FF86EF3381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3189" y="2974517"/>
            <a:ext cx="1200648" cy="807743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E4DD69CF-8EF3-5ED5-E5E0-9B98F6B6F5B1}"/>
              </a:ext>
            </a:extLst>
          </p:cNvPr>
          <p:cNvSpPr txBox="1"/>
          <p:nvPr/>
        </p:nvSpPr>
        <p:spPr>
          <a:xfrm>
            <a:off x="453060" y="3573011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[10]</a:t>
            </a:r>
            <a:endParaRPr lang="en-US" sz="1200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07618D9-1CB2-D179-6BDE-95BE13D175D7}"/>
              </a:ext>
            </a:extLst>
          </p:cNvPr>
          <p:cNvSpPr txBox="1"/>
          <p:nvPr/>
        </p:nvSpPr>
        <p:spPr>
          <a:xfrm>
            <a:off x="1092200" y="5899150"/>
            <a:ext cx="964228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[10] </a:t>
            </a:r>
            <a:r>
              <a:rPr lang="de-DE" sz="800" dirty="0">
                <a:hlinkClick r:id="rId5"/>
              </a:rPr>
              <a:t>https://doc.rust-lang.org/book/img/ferris/does_not_compile.svg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9968917-4431-3F89-DB77-F90932539675}"/>
              </a:ext>
            </a:extLst>
          </p:cNvPr>
          <p:cNvSpPr/>
          <p:nvPr/>
        </p:nvSpPr>
        <p:spPr>
          <a:xfrm>
            <a:off x="-1" y="5284403"/>
            <a:ext cx="10012681" cy="53847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If the index is constant, Rust can detect out-of-bounds errors at compile time</a:t>
            </a:r>
          </a:p>
        </p:txBody>
      </p:sp>
      <p:sp>
        <p:nvSpPr>
          <p:cNvPr id="17" name="Pfeil: nach rechts 16">
            <a:extLst>
              <a:ext uri="{FF2B5EF4-FFF2-40B4-BE49-F238E27FC236}">
                <a16:creationId xmlns:a16="http://schemas.microsoft.com/office/drawing/2014/main" id="{BF04F6F9-5EFB-5B66-C514-06622FB529F0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8FEC3C9E-C203-AEF9-0C01-57ADFB8014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5965" y="1999934"/>
            <a:ext cx="7866092" cy="2828129"/>
          </a:xfrm>
          <a:prstGeom prst="rect">
            <a:avLst/>
          </a:prstGeom>
        </p:spPr>
      </p:pic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1CAF538-51F4-0BD4-9F96-68C9439CC0DF}"/>
              </a:ext>
            </a:extLst>
          </p:cNvPr>
          <p:cNvCxnSpPr>
            <a:cxnSpLocks/>
          </p:cNvCxnSpPr>
          <p:nvPr/>
        </p:nvCxnSpPr>
        <p:spPr>
          <a:xfrm flipH="1">
            <a:off x="3531604" y="2622550"/>
            <a:ext cx="1811921" cy="6313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FF6528F3-6AB8-F788-2113-5C0999B3DB4E}"/>
              </a:ext>
            </a:extLst>
          </p:cNvPr>
          <p:cNvSpPr/>
          <p:nvPr/>
        </p:nvSpPr>
        <p:spPr>
          <a:xfrm>
            <a:off x="5316125" y="2599629"/>
            <a:ext cx="6577236" cy="1777126"/>
          </a:xfrm>
          <a:prstGeom prst="roundRect">
            <a:avLst>
              <a:gd name="adj" fmla="val 468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6F1ADA7F-BB80-2D51-C27D-9FB1D435B5B3}"/>
              </a:ext>
            </a:extLst>
          </p:cNvPr>
          <p:cNvCxnSpPr>
            <a:cxnSpLocks/>
          </p:cNvCxnSpPr>
          <p:nvPr/>
        </p:nvCxnSpPr>
        <p:spPr>
          <a:xfrm flipH="1" flipV="1">
            <a:off x="3520303" y="3505200"/>
            <a:ext cx="1823222" cy="8540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5140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1B77F-1493-B420-31E1-6F6694198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9B953BC-1ACB-05C2-EFEB-78DEA9943AF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rgbClr val="64378C"/>
                </a:solidFill>
              </a:rPr>
              <a:t>Rust's Approach to Memory Safety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F458EB-6444-9435-FCFE-A5F4DDCA80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29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928500-BCEE-1FAD-F0F9-F22309C50CB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Rust</a:t>
            </a:r>
            <a:r>
              <a:rPr lang="en-US" dirty="0"/>
              <a:t>’s Approach</a:t>
            </a:r>
            <a:endParaRPr lang="de-DE" dirty="0"/>
          </a:p>
        </p:txBody>
      </p:sp>
      <p:sp>
        <p:nvSpPr>
          <p:cNvPr id="9" name="Inhaltsplatzhalter 4">
            <a:extLst>
              <a:ext uri="{FF2B5EF4-FFF2-40B4-BE49-F238E27FC236}">
                <a16:creationId xmlns:a16="http://schemas.microsoft.com/office/drawing/2014/main" id="{B9A6D249-7753-321C-2C11-11DE7B68B4CA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Runtime Bounds Checking</a:t>
            </a:r>
            <a:r>
              <a:rPr lang="en-US" sz="1200" baseline="-25000" dirty="0"/>
              <a:t>[11]</a:t>
            </a:r>
            <a:endParaRPr lang="en-US" baseline="-250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E33C518-C47D-A258-A744-224B0DD4EF99}"/>
              </a:ext>
            </a:extLst>
          </p:cNvPr>
          <p:cNvSpPr txBox="1"/>
          <p:nvPr/>
        </p:nvSpPr>
        <p:spPr>
          <a:xfrm>
            <a:off x="1092200" y="5899150"/>
            <a:ext cx="96422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[11] </a:t>
            </a:r>
            <a:r>
              <a:rPr lang="de-DE" sz="800" dirty="0">
                <a:hlinkClick r:id="rId3"/>
              </a:rPr>
              <a:t>https://doc.rust-lang.org/reference/panic.html</a:t>
            </a:r>
            <a:endParaRPr lang="de-DE" sz="800" dirty="0"/>
          </a:p>
          <a:p>
            <a:r>
              <a:rPr lang="de-DE" sz="800" dirty="0"/>
              <a:t>[12] </a:t>
            </a:r>
            <a:r>
              <a:rPr lang="de-DE" sz="800" dirty="0">
                <a:hlinkClick r:id="rId4"/>
              </a:rPr>
              <a:t>https://doc.rust-lang.org/book/img/ferris/panics.svg</a:t>
            </a:r>
            <a:r>
              <a:rPr lang="de-DE" sz="800" dirty="0"/>
              <a:t> </a:t>
            </a:r>
            <a:endParaRPr lang="en-US" sz="80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BA8143AE-0B09-581C-76E7-91A0A2AC196E}"/>
              </a:ext>
            </a:extLst>
          </p:cNvPr>
          <p:cNvSpPr/>
          <p:nvPr/>
        </p:nvSpPr>
        <p:spPr>
          <a:xfrm>
            <a:off x="-1" y="5227320"/>
            <a:ext cx="8823961" cy="689386"/>
          </a:xfrm>
          <a:prstGeom prst="rect">
            <a:avLst/>
          </a:prstGeom>
          <a:solidFill>
            <a:srgbClr val="64378C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Rust checks array bounds during runtime when accessing indices.</a:t>
            </a:r>
          </a:p>
          <a:p>
            <a:pPr algn="ctr"/>
            <a:r>
              <a:rPr lang="en-US" sz="2000" b="1" dirty="0"/>
              <a:t>If a bound is violated, a predefined panic handler is called.</a:t>
            </a:r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85AD2AD2-7453-F0B2-5666-5EBD3D278C77}"/>
              </a:ext>
            </a:extLst>
          </p:cNvPr>
          <p:cNvSpPr/>
          <p:nvPr/>
        </p:nvSpPr>
        <p:spPr>
          <a:xfrm>
            <a:off x="79567" y="5419903"/>
            <a:ext cx="438145" cy="267476"/>
          </a:xfrm>
          <a:prstGeom prst="rightArrow">
            <a:avLst/>
          </a:prstGeom>
          <a:solidFill>
            <a:srgbClr val="6437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059BAA90-5A24-22CF-9BA2-0FEFD6F239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62075" y="1320232"/>
            <a:ext cx="5812155" cy="3897563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98B752FC-4C68-94EA-6444-2177433DE3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67487" y="2400366"/>
            <a:ext cx="5076825" cy="1447800"/>
          </a:xfrm>
          <a:prstGeom prst="rect">
            <a:avLst/>
          </a:prstGeom>
        </p:spPr>
      </p:pic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3C402BEF-2240-B81F-119F-3E2EA29D4D50}"/>
              </a:ext>
            </a:extLst>
          </p:cNvPr>
          <p:cNvSpPr/>
          <p:nvPr/>
        </p:nvSpPr>
        <p:spPr>
          <a:xfrm>
            <a:off x="7094219" y="2834194"/>
            <a:ext cx="4152901" cy="673498"/>
          </a:xfrm>
          <a:prstGeom prst="roundRect">
            <a:avLst>
              <a:gd name="adj" fmla="val 468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184F39C-5A0A-F1C5-9E88-9EA666C900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43389" y="1790137"/>
            <a:ext cx="1647567" cy="1087279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24681EF4-5C26-7F67-A777-B9A86777CF63}"/>
              </a:ext>
            </a:extLst>
          </p:cNvPr>
          <p:cNvSpPr txBox="1"/>
          <p:nvPr/>
        </p:nvSpPr>
        <p:spPr>
          <a:xfrm>
            <a:off x="1280024" y="2557195"/>
            <a:ext cx="4553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[12]</a:t>
            </a:r>
            <a:endParaRPr lang="en-US" sz="1200" dirty="0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0EE4FC89-E594-155F-97A3-0CB91B8A01E6}"/>
              </a:ext>
            </a:extLst>
          </p:cNvPr>
          <p:cNvCxnSpPr>
            <a:cxnSpLocks/>
          </p:cNvCxnSpPr>
          <p:nvPr/>
        </p:nvCxnSpPr>
        <p:spPr>
          <a:xfrm flipH="1" flipV="1">
            <a:off x="5055234" y="2428875"/>
            <a:ext cx="2042160" cy="10642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DA008C8-38E1-5997-BE67-F5631922E1C2}"/>
              </a:ext>
            </a:extLst>
          </p:cNvPr>
          <p:cNvCxnSpPr>
            <a:cxnSpLocks/>
          </p:cNvCxnSpPr>
          <p:nvPr/>
        </p:nvCxnSpPr>
        <p:spPr>
          <a:xfrm flipH="1" flipV="1">
            <a:off x="5052059" y="2228837"/>
            <a:ext cx="2042160" cy="6227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0603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056FAE34-0797-2F7D-B0FA-A9C6350A8C4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D14BC643-0034-E3EE-1A30-76F145C5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30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3E749CE-5230-159E-DB93-CAC1063CE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 err="1"/>
              <a:t>Conclusion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CC745DA5-8883-5CEA-5754-257EF94A415F}"/>
              </a:ext>
            </a:extLst>
          </p:cNvPr>
          <p:cNvSpPr txBox="1"/>
          <p:nvPr/>
        </p:nvSpPr>
        <p:spPr>
          <a:xfrm>
            <a:off x="1092200" y="5899150"/>
            <a:ext cx="9642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[13] </a:t>
            </a:r>
            <a:r>
              <a:rPr lang="de-DE" sz="800" dirty="0">
                <a:hlinkClick r:id="rId3"/>
              </a:rPr>
              <a:t>https://doc.rust-lang.org/reference/unsafety.html</a:t>
            </a:r>
            <a:r>
              <a:rPr lang="de-DE" sz="800" dirty="0"/>
              <a:t> </a:t>
            </a:r>
          </a:p>
          <a:p>
            <a:r>
              <a:rPr lang="de-DE" sz="800" dirty="0"/>
              <a:t>[14] </a:t>
            </a:r>
            <a:r>
              <a:rPr lang="de-DE" sz="800" dirty="0">
                <a:hlinkClick r:id="rId4"/>
              </a:rPr>
              <a:t>https://plv.mpi-sws.org/rustbelt/popl18/paper.pdf</a:t>
            </a:r>
            <a:r>
              <a:rPr lang="de-DE" sz="800" dirty="0"/>
              <a:t> </a:t>
            </a:r>
          </a:p>
          <a:p>
            <a:r>
              <a:rPr lang="de-DE" sz="800" dirty="0"/>
              <a:t>[15] </a:t>
            </a:r>
            <a:r>
              <a:rPr lang="de-DE" sz="800" dirty="0">
                <a:hlinkClick r:id="rId5"/>
              </a:rPr>
              <a:t>https://security.googleblog.com/2024/09/eliminating-memory-safety-vulnerabilities-Android.html</a:t>
            </a:r>
            <a:r>
              <a:rPr lang="de-DE" sz="800" dirty="0"/>
              <a:t> </a:t>
            </a:r>
            <a:endParaRPr lang="en-US" sz="800" dirty="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10CD3710-E39A-F529-A783-9D12E6167E82}"/>
              </a:ext>
            </a:extLst>
          </p:cNvPr>
          <p:cNvGrpSpPr/>
          <p:nvPr/>
        </p:nvGrpSpPr>
        <p:grpSpPr>
          <a:xfrm>
            <a:off x="5673779" y="1691715"/>
            <a:ext cx="5238512" cy="3681087"/>
            <a:chOff x="5828420" y="958850"/>
            <a:chExt cx="5238512" cy="3681087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D794A068-C096-039C-202B-7DEC5815C86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8420" y="958850"/>
              <a:ext cx="5238512" cy="3239147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AC09AAB-05CB-18C5-FFE1-5927ED9A76B7}"/>
                </a:ext>
              </a:extLst>
            </p:cNvPr>
            <p:cNvSpPr txBox="1"/>
            <p:nvPr/>
          </p:nvSpPr>
          <p:spPr>
            <a:xfrm>
              <a:off x="6215244" y="4116717"/>
              <a:ext cx="446486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Google safety statistics showing the number of memory safety vulnerabilities over a six-year period</a:t>
              </a:r>
              <a:r>
                <a:rPr lang="en-US" sz="1200" baseline="-25000" dirty="0"/>
                <a:t>[15]</a:t>
              </a:r>
              <a:endParaRPr lang="en-US" sz="1400" baseline="-25000" dirty="0"/>
            </a:p>
          </p:txBody>
        </p:sp>
      </p:grpSp>
      <p:sp>
        <p:nvSpPr>
          <p:cNvPr id="9" name="Textfeld 8">
            <a:extLst>
              <a:ext uri="{FF2B5EF4-FFF2-40B4-BE49-F238E27FC236}">
                <a16:creationId xmlns:a16="http://schemas.microsoft.com/office/drawing/2014/main" id="{65537352-2D67-C762-E377-3CEE6208F5CC}"/>
              </a:ext>
            </a:extLst>
          </p:cNvPr>
          <p:cNvSpPr txBox="1"/>
          <p:nvPr/>
        </p:nvSpPr>
        <p:spPr>
          <a:xfrm>
            <a:off x="632011" y="1745507"/>
            <a:ext cx="50417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Reality Check:</a:t>
            </a:r>
          </a:p>
          <a:p>
            <a:pPr marL="285750" indent="-285750">
              <a:buClr>
                <a:srgbClr val="FF0000"/>
              </a:buClr>
              <a:buFont typeface="Symbol" panose="05050102010706020507" pitchFamily="18" charset="2"/>
              <a:buChar char="-"/>
            </a:pPr>
            <a:r>
              <a:rPr lang="en-US" dirty="0"/>
              <a:t>It is still possible to write unsafe code in Rust</a:t>
            </a:r>
            <a:r>
              <a:rPr lang="en-US" sz="1200" baseline="-25000" dirty="0"/>
              <a:t>[13]</a:t>
            </a:r>
            <a:endParaRPr lang="en-US" baseline="-25000" dirty="0"/>
          </a:p>
          <a:p>
            <a:pPr marL="285750" indent="-285750">
              <a:buClr>
                <a:srgbClr val="FF0000"/>
              </a:buClr>
              <a:buFont typeface="Symbol" panose="05050102010706020507" pitchFamily="18" charset="2"/>
              <a:buChar char="-"/>
            </a:pPr>
            <a:r>
              <a:rPr lang="en-US" dirty="0"/>
              <a:t>Rust's programming concepts take longer for developers to learn</a:t>
            </a:r>
          </a:p>
        </p:txBody>
      </p:sp>
      <p:sp>
        <p:nvSpPr>
          <p:cNvPr id="10" name="Inhaltsplatzhalter 4">
            <a:extLst>
              <a:ext uri="{FF2B5EF4-FFF2-40B4-BE49-F238E27FC236}">
                <a16:creationId xmlns:a16="http://schemas.microsoft.com/office/drawing/2014/main" id="{DBC118BD-C71A-A907-EABE-4EE0319AF21D}"/>
              </a:ext>
            </a:extLst>
          </p:cNvPr>
          <p:cNvSpPr txBox="1">
            <a:spLocks/>
          </p:cNvSpPr>
          <p:nvPr/>
        </p:nvSpPr>
        <p:spPr>
          <a:xfrm>
            <a:off x="1203513" y="941294"/>
            <a:ext cx="9856694" cy="673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600" dirty="0"/>
              <a:t>Conclusion</a:t>
            </a:r>
            <a:endParaRPr lang="en-US" baseline="-250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97F0AE2-6E85-77D7-AED9-7C3515CF5899}"/>
              </a:ext>
            </a:extLst>
          </p:cNvPr>
          <p:cNvSpPr txBox="1"/>
          <p:nvPr/>
        </p:nvSpPr>
        <p:spPr>
          <a:xfrm>
            <a:off x="632010" y="3317196"/>
            <a:ext cx="4914901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…but </a:t>
            </a:r>
            <a:r>
              <a:rPr lang="de-DE" sz="2400" dirty="0" err="1"/>
              <a:t>there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</a:t>
            </a:r>
            <a:r>
              <a:rPr lang="de-DE" sz="2400" dirty="0" err="1"/>
              <a:t>enormous</a:t>
            </a:r>
            <a:r>
              <a:rPr lang="de-DE" sz="2400" dirty="0"/>
              <a:t> Benefits:</a:t>
            </a:r>
          </a:p>
          <a:p>
            <a:pPr marL="285750" indent="-285750">
              <a:buClr>
                <a:srgbClr val="00B050"/>
              </a:buClr>
              <a:buFont typeface="Aptos" panose="020B0004020202020204" pitchFamily="34" charset="0"/>
              <a:buChar char="+"/>
            </a:pPr>
            <a:r>
              <a:rPr lang="en-US" dirty="0"/>
              <a:t>There is theoretical evidence that some major memory safety issues can be completely avoided thanks to Rust's design</a:t>
            </a:r>
            <a:r>
              <a:rPr lang="en-US" sz="1200" baseline="-25000" dirty="0"/>
              <a:t>[14]</a:t>
            </a:r>
          </a:p>
          <a:p>
            <a:pPr marL="285750" indent="-285750">
              <a:buClr>
                <a:srgbClr val="00B050"/>
              </a:buClr>
              <a:buFont typeface="Aptos" panose="020B0004020202020204" pitchFamily="34" charset="0"/>
              <a:buChar char="+"/>
            </a:pPr>
            <a:r>
              <a:rPr lang="en-US" dirty="0"/>
              <a:t>In practice, using Rust significantly reduces memory safety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31375774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FDD8B3B-6315-9C6D-7A4F-6D0BF313C0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>
                <a:solidFill>
                  <a:srgbClr val="64378C"/>
                </a:solidFill>
              </a:rPr>
              <a:t>Rust's Approach to Memory Safety</a:t>
            </a:r>
            <a:endParaRPr lang="en-US" dirty="0">
              <a:solidFill>
                <a:srgbClr val="64378C"/>
              </a:solidFill>
            </a:endParaRP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CF5934A-B2F9-B274-7329-0A0BCD4C37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algn="ctr"/>
            <a:fld id="{5F85D455-7770-4F98-B944-71C158B4E906}" type="slidenum">
              <a:rPr lang="en-US" smtClean="0"/>
              <a:pPr algn="ctr"/>
              <a:t>31</a:t>
            </a:fld>
            <a:endParaRPr lang="en-US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A6C0E8-77D6-E2FB-FF7C-2428D6DA17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2CA57A1-7E5F-E716-287E-6B6C4DA2616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1200" dirty="0">
                <a:hlinkClick r:id="rId2"/>
              </a:rPr>
              <a:t>https://cwe.mitre.org/top25/archive/2025/2025_kev_list.html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3"/>
              </a:rPr>
              <a:t>https://cwe.mitre.org/data/definitions/416.html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4"/>
              </a:rPr>
              <a:t>http://cwe.mitre.org/data/definitions/787.html</a:t>
            </a:r>
            <a:r>
              <a:rPr lang="en-US" sz="1200" dirty="0"/>
              <a:t> [Last Access: 14.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5"/>
              </a:rPr>
              <a:t>https://cwe.mitre.org/top25/archive/2025/2025_kev_insights.html#2025_kev_pie</a:t>
            </a:r>
            <a:r>
              <a:rPr lang="de-DE" sz="1200" dirty="0"/>
              <a:t> </a:t>
            </a:r>
            <a:r>
              <a:rPr lang="en-US" sz="1200" dirty="0"/>
              <a:t>[Last Access: 17.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6"/>
              </a:rPr>
              <a:t>https://ieeexplore.ieee.org/document/6547101</a:t>
            </a:r>
            <a:r>
              <a:rPr lang="de-DE" sz="1200" dirty="0"/>
              <a:t> </a:t>
            </a:r>
            <a:r>
              <a:rPr lang="en-US" sz="1200" dirty="0"/>
              <a:t>[Last Access: 17. May 2026]</a:t>
            </a:r>
          </a:p>
          <a:p>
            <a:pPr>
              <a:buFont typeface="+mj-lt"/>
              <a:buAutoNum type="arabicPeriod"/>
            </a:pPr>
            <a:r>
              <a:rPr lang="en-US" sz="1200" dirty="0">
                <a:hlinkClick r:id="rId7"/>
              </a:rPr>
              <a:t>https://survey.stackoverflow.co/2025/technology/#2-programming-scripting-and-markup-languages</a:t>
            </a:r>
            <a:r>
              <a:rPr lang="en-US" sz="1200" dirty="0"/>
              <a:t> [Last Access: 18.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8"/>
              </a:rPr>
              <a:t>https://doc.rust-lang.org/book/ch04-01-what-is-ownership.html</a:t>
            </a:r>
            <a:r>
              <a:rPr lang="de-DE" sz="1200" dirty="0"/>
              <a:t> [</a:t>
            </a:r>
            <a:r>
              <a:rPr lang="en-US" sz="1200" dirty="0"/>
              <a:t>Last Access: 21. 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9"/>
              </a:rPr>
              <a:t>https://doc.rust-lang.org/book/ch04-02-references-and-borrowing.html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0"/>
              </a:rPr>
              <a:t>https://doc.rust-lang.org/book/ch10-03-lifetime-syntax.html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1"/>
              </a:rPr>
              <a:t>https://doc.rust-lang.org/book/img/ferris/does_not_compile.svg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2"/>
              </a:rPr>
              <a:t>https://doc.rust-lang.org/reference/panic.html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3"/>
              </a:rPr>
              <a:t>https://doc.rust-lang.org/book/img/ferris/panics.svg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4"/>
              </a:rPr>
              <a:t>https://doc.rust-lang.org/reference/unsafety.html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5"/>
              </a:rPr>
              <a:t>https://plv.mpi-sws.org/rustbelt/popl18/paper.pdf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r>
              <a:rPr lang="de-DE" sz="1200" dirty="0">
                <a:hlinkClick r:id="rId16"/>
              </a:rPr>
              <a:t>https://security.googleblog.com/2024/09/eliminating-memory-safety-vulnerabilities-Android.html</a:t>
            </a:r>
            <a:r>
              <a:rPr lang="de-DE" sz="1200" dirty="0"/>
              <a:t> [Last Access: 22.May 2026]</a:t>
            </a:r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  <a:p>
            <a:pPr>
              <a:buFont typeface="+mj-lt"/>
              <a:buAutoNum type="arabicPeriod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02372695"/>
      </p:ext>
    </p:extLst>
  </p:cSld>
  <p:clrMapOvr>
    <a:masterClrMapping/>
  </p:clrMapOvr>
</p:sld>
</file>

<file path=ppt/theme/theme1.xml><?xml version="1.0" encoding="utf-8"?>
<a:theme xmlns:a="http://schemas.openxmlformats.org/drawingml/2006/main" name="Memory_Safety_Rus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5980</Words>
  <Application>Microsoft Office PowerPoint</Application>
  <PresentationFormat>Breitbild</PresentationFormat>
  <Paragraphs>663</Paragraphs>
  <Slides>31</Slides>
  <Notes>30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Arial</vt:lpstr>
      <vt:lpstr>Symbol</vt:lpstr>
      <vt:lpstr>Verdana</vt:lpstr>
      <vt:lpstr>Wingdings</vt:lpstr>
      <vt:lpstr>Memory_Safety_Rust</vt:lpstr>
      <vt:lpstr>Rust’s Approach to Memory Safety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Grandel1</dc:creator>
  <cp:lastModifiedBy>David Grandel1</cp:lastModifiedBy>
  <cp:revision>52</cp:revision>
  <dcterms:created xsi:type="dcterms:W3CDTF">2025-12-08T16:38:36Z</dcterms:created>
  <dcterms:modified xsi:type="dcterms:W3CDTF">2026-06-08T05:32:01Z</dcterms:modified>
</cp:coreProperties>
</file>